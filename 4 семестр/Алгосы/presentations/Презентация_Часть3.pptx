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23DFF-2231-43A9-801D-16EC449A0783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76327-4774-46DE-837D-D6442ACE702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CDCAEFB6-FD29-4BCC-8297-D768463EA106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</a:t>
            </a:fld>
            <a:endParaRPr lang="ru-RU" altLang="ru-RU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149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914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8A2C1E26-63FA-4BCE-981B-B12C000F458B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4</a:t>
            </a:fld>
            <a:endParaRPr lang="ru-RU" altLang="ru-RU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25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925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F8F45730-9AF6-484B-A84A-4C6B15D1A318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5</a:t>
            </a:fld>
            <a:endParaRPr lang="ru-RU" altLang="ru-RU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35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935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6F5159DB-2525-4FEE-9252-82394BB57D14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6</a:t>
            </a:fld>
            <a:endParaRPr lang="ru-RU" altLang="ru-RU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45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945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07959232-A2FB-4877-AB85-0589FE074B70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7</a:t>
            </a:fld>
            <a:endParaRPr lang="ru-RU" altLang="ru-RU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55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955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1E6D8846-6F86-4FFE-8E1B-0F86CC02FFAF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8</a:t>
            </a:fld>
            <a:endParaRPr lang="ru-RU" altLang="ru-RU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66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966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</p:spPr>
        <p:txBody>
          <a:bodyPr/>
          <a:lstStyle/>
          <a:p>
            <a:fld id="{E8DF3A88-89A5-4B95-88C9-9790EF13AFCF}" type="slidenum">
              <a:rPr lang="ru-RU" altLang="ru-RU" smtClean="0">
                <a:ea typeface="Arial Unicode MS" pitchFamily="34" charset="-128"/>
                <a:cs typeface="Arial Unicode MS" pitchFamily="34" charset="-128"/>
              </a:rPr>
              <a:pPr/>
              <a:t>10</a:t>
            </a:fld>
            <a:endParaRPr lang="ru-RU" altLang="ru-RU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76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976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ru-RU" altLang="ru-RU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CFD0A-0BF9-452B-8B12-C1E730034BFB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22C82-6575-41AE-ADE7-0736538F3D1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4400" b="1">
                <a:solidFill>
                  <a:srgbClr val="000000"/>
                </a:solidFill>
                <a:latin typeface="Calibri" pitchFamily="34" charset="0"/>
              </a:rPr>
              <a:t>Нормальные алгоритмы Маркова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636587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r>
              <a:rPr lang="ru-RU" altLang="ru-RU" b="1"/>
              <a:t>Определения</a:t>
            </a:r>
          </a:p>
        </p:txBody>
      </p:sp>
      <p:sp>
        <p:nvSpPr>
          <p:cNvPr id="54275" name="Содержимое 2"/>
          <p:cNvSpPr>
            <a:spLocks noGrp="1"/>
          </p:cNvSpPr>
          <p:nvPr>
            <p:ph idx="1"/>
          </p:nvPr>
        </p:nvSpPr>
        <p:spPr>
          <a:xfrm>
            <a:off x="457200" y="836613"/>
            <a:ext cx="8228013" cy="5616575"/>
          </a:xfrm>
        </p:spPr>
        <p:txBody>
          <a:bodyPr/>
          <a:lstStyle/>
          <a:p>
            <a:r>
              <a:rPr lang="ru-RU" altLang="ru-RU" sz="2400" i="1"/>
              <a:t>Алфавит - </a:t>
            </a:r>
            <a:r>
              <a:rPr lang="ru-RU" altLang="ru-RU" sz="2400"/>
              <a:t>любое непустое множество символов. Его элементы называются </a:t>
            </a:r>
            <a:r>
              <a:rPr lang="ru-RU" altLang="ru-RU" sz="2400" i="1"/>
              <a:t>буквами, </a:t>
            </a:r>
            <a:r>
              <a:rPr lang="ru-RU" altLang="ru-RU" sz="2400"/>
              <a:t>а любые последовательности букв — </a:t>
            </a:r>
            <a:r>
              <a:rPr lang="ru-RU" altLang="ru-RU" sz="2400" i="1"/>
              <a:t>словами. Пустое слово </a:t>
            </a:r>
            <a:r>
              <a:rPr lang="ru-RU" altLang="ru-RU" sz="2400"/>
              <a:t>обозначается Λ.</a:t>
            </a:r>
          </a:p>
          <a:p>
            <a:r>
              <a:rPr lang="ru-RU" altLang="ru-RU" sz="2400"/>
              <a:t>Если </a:t>
            </a:r>
            <a:r>
              <a:rPr lang="ru-RU" altLang="ru-RU" sz="2400" i="1"/>
              <a:t>А и B — </a:t>
            </a:r>
            <a:r>
              <a:rPr lang="ru-RU" altLang="ru-RU" sz="2400"/>
              <a:t>два алфавита, причем </a:t>
            </a:r>
            <a:r>
              <a:rPr lang="ru-RU" altLang="ru-RU" sz="2400" i="1"/>
              <a:t>А </a:t>
            </a:r>
            <a:r>
              <a:rPr lang="ru-RU" altLang="ru-RU" sz="2400" i="1">
                <a:sym typeface="Symbol" pitchFamily="18" charset="2"/>
              </a:rPr>
              <a:t></a:t>
            </a:r>
            <a:r>
              <a:rPr lang="ru-RU" altLang="ru-RU" sz="2400"/>
              <a:t> </a:t>
            </a:r>
            <a:r>
              <a:rPr lang="ru-RU" altLang="ru-RU" sz="2400" i="1"/>
              <a:t>B, </a:t>
            </a:r>
            <a:r>
              <a:rPr lang="ru-RU" altLang="ru-RU" sz="2400"/>
              <a:t>то алфавит </a:t>
            </a:r>
            <a:r>
              <a:rPr lang="ru-RU" altLang="ru-RU" sz="2400" i="1"/>
              <a:t>В </a:t>
            </a:r>
            <a:r>
              <a:rPr lang="ru-RU" altLang="ru-RU" sz="2400"/>
              <a:t>называется </a:t>
            </a:r>
            <a:r>
              <a:rPr lang="ru-RU" altLang="ru-RU" sz="2400" i="1"/>
              <a:t>расширением </a:t>
            </a:r>
            <a:r>
              <a:rPr lang="ru-RU" altLang="ru-RU" sz="2400"/>
              <a:t>алфавита </a:t>
            </a:r>
            <a:r>
              <a:rPr lang="ru-RU" altLang="ru-RU" sz="2400" i="1"/>
              <a:t>А.</a:t>
            </a:r>
          </a:p>
          <a:p>
            <a:pPr>
              <a:buFont typeface="Times New Roman" pitchFamily="18" charset="0"/>
              <a:buNone/>
            </a:pPr>
            <a:r>
              <a:rPr lang="ru-RU" altLang="ru-RU" sz="2400" b="1" i="1">
                <a:solidFill>
                  <a:srgbClr val="C00000"/>
                </a:solidFill>
              </a:rPr>
              <a:t>Определение. </a:t>
            </a:r>
            <a:r>
              <a:rPr lang="ru-RU" altLang="ru-RU" sz="2400" i="1"/>
              <a:t>Марковской подстановкой </a:t>
            </a:r>
            <a:r>
              <a:rPr lang="ru-RU" altLang="ru-RU" sz="2400"/>
              <a:t>называется операция над словами, задаваемая с помощью упорядоченной пары слов </a:t>
            </a:r>
            <a:r>
              <a:rPr lang="ru-RU" altLang="ru-RU" sz="2400" i="1"/>
              <a:t>(Р, Q), </a:t>
            </a:r>
            <a:r>
              <a:rPr lang="ru-RU" altLang="ru-RU" sz="2400"/>
              <a:t>состоящая в следующем: в заданном слове </a:t>
            </a:r>
            <a:r>
              <a:rPr lang="ru-RU" altLang="ru-RU" sz="2400" i="1"/>
              <a:t>R </a:t>
            </a:r>
            <a:r>
              <a:rPr lang="ru-RU" altLang="ru-RU" sz="2400"/>
              <a:t>находят первое вхождение слова </a:t>
            </a:r>
            <a:r>
              <a:rPr lang="ru-RU" altLang="ru-RU" sz="2400" i="1"/>
              <a:t>Р </a:t>
            </a:r>
            <a:r>
              <a:rPr lang="ru-RU" altLang="ru-RU" sz="2400"/>
              <a:t>(если таковое имеется) и, не изменяя остальных частей слова </a:t>
            </a:r>
            <a:r>
              <a:rPr lang="ru-RU" altLang="ru-RU" sz="2400" i="1"/>
              <a:t>R, </a:t>
            </a:r>
            <a:r>
              <a:rPr lang="ru-RU" altLang="ru-RU" sz="2400"/>
              <a:t>заменяют в нем это вхождение словом </a:t>
            </a:r>
            <a:r>
              <a:rPr lang="ru-RU" altLang="ru-RU" sz="2400" i="1"/>
              <a:t>Q. </a:t>
            </a:r>
            <a:r>
              <a:rPr lang="ru-RU" altLang="ru-RU" sz="2400"/>
              <a:t>Полученное слово называется </a:t>
            </a:r>
            <a:r>
              <a:rPr lang="ru-RU" altLang="ru-RU" sz="2400" i="1"/>
              <a:t>результатом </a:t>
            </a:r>
            <a:r>
              <a:rPr lang="ru-RU" altLang="ru-RU" sz="2400"/>
              <a:t>применения марковской подстановки </a:t>
            </a:r>
            <a:r>
              <a:rPr lang="ru-RU" altLang="ru-RU" sz="2400" i="1"/>
              <a:t>(Р, Q) </a:t>
            </a:r>
            <a:r>
              <a:rPr lang="ru-RU" altLang="ru-RU" sz="2400"/>
              <a:t>к слову </a:t>
            </a:r>
            <a:r>
              <a:rPr lang="ru-RU" altLang="ru-RU" sz="2400" i="1"/>
              <a:t>R.</a:t>
            </a:r>
            <a:endParaRPr lang="ru-RU" altLang="ru-RU" sz="2400"/>
          </a:p>
          <a:p>
            <a:endParaRPr lang="ru-RU" altLang="ru-RU" sz="2400"/>
          </a:p>
          <a:p>
            <a:endParaRPr lang="ru-RU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Содержимое 2"/>
          <p:cNvSpPr>
            <a:spLocks noGrp="1"/>
          </p:cNvSpPr>
          <p:nvPr>
            <p:ph idx="1"/>
          </p:nvPr>
        </p:nvSpPr>
        <p:spPr>
          <a:xfrm>
            <a:off x="457200" y="765175"/>
            <a:ext cx="8228013" cy="5400675"/>
          </a:xfrm>
        </p:spPr>
        <p:txBody>
          <a:bodyPr/>
          <a:lstStyle/>
          <a:p>
            <a:r>
              <a:rPr lang="ru-RU" altLang="ru-RU"/>
              <a:t>Частными случаями марковских подстановок являются подстановки с пустыми словами: </a:t>
            </a:r>
            <a:r>
              <a:rPr lang="ru-RU" altLang="ru-RU" i="1"/>
              <a:t>(</a:t>
            </a:r>
            <a:r>
              <a:rPr lang="ru-RU" altLang="ru-RU"/>
              <a:t>Λ</a:t>
            </a:r>
            <a:r>
              <a:rPr lang="ru-RU" altLang="ru-RU" i="1"/>
              <a:t>, Q), (Р, </a:t>
            </a:r>
            <a:r>
              <a:rPr lang="ru-RU" altLang="ru-RU"/>
              <a:t>Λ</a:t>
            </a:r>
            <a:r>
              <a:rPr lang="ru-RU" altLang="ru-RU" i="1"/>
              <a:t>), (</a:t>
            </a:r>
            <a:r>
              <a:rPr lang="ru-RU" altLang="ru-RU"/>
              <a:t>Λ</a:t>
            </a:r>
            <a:r>
              <a:rPr lang="ru-RU" altLang="ru-RU" i="1"/>
              <a:t>,</a:t>
            </a:r>
            <a:r>
              <a:rPr lang="ru-RU" altLang="ru-RU"/>
              <a:t>Λ</a:t>
            </a:r>
            <a:r>
              <a:rPr lang="ru-RU" altLang="ru-RU" i="1"/>
              <a:t>).</a:t>
            </a:r>
            <a:endParaRPr lang="ru-RU" altLang="ru-RU"/>
          </a:p>
          <a:p>
            <a:r>
              <a:rPr lang="ru-RU" altLang="ru-RU"/>
              <a:t>Для обозначения марковской подстановки (Р, Q) используется запись Р —&gt; Q. Она называется формулой подстановки (Р, Q). Для обозначения заключительных подстановок будем использовать запись Р —&gt;. Q</a:t>
            </a:r>
          </a:p>
          <a:p>
            <a:endParaRPr lang="ru-RU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654050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600" b="1">
                <a:solidFill>
                  <a:srgbClr val="000000"/>
                </a:solidFill>
                <a:latin typeface="Calibri" pitchFamily="34" charset="0"/>
              </a:rPr>
              <a:t>Пример марковских подстановок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000125" y="1143000"/>
            <a:ext cx="6899275" cy="5130800"/>
            <a:chOff x="630" y="720"/>
            <a:chExt cx="4346" cy="3232"/>
          </a:xfrm>
        </p:grpSpPr>
        <p:pic>
          <p:nvPicPr>
            <p:cNvPr id="5632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0" y="720"/>
              <a:ext cx="4346" cy="3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56325" name="Text Box 4"/>
            <p:cNvSpPr txBox="1">
              <a:spLocks noChangeArrowheads="1"/>
            </p:cNvSpPr>
            <p:nvPr/>
          </p:nvSpPr>
          <p:spPr bwMode="auto">
            <a:xfrm>
              <a:off x="630" y="720"/>
              <a:ext cx="4346" cy="3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457200" y="211138"/>
            <a:ext cx="8229600" cy="1066800"/>
          </a:xfrm>
          <a:prstGeom prst="rect">
            <a:avLst/>
          </a:prstGeom>
          <a:solidFill>
            <a:srgbClr val="C6D9F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3200" b="1">
                <a:solidFill>
                  <a:srgbClr val="000000"/>
                </a:solidFill>
                <a:latin typeface="Calibri" pitchFamily="34" charset="0"/>
              </a:rPr>
              <a:t>Схема нормального алгоритма (Маркова) в алфавите </a:t>
            </a:r>
            <a:r>
              <a:rPr lang="ru-RU" altLang="ru-RU" sz="3200" b="1" i="1">
                <a:solidFill>
                  <a:srgbClr val="000000"/>
                </a:solidFill>
                <a:latin typeface="Calibri" pitchFamily="34" charset="0"/>
              </a:rPr>
              <a:t>А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5650" y="2205038"/>
            <a:ext cx="1935163" cy="1927225"/>
            <a:chOff x="405" y="855"/>
            <a:chExt cx="1219" cy="1214"/>
          </a:xfrm>
        </p:grpSpPr>
        <p:pic>
          <p:nvPicPr>
            <p:cNvPr id="57350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05" y="855"/>
              <a:ext cx="1219" cy="121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57351" name="Text Box 4"/>
            <p:cNvSpPr txBox="1">
              <a:spLocks noChangeArrowheads="1"/>
            </p:cNvSpPr>
            <p:nvPr/>
          </p:nvSpPr>
          <p:spPr bwMode="auto">
            <a:xfrm>
              <a:off x="405" y="855"/>
              <a:ext cx="1219" cy="121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395288" y="4437063"/>
            <a:ext cx="8572500" cy="1619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just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000">
                <a:solidFill>
                  <a:srgbClr val="000000"/>
                </a:solidFill>
              </a:rPr>
              <a:t>Говорят, что </a:t>
            </a:r>
            <a:r>
              <a:rPr lang="ru-RU" altLang="ru-RU" sz="2000" i="1">
                <a:solidFill>
                  <a:srgbClr val="000000"/>
                </a:solidFill>
              </a:rPr>
              <a:t>нормальный алгоритм перерабатывает слово V в слово W.</a:t>
            </a:r>
          </a:p>
          <a:p>
            <a:pPr algn="just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000">
                <a:solidFill>
                  <a:srgbClr val="000000"/>
                </a:solidFill>
              </a:rPr>
              <a:t>Последовательность </a:t>
            </a:r>
            <a:r>
              <a:rPr lang="ru-RU" altLang="ru-RU" sz="2000" i="1">
                <a:solidFill>
                  <a:srgbClr val="000000"/>
                </a:solidFill>
              </a:rPr>
              <a:t>Vi, </a:t>
            </a:r>
            <a:r>
              <a:rPr lang="ru-RU" altLang="ru-RU" sz="2000">
                <a:solidFill>
                  <a:srgbClr val="000000"/>
                </a:solidFill>
              </a:rPr>
              <a:t>будем записывать следующим образом:</a:t>
            </a:r>
          </a:p>
          <a:p>
            <a:pPr algn="just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000" i="1">
                <a:solidFill>
                  <a:srgbClr val="000000"/>
                </a:solidFill>
              </a:rPr>
              <a:t>V0 </a:t>
            </a:r>
            <a:r>
              <a:rPr lang="ru-RU" altLang="ru-RU" sz="2000">
                <a:solidFill>
                  <a:srgbClr val="000000"/>
                </a:solidFill>
              </a:rPr>
              <a:t>=&gt; </a:t>
            </a:r>
            <a:r>
              <a:rPr lang="ru-RU" altLang="ru-RU" sz="2000" i="1">
                <a:solidFill>
                  <a:srgbClr val="000000"/>
                </a:solidFill>
              </a:rPr>
              <a:t>V1 </a:t>
            </a:r>
            <a:r>
              <a:rPr lang="ru-RU" altLang="ru-RU" sz="2000">
                <a:solidFill>
                  <a:srgbClr val="000000"/>
                </a:solidFill>
              </a:rPr>
              <a:t>=&gt; </a:t>
            </a:r>
            <a:r>
              <a:rPr lang="ru-RU" altLang="ru-RU" sz="2000" i="1">
                <a:solidFill>
                  <a:srgbClr val="000000"/>
                </a:solidFill>
              </a:rPr>
              <a:t>V2 </a:t>
            </a:r>
            <a:r>
              <a:rPr lang="ru-RU" altLang="ru-RU" sz="2000">
                <a:solidFill>
                  <a:srgbClr val="000000"/>
                </a:solidFill>
              </a:rPr>
              <a:t>=&gt; ... =&gt; </a:t>
            </a:r>
            <a:r>
              <a:rPr lang="ru-RU" altLang="ru-RU" sz="2000" i="1">
                <a:solidFill>
                  <a:srgbClr val="000000"/>
                </a:solidFill>
              </a:rPr>
              <a:t>Vm-1 </a:t>
            </a:r>
            <a:r>
              <a:rPr lang="ru-RU" altLang="ru-RU" sz="2000">
                <a:solidFill>
                  <a:srgbClr val="000000"/>
                </a:solidFill>
              </a:rPr>
              <a:t>=&gt; </a:t>
            </a:r>
            <a:r>
              <a:rPr lang="ru-RU" altLang="ru-RU" sz="2000" i="1">
                <a:solidFill>
                  <a:srgbClr val="000000"/>
                </a:solidFill>
              </a:rPr>
              <a:t>Vm,</a:t>
            </a:r>
          </a:p>
          <a:p>
            <a:pPr algn="just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ru-RU" sz="2000">
                <a:solidFill>
                  <a:srgbClr val="000000"/>
                </a:solidFill>
              </a:rPr>
              <a:t>где </a:t>
            </a:r>
            <a:r>
              <a:rPr lang="ru-RU" altLang="ru-RU" sz="2000" i="1">
                <a:solidFill>
                  <a:srgbClr val="000000"/>
                </a:solidFill>
              </a:rPr>
              <a:t>V0 </a:t>
            </a:r>
            <a:r>
              <a:rPr lang="ru-RU" altLang="ru-RU" sz="2000">
                <a:solidFill>
                  <a:srgbClr val="000000"/>
                </a:solidFill>
              </a:rPr>
              <a:t>= </a:t>
            </a:r>
            <a:r>
              <a:rPr lang="ru-RU" altLang="ru-RU" sz="2000" i="1">
                <a:solidFill>
                  <a:srgbClr val="000000"/>
                </a:solidFill>
              </a:rPr>
              <a:t>V </a:t>
            </a:r>
            <a:r>
              <a:rPr lang="ru-RU" altLang="ru-RU" sz="2000">
                <a:solidFill>
                  <a:srgbClr val="000000"/>
                </a:solidFill>
              </a:rPr>
              <a:t>и </a:t>
            </a:r>
            <a:r>
              <a:rPr lang="ru-RU" altLang="ru-RU" sz="2000" i="1">
                <a:solidFill>
                  <a:srgbClr val="000000"/>
                </a:solidFill>
              </a:rPr>
              <a:t>Vm = W</a:t>
            </a:r>
          </a:p>
        </p:txBody>
      </p:sp>
      <p:sp>
        <p:nvSpPr>
          <p:cNvPr id="57349" name="Прямоугольник 6"/>
          <p:cNvSpPr>
            <a:spLocks noChangeArrowheads="1"/>
          </p:cNvSpPr>
          <p:nvPr/>
        </p:nvSpPr>
        <p:spPr bwMode="auto">
          <a:xfrm>
            <a:off x="684213" y="1484313"/>
            <a:ext cx="81359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solidFill>
                  <a:schemeClr val="tx1"/>
                </a:solidFill>
              </a:rPr>
              <a:t>Упорядоченный конечный список формул подстановок в алфавите </a:t>
            </a:r>
            <a:r>
              <a:rPr lang="ru-RU" altLang="ru-RU" sz="2000" i="1">
                <a:solidFill>
                  <a:schemeClr val="tx1"/>
                </a:solidFill>
              </a:rPr>
              <a:t>А </a:t>
            </a:r>
            <a:r>
              <a:rPr lang="ru-RU" altLang="ru-RU" sz="2000">
                <a:solidFill>
                  <a:schemeClr val="tx1"/>
                </a:solidFill>
              </a:rPr>
              <a:t>называется </a:t>
            </a:r>
            <a:r>
              <a:rPr lang="ru-RU" altLang="ru-RU" sz="2000" i="1">
                <a:solidFill>
                  <a:schemeClr val="tx1"/>
                </a:solidFill>
              </a:rPr>
              <a:t>схемой </a:t>
            </a:r>
            <a:r>
              <a:rPr lang="ru-RU" altLang="ru-RU" sz="2000">
                <a:solidFill>
                  <a:schemeClr val="tx1"/>
                </a:solidFill>
              </a:rPr>
              <a:t>нормального алгоритма в </a:t>
            </a:r>
            <a:r>
              <a:rPr lang="ru-RU" altLang="ru-RU" sz="2000" i="1">
                <a:solidFill>
                  <a:schemeClr val="tx1"/>
                </a:solidFill>
              </a:rPr>
              <a:t>А.</a:t>
            </a:r>
            <a:r>
              <a:rPr lang="ru-RU" altLang="ru-RU" sz="200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Заголовок 5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492125"/>
          </a:xfrm>
          <a:solidFill>
            <a:srgbClr val="C6D9F1"/>
          </a:solidFill>
        </p:spPr>
        <p:txBody>
          <a:bodyPr>
            <a:normAutofit fontScale="90000"/>
          </a:bodyPr>
          <a:lstStyle/>
          <a:p>
            <a:r>
              <a:rPr lang="ru-RU" altLang="ru-RU" sz="3200" b="1"/>
              <a:t>Примеры нормальных алгоритмов Маркова</a:t>
            </a:r>
          </a:p>
        </p:txBody>
      </p:sp>
      <p:pic>
        <p:nvPicPr>
          <p:cNvPr id="58371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765175"/>
            <a:ext cx="84963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2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5" y="4508500"/>
            <a:ext cx="8485188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333375"/>
            <a:ext cx="848677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2852936"/>
            <a:ext cx="8784975" cy="382013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85750" y="285750"/>
            <a:ext cx="8631238" cy="1404938"/>
            <a:chOff x="180" y="180"/>
            <a:chExt cx="5437" cy="885"/>
          </a:xfrm>
        </p:grpSpPr>
        <p:pic>
          <p:nvPicPr>
            <p:cNvPr id="6042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0" y="180"/>
              <a:ext cx="5437" cy="88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60423" name="Text Box 3"/>
            <p:cNvSpPr txBox="1">
              <a:spLocks noChangeArrowheads="1"/>
            </p:cNvSpPr>
            <p:nvPr/>
          </p:nvSpPr>
          <p:spPr bwMode="auto">
            <a:xfrm>
              <a:off x="180" y="180"/>
              <a:ext cx="5437" cy="88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 altLang="ru-RU"/>
            </a:p>
          </p:txBody>
        </p:sp>
      </p:grpSp>
      <p:pic>
        <p:nvPicPr>
          <p:cNvPr id="60420" name="Picture 2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850" y="5229225"/>
            <a:ext cx="8489950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1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0825" y="1700213"/>
            <a:ext cx="86010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4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552" y="3140968"/>
            <a:ext cx="7805923" cy="21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36F619-AA03-497D-99BC-3A7C358287BA}"/>
              </a:ext>
            </a:extLst>
          </p:cNvPr>
          <p:cNvSpPr/>
          <p:nvPr/>
        </p:nvSpPr>
        <p:spPr>
          <a:xfrm>
            <a:off x="251520" y="548680"/>
            <a:ext cx="8208912" cy="3576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Задан алфавит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A={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a,b,c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}. 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Выписать НАМ (систему подстановок): из слова P удалить второй символ, если такой есть.</a:t>
            </a:r>
            <a:b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Можно просто перебрать все варианты, а можно действовать по следующей системе команд: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-&gt;.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*a -&gt;.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*b -&gt;.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*c -&gt;.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Λ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-&gt; a*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Λb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-&gt;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Λc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-&gt;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*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312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214313" y="142875"/>
            <a:ext cx="8715375" cy="5983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2900" indent="-341313">
              <a:spcBef>
                <a:spcPts val="8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3200" b="1" i="1">
                <a:solidFill>
                  <a:srgbClr val="000000"/>
                </a:solidFill>
                <a:latin typeface="Calibri" pitchFamily="34" charset="0"/>
              </a:rPr>
              <a:t>«Принцип нормализации Маркова».</a:t>
            </a:r>
          </a:p>
          <a:p>
            <a:pPr marL="342900" indent="-341313" algn="just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800" i="1">
                <a:solidFill>
                  <a:srgbClr val="000000"/>
                </a:solidFill>
                <a:latin typeface="Calibri" pitchFamily="34" charset="0"/>
              </a:rPr>
              <a:t>Для нахождения значений функции, заданной в некотором алфавите, тогда и только тогда существует какой-нибудь алгоритм, когда функция нормально вычислима.</a:t>
            </a:r>
          </a:p>
          <a:p>
            <a:pPr marL="342900" indent="-341313" algn="just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ru-RU" altLang="ru-RU" sz="2800">
              <a:solidFill>
                <a:srgbClr val="000000"/>
              </a:solidFill>
              <a:latin typeface="Calibri" pitchFamily="34" charset="0"/>
            </a:endParaRPr>
          </a:p>
          <a:p>
            <a:pPr marL="342900" indent="-341313">
              <a:spcBef>
                <a:spcPts val="700"/>
              </a:spcBef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800" i="1">
                <a:solidFill>
                  <a:srgbClr val="C00000"/>
                </a:solidFill>
                <a:latin typeface="Calibri" pitchFamily="34" charset="0"/>
              </a:rPr>
              <a:t>Следующие классы функций (заданных на</a:t>
            </a:r>
            <a:r>
              <a:rPr lang="en-US" altLang="ru-RU" sz="2800" i="1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ru-RU" altLang="ru-RU" sz="2800" i="1">
                <a:solidFill>
                  <a:srgbClr val="C00000"/>
                </a:solidFill>
                <a:latin typeface="Calibri" pitchFamily="34" charset="0"/>
              </a:rPr>
              <a:t>натуральных числах и</a:t>
            </a:r>
            <a:r>
              <a:rPr lang="en-US" altLang="ru-RU" sz="2800" i="1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ru-RU" altLang="ru-RU" sz="2800" i="1">
                <a:solidFill>
                  <a:srgbClr val="C00000"/>
                </a:solidFill>
                <a:latin typeface="Calibri" pitchFamily="34" charset="0"/>
              </a:rPr>
              <a:t>принимающих натуральные значения) совпадают:</a:t>
            </a:r>
          </a:p>
          <a:p>
            <a:pPr marL="342900" indent="-341313">
              <a:spcBef>
                <a:spcPts val="700"/>
              </a:spcBef>
              <a:buFont typeface="Arial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800" i="1">
                <a:solidFill>
                  <a:srgbClr val="000000"/>
                </a:solidFill>
                <a:latin typeface="Calibri" pitchFamily="34" charset="0"/>
              </a:rPr>
              <a:t>а) класс всех функций, вычислимых по Тьюрингу,</a:t>
            </a:r>
          </a:p>
          <a:p>
            <a:pPr marL="342900" indent="-341313">
              <a:spcBef>
                <a:spcPts val="700"/>
              </a:spcBef>
              <a:buFont typeface="Arial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800" i="1">
                <a:solidFill>
                  <a:srgbClr val="000000"/>
                </a:solidFill>
                <a:latin typeface="Calibri" pitchFamily="34" charset="0"/>
              </a:rPr>
              <a:t>б) класс всех частично рекурсивных функций;</a:t>
            </a:r>
          </a:p>
          <a:p>
            <a:pPr marL="342900" indent="-341313">
              <a:spcBef>
                <a:spcPts val="700"/>
              </a:spcBef>
              <a:buFont typeface="Arial" charset="0"/>
              <a:buChar char="•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ru-RU" altLang="ru-RU" sz="2800" i="1">
                <a:solidFill>
                  <a:srgbClr val="000000"/>
                </a:solidFill>
                <a:latin typeface="Calibri" pitchFamily="34" charset="0"/>
              </a:rPr>
              <a:t>в) класс всех нормально вычислимых функций.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397</Words>
  <Application>Microsoft Office PowerPoint</Application>
  <PresentationFormat>Экран (4:3)</PresentationFormat>
  <Paragraphs>37</Paragraphs>
  <Slides>10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Тема Office</vt:lpstr>
      <vt:lpstr>Презентация PowerPoint</vt:lpstr>
      <vt:lpstr>Определения</vt:lpstr>
      <vt:lpstr>Презентация PowerPoint</vt:lpstr>
      <vt:lpstr>Презентация PowerPoint</vt:lpstr>
      <vt:lpstr>Презентация PowerPoint</vt:lpstr>
      <vt:lpstr>Примеры нормальных алгоритмов Маркова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Mary</dc:creator>
  <cp:lastModifiedBy>Mary</cp:lastModifiedBy>
  <cp:revision>3</cp:revision>
  <dcterms:created xsi:type="dcterms:W3CDTF">2017-03-02T05:29:03Z</dcterms:created>
  <dcterms:modified xsi:type="dcterms:W3CDTF">2023-03-02T07:30:25Z</dcterms:modified>
</cp:coreProperties>
</file>