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58" r:id="rId3"/>
    <p:sldId id="259" r:id="rId4"/>
    <p:sldId id="297"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BB0844-D55E-45D4-A58E-F4DAC2A640CD}" type="datetimeFigureOut">
              <a:rPr lang="ru-RU" smtClean="0"/>
              <a:t>23.03.2023</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270CBD-1159-4E44-913F-5AAE36879B12}" type="slidenum">
              <a:rPr lang="ru-RU" smtClean="0"/>
              <a:t>‹#›</a:t>
            </a:fld>
            <a:endParaRPr lang="ru-RU"/>
          </a:p>
        </p:txBody>
      </p:sp>
    </p:spTree>
    <p:extLst>
      <p:ext uri="{BB962C8B-B14F-4D97-AF65-F5344CB8AC3E}">
        <p14:creationId xmlns:p14="http://schemas.microsoft.com/office/powerpoint/2010/main" val="411284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6066" name="Rectangle 7"/>
          <p:cNvSpPr>
            <a:spLocks noGrp="1" noChangeArrowheads="1"/>
          </p:cNvSpPr>
          <p:nvPr>
            <p:ph type="sldNum" sz="quarter"/>
          </p:nvPr>
        </p:nvSpPr>
        <p:spPr>
          <a:noFill/>
          <a:ln/>
        </p:spPr>
        <p:txBody>
          <a:bodyPr/>
          <a:lstStyle/>
          <a:p>
            <a:fld id="{FCCB14A4-6499-41CB-A5C7-211013848B15}" type="slidenum">
              <a:rPr lang="ru-RU" altLang="ru-RU" smtClean="0">
                <a:ea typeface="Arial Unicode MS" pitchFamily="34" charset="-128"/>
                <a:cs typeface="Arial Unicode MS" pitchFamily="34" charset="-128"/>
              </a:rPr>
              <a:pPr/>
              <a:t>19</a:t>
            </a:fld>
            <a:endParaRPr lang="ru-RU" altLang="ru-RU">
              <a:ea typeface="Arial Unicode MS" pitchFamily="34" charset="-128"/>
              <a:cs typeface="Arial Unicode MS" pitchFamily="34" charset="-128"/>
            </a:endParaRPr>
          </a:p>
        </p:txBody>
      </p:sp>
      <p:sp>
        <p:nvSpPr>
          <p:cNvPr id="216067" name="Rectangle 1"/>
          <p:cNvSpPr>
            <a:spLocks noGrp="1" noRot="1" noChangeAspect="1" noChangeArrowheads="1" noTextEdit="1"/>
          </p:cNvSpPr>
          <p:nvPr>
            <p:ph type="sldImg"/>
          </p:nvPr>
        </p:nvSpPr>
        <p:spPr>
          <a:xfrm>
            <a:off x="381000" y="685800"/>
            <a:ext cx="6096000" cy="3429000"/>
          </a:xfrm>
          <a:solidFill>
            <a:srgbClr val="FFFFFF"/>
          </a:solidFill>
          <a:ln/>
        </p:spPr>
      </p:sp>
      <p:sp>
        <p:nvSpPr>
          <p:cNvPr id="216068" name="Rectangle 2"/>
          <p:cNvSpPr>
            <a:spLocks noGrp="1" noChangeArrowheads="1"/>
          </p:cNvSpPr>
          <p:nvPr>
            <p:ph type="body" idx="1"/>
          </p:nvPr>
        </p:nvSpPr>
        <p:spPr>
          <a:xfrm>
            <a:off x="685800" y="4343400"/>
            <a:ext cx="5486400" cy="4114800"/>
          </a:xfrm>
          <a:noFill/>
          <a:ln/>
        </p:spPr>
        <p:txBody>
          <a:bodyPr wrap="none" anchor="ctr"/>
          <a:lstStyle/>
          <a:p>
            <a:endParaRPr lang="ru-RU" altLang="ru-RU">
              <a:latin typeface="Times New Roman" pitchFamily="18" charset="0"/>
            </a:endParaRPr>
          </a:p>
        </p:txBody>
      </p:sp>
    </p:spTree>
    <p:extLst>
      <p:ext uri="{BB962C8B-B14F-4D97-AF65-F5344CB8AC3E}">
        <p14:creationId xmlns:p14="http://schemas.microsoft.com/office/powerpoint/2010/main" val="4150914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7090" name="Rectangle 7"/>
          <p:cNvSpPr>
            <a:spLocks noGrp="1" noChangeArrowheads="1"/>
          </p:cNvSpPr>
          <p:nvPr>
            <p:ph type="sldNum" sz="quarter"/>
          </p:nvPr>
        </p:nvSpPr>
        <p:spPr>
          <a:noFill/>
          <a:ln/>
        </p:spPr>
        <p:txBody>
          <a:bodyPr/>
          <a:lstStyle/>
          <a:p>
            <a:fld id="{852D6AEF-CB96-489E-8099-C2316493FBEE}" type="slidenum">
              <a:rPr lang="ru-RU" altLang="ru-RU" smtClean="0">
                <a:ea typeface="Arial Unicode MS" pitchFamily="34" charset="-128"/>
                <a:cs typeface="Arial Unicode MS" pitchFamily="34" charset="-128"/>
              </a:rPr>
              <a:pPr/>
              <a:t>20</a:t>
            </a:fld>
            <a:endParaRPr lang="ru-RU" altLang="ru-RU">
              <a:ea typeface="Arial Unicode MS" pitchFamily="34" charset="-128"/>
              <a:cs typeface="Arial Unicode MS" pitchFamily="34" charset="-128"/>
            </a:endParaRPr>
          </a:p>
        </p:txBody>
      </p:sp>
      <p:sp>
        <p:nvSpPr>
          <p:cNvPr id="217091" name="Rectangle 1"/>
          <p:cNvSpPr>
            <a:spLocks noGrp="1" noRot="1" noChangeAspect="1" noChangeArrowheads="1" noTextEdit="1"/>
          </p:cNvSpPr>
          <p:nvPr>
            <p:ph type="sldImg"/>
          </p:nvPr>
        </p:nvSpPr>
        <p:spPr>
          <a:xfrm>
            <a:off x="381000" y="685800"/>
            <a:ext cx="6096000" cy="3429000"/>
          </a:xfrm>
          <a:solidFill>
            <a:srgbClr val="FFFFFF"/>
          </a:solidFill>
          <a:ln/>
        </p:spPr>
      </p:sp>
      <p:sp>
        <p:nvSpPr>
          <p:cNvPr id="217092" name="Rectangle 2"/>
          <p:cNvSpPr>
            <a:spLocks noGrp="1" noChangeArrowheads="1"/>
          </p:cNvSpPr>
          <p:nvPr>
            <p:ph type="body" idx="1"/>
          </p:nvPr>
        </p:nvSpPr>
        <p:spPr>
          <a:xfrm>
            <a:off x="685800" y="4343400"/>
            <a:ext cx="5486400" cy="4114800"/>
          </a:xfrm>
          <a:noFill/>
          <a:ln/>
        </p:spPr>
        <p:txBody>
          <a:bodyPr wrap="none" anchor="ctr"/>
          <a:lstStyle/>
          <a:p>
            <a:endParaRPr lang="ru-RU" altLang="ru-RU">
              <a:latin typeface="Times New Roman" pitchFamily="18" charset="0"/>
            </a:endParaRPr>
          </a:p>
        </p:txBody>
      </p:sp>
    </p:spTree>
    <p:extLst>
      <p:ext uri="{BB962C8B-B14F-4D97-AF65-F5344CB8AC3E}">
        <p14:creationId xmlns:p14="http://schemas.microsoft.com/office/powerpoint/2010/main" val="2271996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8114" name="Rectangle 7"/>
          <p:cNvSpPr>
            <a:spLocks noGrp="1" noChangeArrowheads="1"/>
          </p:cNvSpPr>
          <p:nvPr>
            <p:ph type="sldNum" sz="quarter"/>
          </p:nvPr>
        </p:nvSpPr>
        <p:spPr>
          <a:noFill/>
          <a:ln/>
        </p:spPr>
        <p:txBody>
          <a:bodyPr/>
          <a:lstStyle/>
          <a:p>
            <a:fld id="{58B9350A-9575-4590-92BF-D857A8B691A7}" type="slidenum">
              <a:rPr lang="ru-RU" altLang="ru-RU" smtClean="0">
                <a:ea typeface="Arial Unicode MS" pitchFamily="34" charset="-128"/>
                <a:cs typeface="Arial Unicode MS" pitchFamily="34" charset="-128"/>
              </a:rPr>
              <a:pPr/>
              <a:t>24</a:t>
            </a:fld>
            <a:endParaRPr lang="ru-RU" altLang="ru-RU">
              <a:ea typeface="Arial Unicode MS" pitchFamily="34" charset="-128"/>
              <a:cs typeface="Arial Unicode MS" pitchFamily="34" charset="-128"/>
            </a:endParaRPr>
          </a:p>
        </p:txBody>
      </p:sp>
      <p:sp>
        <p:nvSpPr>
          <p:cNvPr id="218115" name="Rectangle 1"/>
          <p:cNvSpPr>
            <a:spLocks noGrp="1" noRot="1" noChangeAspect="1" noChangeArrowheads="1" noTextEdit="1"/>
          </p:cNvSpPr>
          <p:nvPr>
            <p:ph type="sldImg"/>
          </p:nvPr>
        </p:nvSpPr>
        <p:spPr>
          <a:xfrm>
            <a:off x="381000" y="685800"/>
            <a:ext cx="6096000" cy="3429000"/>
          </a:xfrm>
          <a:solidFill>
            <a:srgbClr val="FFFFFF"/>
          </a:solidFill>
          <a:ln/>
        </p:spPr>
      </p:sp>
      <p:sp>
        <p:nvSpPr>
          <p:cNvPr id="218116" name="Rectangle 2"/>
          <p:cNvSpPr>
            <a:spLocks noGrp="1" noChangeArrowheads="1"/>
          </p:cNvSpPr>
          <p:nvPr>
            <p:ph type="body" idx="1"/>
          </p:nvPr>
        </p:nvSpPr>
        <p:spPr>
          <a:xfrm>
            <a:off x="685800" y="4343400"/>
            <a:ext cx="5486400" cy="4114800"/>
          </a:xfrm>
          <a:noFill/>
          <a:ln/>
        </p:spPr>
        <p:txBody>
          <a:bodyPr wrap="none" anchor="ctr"/>
          <a:lstStyle/>
          <a:p>
            <a:endParaRPr lang="ru-RU" altLang="ru-RU">
              <a:latin typeface="Times New Roman" pitchFamily="18" charset="0"/>
            </a:endParaRPr>
          </a:p>
        </p:txBody>
      </p:sp>
    </p:spTree>
    <p:extLst>
      <p:ext uri="{BB962C8B-B14F-4D97-AF65-F5344CB8AC3E}">
        <p14:creationId xmlns:p14="http://schemas.microsoft.com/office/powerpoint/2010/main" val="714757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9138" name="Rectangle 7"/>
          <p:cNvSpPr>
            <a:spLocks noGrp="1" noChangeArrowheads="1"/>
          </p:cNvSpPr>
          <p:nvPr>
            <p:ph type="sldNum" sz="quarter"/>
          </p:nvPr>
        </p:nvSpPr>
        <p:spPr>
          <a:noFill/>
          <a:ln/>
        </p:spPr>
        <p:txBody>
          <a:bodyPr/>
          <a:lstStyle/>
          <a:p>
            <a:fld id="{F04AF6AB-504D-4EC7-B807-6CB19BAA8A7A}" type="slidenum">
              <a:rPr lang="ru-RU" altLang="ru-RU" smtClean="0">
                <a:ea typeface="Arial Unicode MS" pitchFamily="34" charset="-128"/>
                <a:cs typeface="Arial Unicode MS" pitchFamily="34" charset="-128"/>
              </a:rPr>
              <a:pPr/>
              <a:t>25</a:t>
            </a:fld>
            <a:endParaRPr lang="ru-RU" altLang="ru-RU">
              <a:ea typeface="Arial Unicode MS" pitchFamily="34" charset="-128"/>
              <a:cs typeface="Arial Unicode MS" pitchFamily="34" charset="-128"/>
            </a:endParaRPr>
          </a:p>
        </p:txBody>
      </p:sp>
      <p:sp>
        <p:nvSpPr>
          <p:cNvPr id="219139" name="Rectangle 1"/>
          <p:cNvSpPr>
            <a:spLocks noGrp="1" noRot="1" noChangeAspect="1" noChangeArrowheads="1" noTextEdit="1"/>
          </p:cNvSpPr>
          <p:nvPr>
            <p:ph type="sldImg"/>
          </p:nvPr>
        </p:nvSpPr>
        <p:spPr>
          <a:xfrm>
            <a:off x="1143000" y="685800"/>
            <a:ext cx="4572000" cy="3429000"/>
          </a:xfrm>
          <a:solidFill>
            <a:srgbClr val="FFFFFF"/>
          </a:solidFill>
          <a:ln/>
        </p:spPr>
      </p:sp>
      <p:sp>
        <p:nvSpPr>
          <p:cNvPr id="219140" name="Rectangle 2"/>
          <p:cNvSpPr>
            <a:spLocks noGrp="1" noChangeArrowheads="1"/>
          </p:cNvSpPr>
          <p:nvPr>
            <p:ph type="body" idx="1"/>
          </p:nvPr>
        </p:nvSpPr>
        <p:spPr>
          <a:xfrm>
            <a:off x="685800" y="4343400"/>
            <a:ext cx="5486400" cy="4114800"/>
          </a:xfrm>
          <a:noFill/>
          <a:ln/>
        </p:spPr>
        <p:txBody>
          <a:bodyPr wrap="none" anchor="ctr"/>
          <a:lstStyle/>
          <a:p>
            <a:endParaRPr lang="ru-RU" altLang="ru-RU">
              <a:latin typeface="Times New Roman" pitchFamily="18" charset="0"/>
            </a:endParaRPr>
          </a:p>
        </p:txBody>
      </p:sp>
      <p:sp>
        <p:nvSpPr>
          <p:cNvPr id="219141" name="Text Box 3"/>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3818AAF-0334-4168-A56B-FF89EB979BF0}" type="slidenum">
              <a:rPr lang="ru-RU" altLang="ru-RU" sz="1200">
                <a:solidFill>
                  <a:srgbClr val="000000"/>
                </a:solidFill>
              </a:rPr>
              <a: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25</a:t>
            </a:fld>
            <a:endParaRPr lang="ru-RU" altLang="ru-RU" sz="1200">
              <a:solidFill>
                <a:srgbClr val="000000"/>
              </a:solidFill>
            </a:endParaRPr>
          </a:p>
        </p:txBody>
      </p:sp>
    </p:spTree>
    <p:extLst>
      <p:ext uri="{BB962C8B-B14F-4D97-AF65-F5344CB8AC3E}">
        <p14:creationId xmlns:p14="http://schemas.microsoft.com/office/powerpoint/2010/main" val="1630098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0162" name="Rectangle 7"/>
          <p:cNvSpPr>
            <a:spLocks noGrp="1" noChangeArrowheads="1"/>
          </p:cNvSpPr>
          <p:nvPr>
            <p:ph type="sldNum" sz="quarter"/>
          </p:nvPr>
        </p:nvSpPr>
        <p:spPr>
          <a:noFill/>
          <a:ln/>
        </p:spPr>
        <p:txBody>
          <a:bodyPr/>
          <a:lstStyle/>
          <a:p>
            <a:fld id="{9861E836-14C7-4919-8F86-4B908E1A1207}" type="slidenum">
              <a:rPr lang="ru-RU" altLang="ru-RU" smtClean="0">
                <a:ea typeface="Arial Unicode MS" pitchFamily="34" charset="-128"/>
                <a:cs typeface="Arial Unicode MS" pitchFamily="34" charset="-128"/>
              </a:rPr>
              <a:pPr/>
              <a:t>26</a:t>
            </a:fld>
            <a:endParaRPr lang="ru-RU" altLang="ru-RU">
              <a:ea typeface="Arial Unicode MS" pitchFamily="34" charset="-128"/>
              <a:cs typeface="Arial Unicode MS" pitchFamily="34" charset="-128"/>
            </a:endParaRPr>
          </a:p>
        </p:txBody>
      </p:sp>
      <p:sp>
        <p:nvSpPr>
          <p:cNvPr id="220163" name="Rectangle 1"/>
          <p:cNvSpPr>
            <a:spLocks noGrp="1" noRot="1" noChangeAspect="1" noChangeArrowheads="1" noTextEdit="1"/>
          </p:cNvSpPr>
          <p:nvPr>
            <p:ph type="sldImg"/>
          </p:nvPr>
        </p:nvSpPr>
        <p:spPr>
          <a:xfrm>
            <a:off x="1143000" y="685800"/>
            <a:ext cx="4572000" cy="3429000"/>
          </a:xfrm>
          <a:solidFill>
            <a:srgbClr val="FFFFFF"/>
          </a:solidFill>
          <a:ln/>
        </p:spPr>
      </p:sp>
      <p:sp>
        <p:nvSpPr>
          <p:cNvPr id="220164" name="Rectangle 2"/>
          <p:cNvSpPr>
            <a:spLocks noGrp="1" noChangeArrowheads="1"/>
          </p:cNvSpPr>
          <p:nvPr>
            <p:ph type="body" idx="1"/>
          </p:nvPr>
        </p:nvSpPr>
        <p:spPr>
          <a:xfrm>
            <a:off x="685800" y="4343400"/>
            <a:ext cx="5486400" cy="4114800"/>
          </a:xfrm>
          <a:noFill/>
          <a:ln/>
        </p:spPr>
        <p:txBody>
          <a:bodyPr wrap="none" anchor="ctr"/>
          <a:lstStyle/>
          <a:p>
            <a:endParaRPr lang="ru-RU" altLang="ru-RU">
              <a:latin typeface="Times New Roman" pitchFamily="18" charset="0"/>
            </a:endParaRPr>
          </a:p>
        </p:txBody>
      </p:sp>
    </p:spTree>
    <p:extLst>
      <p:ext uri="{BB962C8B-B14F-4D97-AF65-F5344CB8AC3E}">
        <p14:creationId xmlns:p14="http://schemas.microsoft.com/office/powerpoint/2010/main" val="2146828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1186" name="Rectangle 7"/>
          <p:cNvSpPr>
            <a:spLocks noGrp="1" noChangeArrowheads="1"/>
          </p:cNvSpPr>
          <p:nvPr>
            <p:ph type="sldNum" sz="quarter"/>
          </p:nvPr>
        </p:nvSpPr>
        <p:spPr>
          <a:noFill/>
          <a:ln/>
        </p:spPr>
        <p:txBody>
          <a:bodyPr/>
          <a:lstStyle/>
          <a:p>
            <a:fld id="{2F9782DE-AC3C-4F73-8663-FDB2C4A142DA}" type="slidenum">
              <a:rPr lang="ru-RU" altLang="ru-RU" smtClean="0">
                <a:ea typeface="Arial Unicode MS" pitchFamily="34" charset="-128"/>
                <a:cs typeface="Arial Unicode MS" pitchFamily="34" charset="-128"/>
              </a:rPr>
              <a:pPr/>
              <a:t>27</a:t>
            </a:fld>
            <a:endParaRPr lang="ru-RU" altLang="ru-RU">
              <a:ea typeface="Arial Unicode MS" pitchFamily="34" charset="-128"/>
              <a:cs typeface="Arial Unicode MS" pitchFamily="34" charset="-128"/>
            </a:endParaRPr>
          </a:p>
        </p:txBody>
      </p:sp>
      <p:sp>
        <p:nvSpPr>
          <p:cNvPr id="221187" name="Rectangle 1"/>
          <p:cNvSpPr>
            <a:spLocks noGrp="1" noRot="1" noChangeAspect="1" noChangeArrowheads="1" noTextEdit="1"/>
          </p:cNvSpPr>
          <p:nvPr>
            <p:ph type="sldImg"/>
          </p:nvPr>
        </p:nvSpPr>
        <p:spPr>
          <a:xfrm>
            <a:off x="381000" y="685800"/>
            <a:ext cx="6096000" cy="3429000"/>
          </a:xfrm>
          <a:solidFill>
            <a:srgbClr val="FFFFFF"/>
          </a:solidFill>
          <a:ln/>
        </p:spPr>
      </p:sp>
      <p:sp>
        <p:nvSpPr>
          <p:cNvPr id="221188" name="Rectangle 2"/>
          <p:cNvSpPr>
            <a:spLocks noGrp="1" noChangeArrowheads="1"/>
          </p:cNvSpPr>
          <p:nvPr>
            <p:ph type="body" idx="1"/>
          </p:nvPr>
        </p:nvSpPr>
        <p:spPr>
          <a:xfrm>
            <a:off x="685800" y="4343400"/>
            <a:ext cx="5486400" cy="4114800"/>
          </a:xfrm>
          <a:noFill/>
          <a:ln/>
        </p:spPr>
        <p:txBody>
          <a:bodyPr wrap="none" anchor="ctr"/>
          <a:lstStyle/>
          <a:p>
            <a:endParaRPr lang="ru-RU" altLang="ru-RU">
              <a:latin typeface="Times New Roman" pitchFamily="18" charset="0"/>
            </a:endParaRPr>
          </a:p>
        </p:txBody>
      </p:sp>
    </p:spTree>
    <p:extLst>
      <p:ext uri="{BB962C8B-B14F-4D97-AF65-F5344CB8AC3E}">
        <p14:creationId xmlns:p14="http://schemas.microsoft.com/office/powerpoint/2010/main" val="1290542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2210" name="Rectangle 7"/>
          <p:cNvSpPr>
            <a:spLocks noGrp="1" noChangeArrowheads="1"/>
          </p:cNvSpPr>
          <p:nvPr>
            <p:ph type="sldNum" sz="quarter"/>
          </p:nvPr>
        </p:nvSpPr>
        <p:spPr>
          <a:noFill/>
          <a:ln/>
        </p:spPr>
        <p:txBody>
          <a:bodyPr/>
          <a:lstStyle/>
          <a:p>
            <a:fld id="{4228D4EE-C994-4F10-83EE-C0006D1D2615}" type="slidenum">
              <a:rPr lang="ru-RU" altLang="ru-RU" smtClean="0">
                <a:ea typeface="Arial Unicode MS" pitchFamily="34" charset="-128"/>
                <a:cs typeface="Arial Unicode MS" pitchFamily="34" charset="-128"/>
              </a:rPr>
              <a:pPr/>
              <a:t>28</a:t>
            </a:fld>
            <a:endParaRPr lang="ru-RU" altLang="ru-RU">
              <a:ea typeface="Arial Unicode MS" pitchFamily="34" charset="-128"/>
              <a:cs typeface="Arial Unicode MS" pitchFamily="34" charset="-128"/>
            </a:endParaRPr>
          </a:p>
        </p:txBody>
      </p:sp>
      <p:sp>
        <p:nvSpPr>
          <p:cNvPr id="222211" name="Rectangle 1"/>
          <p:cNvSpPr>
            <a:spLocks noGrp="1" noRot="1" noChangeAspect="1" noChangeArrowheads="1" noTextEdit="1"/>
          </p:cNvSpPr>
          <p:nvPr>
            <p:ph type="sldImg"/>
          </p:nvPr>
        </p:nvSpPr>
        <p:spPr>
          <a:xfrm>
            <a:off x="381000" y="685800"/>
            <a:ext cx="6096000" cy="3429000"/>
          </a:xfrm>
          <a:solidFill>
            <a:srgbClr val="FFFFFF"/>
          </a:solidFill>
          <a:ln/>
        </p:spPr>
      </p:sp>
      <p:sp>
        <p:nvSpPr>
          <p:cNvPr id="222212" name="Rectangle 2"/>
          <p:cNvSpPr>
            <a:spLocks noGrp="1" noChangeArrowheads="1"/>
          </p:cNvSpPr>
          <p:nvPr>
            <p:ph type="body" idx="1"/>
          </p:nvPr>
        </p:nvSpPr>
        <p:spPr>
          <a:xfrm>
            <a:off x="685800" y="4343400"/>
            <a:ext cx="5486400" cy="4114800"/>
          </a:xfrm>
          <a:noFill/>
          <a:ln/>
        </p:spPr>
        <p:txBody>
          <a:bodyPr wrap="none" anchor="ctr"/>
          <a:lstStyle/>
          <a:p>
            <a:endParaRPr lang="ru-RU" altLang="ru-RU">
              <a:latin typeface="Times New Roman" pitchFamily="18" charset="0"/>
            </a:endParaRPr>
          </a:p>
        </p:txBody>
      </p:sp>
    </p:spTree>
    <p:extLst>
      <p:ext uri="{BB962C8B-B14F-4D97-AF65-F5344CB8AC3E}">
        <p14:creationId xmlns:p14="http://schemas.microsoft.com/office/powerpoint/2010/main" val="1923800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3234" name="Rectangle 7"/>
          <p:cNvSpPr>
            <a:spLocks noGrp="1" noChangeArrowheads="1"/>
          </p:cNvSpPr>
          <p:nvPr>
            <p:ph type="sldNum" sz="quarter"/>
          </p:nvPr>
        </p:nvSpPr>
        <p:spPr>
          <a:noFill/>
          <a:ln/>
        </p:spPr>
        <p:txBody>
          <a:bodyPr/>
          <a:lstStyle/>
          <a:p>
            <a:fld id="{1BA71DAD-E8C3-49B3-B5AB-465757AA49F1}" type="slidenum">
              <a:rPr lang="ru-RU" altLang="ru-RU" smtClean="0">
                <a:ea typeface="Arial Unicode MS" pitchFamily="34" charset="-128"/>
                <a:cs typeface="Arial Unicode MS" pitchFamily="34" charset="-128"/>
              </a:rPr>
              <a:pPr/>
              <a:t>30</a:t>
            </a:fld>
            <a:endParaRPr lang="ru-RU" altLang="ru-RU">
              <a:ea typeface="Arial Unicode MS" pitchFamily="34" charset="-128"/>
              <a:cs typeface="Arial Unicode MS" pitchFamily="34" charset="-128"/>
            </a:endParaRPr>
          </a:p>
        </p:txBody>
      </p:sp>
      <p:sp>
        <p:nvSpPr>
          <p:cNvPr id="223235" name="Rectangle 1"/>
          <p:cNvSpPr>
            <a:spLocks noGrp="1" noRot="1" noChangeAspect="1" noChangeArrowheads="1" noTextEdit="1"/>
          </p:cNvSpPr>
          <p:nvPr>
            <p:ph type="sldImg"/>
          </p:nvPr>
        </p:nvSpPr>
        <p:spPr>
          <a:xfrm>
            <a:off x="381000" y="685800"/>
            <a:ext cx="6096000" cy="3429000"/>
          </a:xfrm>
          <a:solidFill>
            <a:srgbClr val="FFFFFF"/>
          </a:solidFill>
          <a:ln/>
        </p:spPr>
      </p:sp>
      <p:sp>
        <p:nvSpPr>
          <p:cNvPr id="223236" name="Rectangle 2"/>
          <p:cNvSpPr>
            <a:spLocks noGrp="1" noChangeArrowheads="1"/>
          </p:cNvSpPr>
          <p:nvPr>
            <p:ph type="body" idx="1"/>
          </p:nvPr>
        </p:nvSpPr>
        <p:spPr>
          <a:xfrm>
            <a:off x="685800" y="4343400"/>
            <a:ext cx="5486400" cy="4114800"/>
          </a:xfrm>
          <a:noFill/>
          <a:ln/>
        </p:spPr>
        <p:txBody>
          <a:bodyPr wrap="none" anchor="ctr"/>
          <a:lstStyle/>
          <a:p>
            <a:endParaRPr lang="ru-RU" altLang="ru-RU">
              <a:latin typeface="Times New Roman" pitchFamily="18" charset="0"/>
            </a:endParaRPr>
          </a:p>
        </p:txBody>
      </p:sp>
    </p:spTree>
    <p:extLst>
      <p:ext uri="{BB962C8B-B14F-4D97-AF65-F5344CB8AC3E}">
        <p14:creationId xmlns:p14="http://schemas.microsoft.com/office/powerpoint/2010/main" val="1830224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A0A91E61-C3E2-49FE-9149-AB0D3F859AF5}" type="datetimeFigureOut">
              <a:rPr lang="ru-RU" smtClean="0"/>
              <a:t>23.03.2023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2801524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A0A91E61-C3E2-49FE-9149-AB0D3F859AF5}" type="datetimeFigureOut">
              <a:rPr lang="ru-RU" smtClean="0"/>
              <a:t>23.03.2023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1116383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A0A91E61-C3E2-49FE-9149-AB0D3F859AF5}" type="datetimeFigureOut">
              <a:rPr lang="ru-RU" smtClean="0"/>
              <a:t>23.03.2023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1017470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A0A91E61-C3E2-49FE-9149-AB0D3F859AF5}" type="datetimeFigureOut">
              <a:rPr lang="ru-RU" smtClean="0"/>
              <a:t>23.03.2023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3260283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A0A91E61-C3E2-49FE-9149-AB0D3F859AF5}" type="datetimeFigureOut">
              <a:rPr lang="ru-RU" smtClean="0"/>
              <a:t>23.03.2023</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87025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A0A91E61-C3E2-49FE-9149-AB0D3F859AF5}" type="datetimeFigureOut">
              <a:rPr lang="ru-RU" smtClean="0"/>
              <a:t>23.03.2023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3744702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0A91E61-C3E2-49FE-9149-AB0D3F859AF5}" type="datetimeFigureOut">
              <a:rPr lang="ru-RU" smtClean="0"/>
              <a:t>23.03.2023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727136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A0A91E61-C3E2-49FE-9149-AB0D3F859AF5}" type="datetimeFigureOut">
              <a:rPr lang="ru-RU" smtClean="0"/>
              <a:t>23.03.2023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1963643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A0A91E61-C3E2-49FE-9149-AB0D3F859AF5}" type="datetimeFigureOut">
              <a:rPr lang="ru-RU" smtClean="0"/>
              <a:t>23.03.2023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1326768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A0A91E61-C3E2-49FE-9149-AB0D3F859AF5}" type="datetimeFigureOut">
              <a:rPr lang="ru-RU" smtClean="0"/>
              <a:t>23.03.2023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3780683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A0A91E61-C3E2-49FE-9149-AB0D3F859AF5}" type="datetimeFigureOut">
              <a:rPr lang="ru-RU" smtClean="0"/>
              <a:t>23.03.2023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56B3EF3-72DE-4F38-9F21-0EAE76359FD9}" type="slidenum">
              <a:rPr lang="ru-RU" smtClean="0"/>
              <a:t>‹#›</a:t>
            </a:fld>
            <a:endParaRPr lang="ru-RU"/>
          </a:p>
        </p:txBody>
      </p:sp>
    </p:spTree>
    <p:extLst>
      <p:ext uri="{BB962C8B-B14F-4D97-AF65-F5344CB8AC3E}">
        <p14:creationId xmlns:p14="http://schemas.microsoft.com/office/powerpoint/2010/main" val="3205393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A91E61-C3E2-49FE-9149-AB0D3F859AF5}" type="datetimeFigureOut">
              <a:rPr lang="ru-RU" smtClean="0"/>
              <a:t>23.03.2023</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6B3EF3-72DE-4F38-9F21-0EAE76359FD9}" type="slidenum">
              <a:rPr lang="ru-RU" smtClean="0"/>
              <a:t>‹#›</a:t>
            </a:fld>
            <a:endParaRPr lang="ru-RU"/>
          </a:p>
        </p:txBody>
      </p:sp>
    </p:spTree>
    <p:extLst>
      <p:ext uri="{BB962C8B-B14F-4D97-AF65-F5344CB8AC3E}">
        <p14:creationId xmlns:p14="http://schemas.microsoft.com/office/powerpoint/2010/main" val="1296776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Заголовок 1"/>
          <p:cNvSpPr>
            <a:spLocks noGrp="1"/>
          </p:cNvSpPr>
          <p:nvPr>
            <p:ph type="ctrTitle"/>
          </p:nvPr>
        </p:nvSpPr>
        <p:spPr>
          <a:xfrm>
            <a:off x="0" y="0"/>
            <a:ext cx="12192000" cy="6858000"/>
          </a:xfrm>
          <a:gradFill rotWithShape="0">
            <a:gsLst>
              <a:gs pos="0">
                <a:srgbClr val="E1E8F5"/>
              </a:gs>
              <a:gs pos="100000">
                <a:srgbClr val="9AB5E4"/>
              </a:gs>
            </a:gsLst>
            <a:lin ang="5400000" scaled="1"/>
          </a:gradFill>
          <a:ln w="9525">
            <a:noFill/>
            <a:round/>
            <a:headEnd/>
            <a:tailEnd/>
          </a:ln>
        </p:spPr>
        <p:txBody>
          <a:bodyPr anchor="ct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ru-RU" b="1" dirty="0">
                <a:solidFill>
                  <a:srgbClr val="000000"/>
                </a:solidFill>
                <a:latin typeface="Calibri" pitchFamily="34" charset="0"/>
                <a:ea typeface="+mn-ea"/>
                <a:cs typeface="+mn-cs"/>
              </a:rPr>
              <a:t>Алгоритмически неразрешимые задачи</a:t>
            </a:r>
          </a:p>
        </p:txBody>
      </p:sp>
    </p:spTree>
    <p:extLst>
      <p:ext uri="{BB962C8B-B14F-4D97-AF65-F5344CB8AC3E}">
        <p14:creationId xmlns:p14="http://schemas.microsoft.com/office/powerpoint/2010/main" val="36072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Содержимое 2"/>
          <p:cNvSpPr>
            <a:spLocks noGrp="1"/>
          </p:cNvSpPr>
          <p:nvPr>
            <p:ph idx="1"/>
          </p:nvPr>
        </p:nvSpPr>
        <p:spPr>
          <a:xfrm>
            <a:off x="1981201" y="188914"/>
            <a:ext cx="8228013" cy="6480175"/>
          </a:xfrm>
        </p:spPr>
        <p:txBody>
          <a:bodyPr/>
          <a:lstStyle/>
          <a:p>
            <a:r>
              <a:rPr lang="ru-RU" sz="2400" dirty="0"/>
              <a:t>Любая вычислимая функция может задаваться разными алгоритмами (разными программами для выбранного универсального исполнителя) и может быть вычислена с помощью любого универсального исполнителя: машин Тьюринга и Поста, нормальных алгоритмов Маркова и др., </a:t>
            </a:r>
            <a:r>
              <a:rPr lang="ru-RU" sz="2400" dirty="0">
                <a:solidFill>
                  <a:srgbClr val="FF0000"/>
                </a:solidFill>
              </a:rPr>
              <a:t>но существуют и алгоритмически невычислимые функции для которых не существует алгоритма решения</a:t>
            </a:r>
            <a:r>
              <a:rPr lang="ru-RU" sz="2400" dirty="0"/>
              <a:t>. </a:t>
            </a:r>
          </a:p>
          <a:p>
            <a:r>
              <a:rPr lang="ru-RU" sz="2400" dirty="0"/>
              <a:t>Однако алгоритмическая неразрешимость задачи того или иного класса вовсе не означает невозможность решения любой </a:t>
            </a:r>
            <a:r>
              <a:rPr lang="ru-RU" sz="2400" dirty="0">
                <a:solidFill>
                  <a:srgbClr val="FF0000"/>
                </a:solidFill>
              </a:rPr>
              <a:t>конкретной</a:t>
            </a:r>
            <a:r>
              <a:rPr lang="ru-RU" sz="2400" dirty="0"/>
              <a:t> задачи из этого класса. Речь идет о невозможности решения всех задач данного класса одним и тем же приемом.</a:t>
            </a:r>
          </a:p>
          <a:p>
            <a:r>
              <a:rPr lang="ru-RU" sz="2400" dirty="0"/>
              <a:t>Формализация понятия алгоритма позволила исследовать существование задач, для которых нет алгоритмических решений.</a:t>
            </a:r>
          </a:p>
          <a:p>
            <a:endParaRPr lang="ru-RU" sz="2400" dirty="0"/>
          </a:p>
          <a:p>
            <a:endParaRPr lang="ru-RU" dirty="0"/>
          </a:p>
        </p:txBody>
      </p:sp>
    </p:spTree>
    <p:extLst>
      <p:ext uri="{BB962C8B-B14F-4D97-AF65-F5344CB8AC3E}">
        <p14:creationId xmlns:p14="http://schemas.microsoft.com/office/powerpoint/2010/main" val="415258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Заголовок 1"/>
          <p:cNvSpPr>
            <a:spLocks noGrp="1"/>
          </p:cNvSpPr>
          <p:nvPr>
            <p:ph type="title"/>
          </p:nvPr>
        </p:nvSpPr>
        <p:spPr>
          <a:xfrm>
            <a:off x="1981201" y="128589"/>
            <a:ext cx="8228013" cy="511491"/>
          </a:xfrm>
          <a:solidFill>
            <a:srgbClr val="C6D9F1"/>
          </a:solidFill>
        </p:spPr>
        <p:txBody>
          <a:bodyPr>
            <a:normAutofit/>
          </a:bodyPr>
          <a:lstStyle/>
          <a:p>
            <a:r>
              <a:rPr lang="ru-RU" altLang="ru-RU" sz="2800" b="1" dirty="0"/>
              <a:t>Примеры алгоритмически неразрешимых задач.</a:t>
            </a:r>
          </a:p>
        </p:txBody>
      </p:sp>
      <p:sp>
        <p:nvSpPr>
          <p:cNvPr id="64515" name="Содержимое 2"/>
          <p:cNvSpPr>
            <a:spLocks noGrp="1"/>
          </p:cNvSpPr>
          <p:nvPr>
            <p:ph idx="1"/>
          </p:nvPr>
        </p:nvSpPr>
        <p:spPr>
          <a:xfrm>
            <a:off x="1598886" y="791257"/>
            <a:ext cx="8785225" cy="5616575"/>
          </a:xfrm>
        </p:spPr>
        <p:txBody>
          <a:bodyPr>
            <a:normAutofit lnSpcReduction="10000"/>
          </a:bodyPr>
          <a:lstStyle/>
          <a:p>
            <a:pPr>
              <a:buFont typeface="Times New Roman" pitchFamily="18" charset="0"/>
              <a:buNone/>
            </a:pPr>
            <a:r>
              <a:rPr lang="ru-RU" altLang="ru-RU" sz="2000" b="1" i="1" dirty="0"/>
              <a:t>Пример 1.</a:t>
            </a:r>
            <a:endParaRPr lang="ru-RU" altLang="ru-RU" sz="2000" i="1" dirty="0"/>
          </a:p>
          <a:p>
            <a:pPr algn="just">
              <a:buFont typeface="Times New Roman" pitchFamily="18" charset="0"/>
              <a:buNone/>
            </a:pPr>
            <a:r>
              <a:rPr lang="ru-RU" altLang="ru-RU" dirty="0"/>
              <a:t>	</a:t>
            </a:r>
            <a:r>
              <a:rPr lang="ru-RU" altLang="ru-RU" sz="2100" dirty="0"/>
              <a:t>Функция h(n), которая для любого натурального числа n равна 1, если в десятичной записи числа π есть n стоящих подряд девяток, окруженных другими цифрами, и равна нулю, если такой цепочки девяток нет.</a:t>
            </a:r>
            <a:r>
              <a:rPr lang="en-US" altLang="ru-RU" sz="2100" dirty="0"/>
              <a:t> </a:t>
            </a:r>
            <a:r>
              <a:rPr lang="ru-RU" altLang="ru-RU" sz="2100" dirty="0"/>
              <a:t>Поскольку число </a:t>
            </a:r>
            <a:r>
              <a:rPr lang="el-GR" altLang="ru-RU" sz="2100" dirty="0"/>
              <a:t>π</a:t>
            </a:r>
            <a:r>
              <a:rPr lang="en-US" altLang="ru-RU" sz="2100" dirty="0"/>
              <a:t> </a:t>
            </a:r>
            <a:r>
              <a:rPr lang="ru-RU" altLang="ru-RU" sz="2100" dirty="0"/>
              <a:t>является иррациональным и трансцендентным, то нет никакой информации о распределении девяток (равно как и любых других цифр) в десятичной записи числа. Вычисление функции </a:t>
            </a:r>
            <a:r>
              <a:rPr lang="en-US" altLang="ru-RU" sz="2100" dirty="0"/>
              <a:t>h</a:t>
            </a:r>
            <a:r>
              <a:rPr lang="ru-RU" altLang="ru-RU" sz="2100" dirty="0"/>
              <a:t>(n) идет до тех пор, пока не обнаружится n девяток подряд, однако никакого общего метода вычисления нет, поэтому для некоторых n вычисления могут продолжаться бесконечно. Неизвестно в принципе (по природе числа) существует ли решение для всех n.</a:t>
            </a:r>
          </a:p>
          <a:p>
            <a:pPr algn="just">
              <a:buNone/>
            </a:pPr>
            <a:r>
              <a:rPr lang="ru-RU" altLang="ru-RU" sz="2000" b="1" i="1" dirty="0"/>
              <a:t>Пример 2.</a:t>
            </a:r>
          </a:p>
          <a:p>
            <a:pPr algn="just">
              <a:buNone/>
            </a:pPr>
            <a:r>
              <a:rPr lang="ru-RU" altLang="ru-RU" sz="2000" dirty="0"/>
              <a:t>	Нахождение совершенных чисел, которые равны сумме своих делителей. </a:t>
            </a:r>
          </a:p>
          <a:p>
            <a:pPr algn="just">
              <a:buNone/>
            </a:pPr>
            <a:r>
              <a:rPr lang="ru-RU" altLang="ru-RU" sz="2000" dirty="0"/>
              <a:t>	Дана функция S(n), которая по произвольно заданному числу n ищет </a:t>
            </a:r>
            <a:r>
              <a:rPr lang="en-US" altLang="ru-RU" sz="2000" dirty="0"/>
              <a:t>n-</a:t>
            </a:r>
            <a:r>
              <a:rPr lang="ru-RU" altLang="ru-RU" sz="2000" dirty="0"/>
              <a:t>е по счёту совершенное число. Не существует общего метода вычисления такой функции. Неизвестно даже множество совершенных чисел конечно или </a:t>
            </a:r>
            <a:r>
              <a:rPr lang="ru-RU" altLang="ru-RU" sz="2000" dirty="0" err="1"/>
              <a:t>счётно</a:t>
            </a:r>
            <a:r>
              <a:rPr lang="ru-RU" altLang="ru-RU" sz="2000" dirty="0"/>
              <a:t>, поэтому алгоритм должен перебирать все числа подряд, проверяя их на совершенность. Если уже проверили М чисел при поиске n-ого совершенного числа – означает ли это, что его вообще не существует?</a:t>
            </a:r>
          </a:p>
          <a:p>
            <a:pPr algn="just">
              <a:buFont typeface="Times New Roman" pitchFamily="18" charset="0"/>
              <a:buNone/>
            </a:pPr>
            <a:endParaRPr lang="en-US" altLang="ru-RU" sz="2000" dirty="0"/>
          </a:p>
          <a:p>
            <a:pPr algn="just">
              <a:buFont typeface="Times New Roman" pitchFamily="18" charset="0"/>
              <a:buNone/>
            </a:pPr>
            <a:endParaRPr lang="ru-RU" altLang="ru-RU" sz="2000" dirty="0"/>
          </a:p>
          <a:p>
            <a:pPr>
              <a:buFont typeface="Times New Roman" pitchFamily="18" charset="0"/>
              <a:buNone/>
            </a:pPr>
            <a:endParaRPr lang="ru-RU" altLang="ru-RU" sz="2400" dirty="0"/>
          </a:p>
          <a:p>
            <a:pPr>
              <a:buFont typeface="Times New Roman" pitchFamily="18" charset="0"/>
              <a:buNone/>
            </a:pPr>
            <a:endParaRPr lang="ru-RU" altLang="ru-RU" sz="2400" dirty="0"/>
          </a:p>
        </p:txBody>
      </p:sp>
    </p:spTree>
    <p:extLst>
      <p:ext uri="{BB962C8B-B14F-4D97-AF65-F5344CB8AC3E}">
        <p14:creationId xmlns:p14="http://schemas.microsoft.com/office/powerpoint/2010/main" val="4197180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60218" y="221672"/>
            <a:ext cx="11637818" cy="6345383"/>
          </a:xfrm>
        </p:spPr>
        <p:txBody>
          <a:bodyPr/>
          <a:lstStyle/>
          <a:p>
            <a:pPr>
              <a:buFont typeface="Times New Roman" pitchFamily="18" charset="0"/>
              <a:buNone/>
            </a:pPr>
            <a:r>
              <a:rPr lang="ru-RU" altLang="ru-RU" sz="2000" b="1" i="1" dirty="0"/>
              <a:t>Пример 3.</a:t>
            </a:r>
          </a:p>
          <a:p>
            <a:pPr>
              <a:buFont typeface="Times New Roman" pitchFamily="18" charset="0"/>
              <a:buNone/>
            </a:pPr>
            <a:r>
              <a:rPr lang="ru-RU" altLang="ru-RU" sz="3200" dirty="0"/>
              <a:t>	</a:t>
            </a:r>
            <a:r>
              <a:rPr lang="ru-RU" altLang="ru-RU" sz="2000" dirty="0"/>
              <a:t>Десятая проблема Гильберта, сформулированная в 1900 году, состоит в нахождении алгоритма решения произвольных алгебраических </a:t>
            </a:r>
            <a:r>
              <a:rPr lang="ru-RU" altLang="ru-RU" sz="2000" dirty="0" err="1"/>
              <a:t>диофантовых</a:t>
            </a:r>
            <a:r>
              <a:rPr lang="ru-RU" altLang="ru-RU" sz="2000" dirty="0"/>
              <a:t> уравнений вида, 			     	 где P —целочисленная функция (например, полином с целыми коэффициентами), а переменные     принимают целые значения.</a:t>
            </a:r>
          </a:p>
          <a:p>
            <a:pPr>
              <a:buFont typeface="Times New Roman" pitchFamily="18" charset="0"/>
              <a:buNone/>
            </a:pPr>
            <a:r>
              <a:rPr lang="ru-RU" altLang="ru-RU" sz="2000" dirty="0"/>
              <a:t>	Согласно теореме Ферма это уравнение не имеет ненулевых целых решений при  </a:t>
            </a:r>
            <a:r>
              <a:rPr lang="en-US" altLang="ru-RU" sz="2000" dirty="0"/>
              <a:t>n&gt;2</a:t>
            </a:r>
            <a:r>
              <a:rPr lang="ru-RU" altLang="ru-RU" sz="2000" dirty="0"/>
              <a:t>.</a:t>
            </a:r>
          </a:p>
          <a:p>
            <a:pPr>
              <a:buNone/>
            </a:pPr>
            <a:r>
              <a:rPr lang="ru-RU" sz="2000" dirty="0"/>
              <a:t>   	Доказательство алгоритмической неразрешимости этой задачи заняло около двадцати лет и было завершено Юрием </a:t>
            </a:r>
            <a:r>
              <a:rPr lang="ru-RU" sz="2000" dirty="0" err="1"/>
              <a:t>Матиясевичем</a:t>
            </a:r>
            <a:r>
              <a:rPr lang="ru-RU" sz="2000" dirty="0"/>
              <a:t> в 1970 году.</a:t>
            </a:r>
          </a:p>
          <a:p>
            <a:pPr>
              <a:buFont typeface="Times New Roman" pitchFamily="18" charset="0"/>
              <a:buNone/>
            </a:pPr>
            <a:r>
              <a:rPr lang="ru-RU" altLang="ru-RU" sz="2000" b="1" i="1" dirty="0"/>
              <a:t>Пример 4.</a:t>
            </a:r>
          </a:p>
          <a:p>
            <a:pPr>
              <a:buFont typeface="Times New Roman" pitchFamily="18" charset="0"/>
              <a:buNone/>
            </a:pPr>
            <a:r>
              <a:rPr lang="ru-RU" altLang="ru-RU" sz="1800" dirty="0"/>
              <a:t>	</a:t>
            </a:r>
            <a:r>
              <a:rPr lang="ru-RU" altLang="ru-RU" sz="2000" dirty="0"/>
              <a:t>Теорема </a:t>
            </a:r>
            <a:r>
              <a:rPr lang="ru-RU" altLang="ru-RU" sz="2000" dirty="0" err="1"/>
              <a:t>Гёделя</a:t>
            </a:r>
            <a:r>
              <a:rPr lang="ru-RU" altLang="ru-RU" sz="2000" dirty="0"/>
              <a:t> о неполноте формальной арифметики. Существуют некоторые утверждения, которые не могут быть ни доказаны, ни опровергнуты на основе любого набора непротиворечивых аксиом</a:t>
            </a:r>
            <a:r>
              <a:rPr lang="ru-RU" sz="2000" dirty="0"/>
              <a:t>. Чтобы доказать эти утверждения, приходится вводить новые аксиомы. Но как бы не расширялась формальная система, всегда найдутся утверждения об объектах системы, истинность которых не может быть установлена в рамках самой системы. Поскольку человек может определить как расширить формальную систему так, чтобы получить желаемый результат, то отсюда делается вывод о невозможности формализации мышления, т.е. мышление невозможно реализовать на компьютере.</a:t>
            </a:r>
            <a:endParaRPr lang="ru-RU" altLang="ru-RU" sz="2000" dirty="0"/>
          </a:p>
          <a:p>
            <a:pPr>
              <a:buNone/>
            </a:pPr>
            <a:endParaRPr lang="ru-RU" altLang="ru-RU" sz="1800" dirty="0"/>
          </a:p>
          <a:p>
            <a:pPr>
              <a:buNone/>
            </a:pPr>
            <a:r>
              <a:rPr lang="ru-RU" sz="1800" dirty="0"/>
              <a:t>	Любая функция с конечной областью определения вычислима.</a:t>
            </a:r>
          </a:p>
          <a:p>
            <a:pPr>
              <a:buNone/>
            </a:pPr>
            <a:endParaRPr lang="ru-RU" altLang="ru-RU" sz="1800" dirty="0"/>
          </a:p>
        </p:txBody>
      </p:sp>
      <p:pic>
        <p:nvPicPr>
          <p:cNvPr id="4" name="Рисунок 5" descr="P(x_1, \dots, x_m) = 0,"/>
          <p:cNvPicPr>
            <a:picLocks noChangeAspect="1"/>
          </p:cNvPicPr>
          <p:nvPr/>
        </p:nvPicPr>
        <p:blipFill>
          <a:blip r:embed="rId2" cstate="print"/>
          <a:srcRect/>
          <a:stretch>
            <a:fillRect/>
          </a:stretch>
        </p:blipFill>
        <p:spPr bwMode="auto">
          <a:xfrm>
            <a:off x="717228" y="1369512"/>
            <a:ext cx="2166938" cy="287337"/>
          </a:xfrm>
          <a:prstGeom prst="rect">
            <a:avLst/>
          </a:prstGeom>
          <a:noFill/>
          <a:ln w="9525">
            <a:noFill/>
            <a:miter lim="800000"/>
            <a:headEnd/>
            <a:tailEnd/>
          </a:ln>
        </p:spPr>
      </p:pic>
      <p:pic>
        <p:nvPicPr>
          <p:cNvPr id="5" name="Рисунок 7" descr="x^n + y^n = z^n"/>
          <p:cNvPicPr>
            <a:picLocks noChangeAspect="1"/>
          </p:cNvPicPr>
          <p:nvPr/>
        </p:nvPicPr>
        <p:blipFill>
          <a:blip r:embed="rId3" cstate="print"/>
          <a:srcRect/>
          <a:stretch>
            <a:fillRect/>
          </a:stretch>
        </p:blipFill>
        <p:spPr bwMode="auto">
          <a:xfrm>
            <a:off x="7999620" y="1656849"/>
            <a:ext cx="1652587" cy="288925"/>
          </a:xfrm>
          <a:prstGeom prst="rect">
            <a:avLst/>
          </a:prstGeom>
          <a:noFill/>
          <a:ln w="9525">
            <a:noFill/>
            <a:miter lim="800000"/>
            <a:headEnd/>
            <a:tailEnd/>
          </a:ln>
        </p:spPr>
      </p:pic>
    </p:spTree>
    <p:extLst>
      <p:ext uri="{BB962C8B-B14F-4D97-AF65-F5344CB8AC3E}">
        <p14:creationId xmlns:p14="http://schemas.microsoft.com/office/powerpoint/2010/main" val="2069731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Заголовок 1"/>
          <p:cNvSpPr>
            <a:spLocks noGrp="1"/>
          </p:cNvSpPr>
          <p:nvPr>
            <p:ph type="title"/>
          </p:nvPr>
        </p:nvSpPr>
        <p:spPr>
          <a:xfrm>
            <a:off x="1992313" y="188913"/>
            <a:ext cx="8228012" cy="1079500"/>
          </a:xfrm>
          <a:solidFill>
            <a:srgbClr val="C6D9F1"/>
          </a:solidFill>
        </p:spPr>
        <p:txBody>
          <a:bodyPr>
            <a:normAutofit fontScale="90000"/>
          </a:bodyPr>
          <a:lstStyle/>
          <a:p>
            <a:br>
              <a:rPr lang="ru-RU" altLang="ru-RU" sz="3600" b="1"/>
            </a:br>
            <a:r>
              <a:rPr lang="ru-RU" altLang="ru-RU" sz="3600" b="1"/>
              <a:t>Методы доказательства алгоритмической неразрешимости</a:t>
            </a:r>
            <a:br>
              <a:rPr lang="ru-RU" altLang="ru-RU"/>
            </a:br>
            <a:endParaRPr lang="ru-RU" altLang="ru-RU"/>
          </a:p>
        </p:txBody>
      </p:sp>
      <p:sp>
        <p:nvSpPr>
          <p:cNvPr id="66563" name="Содержимое 2"/>
          <p:cNvSpPr>
            <a:spLocks noGrp="1"/>
          </p:cNvSpPr>
          <p:nvPr>
            <p:ph idx="1"/>
          </p:nvPr>
        </p:nvSpPr>
        <p:spPr>
          <a:xfrm>
            <a:off x="1981201" y="1268413"/>
            <a:ext cx="8228013" cy="4856162"/>
          </a:xfrm>
        </p:spPr>
        <p:txBody>
          <a:bodyPr>
            <a:normAutofit/>
          </a:bodyPr>
          <a:lstStyle/>
          <a:p>
            <a:r>
              <a:rPr lang="ru-RU" altLang="ru-RU" sz="2400" b="1" dirty="0"/>
              <a:t>Прямой метод</a:t>
            </a:r>
            <a:r>
              <a:rPr lang="ru-RU" altLang="ru-RU" sz="2400" dirty="0"/>
              <a:t> использует диагональный метод Кантора. Заключается он в следующем:  из предположения о разрешимости данной проблемы в ходе рассуждений приходят к противоречию.</a:t>
            </a:r>
          </a:p>
          <a:p>
            <a:r>
              <a:rPr lang="ru-RU" altLang="ru-RU" sz="2400" b="1" dirty="0"/>
              <a:t>Косвенный метод</a:t>
            </a:r>
            <a:r>
              <a:rPr lang="ru-RU" altLang="ru-RU" sz="2400" dirty="0"/>
              <a:t> состоит в следующем: показывается, что разрешимость исследуемой проблемы влечёт разрешимость проблемы, о которой уже известно, что она неразрешима. Метод сведения часто бывает более удобным, чем прямой метод. Применяя метод сведения, обычно ссылаются на искусственные задачи, которые не представляют самостоятельного интереса, но для которых легко непосредственно доказать их неразрешимость.</a:t>
            </a:r>
          </a:p>
        </p:txBody>
      </p:sp>
    </p:spTree>
    <p:extLst>
      <p:ext uri="{BB962C8B-B14F-4D97-AF65-F5344CB8AC3E}">
        <p14:creationId xmlns:p14="http://schemas.microsoft.com/office/powerpoint/2010/main" val="4022260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Заголовок 1"/>
          <p:cNvSpPr>
            <a:spLocks noGrp="1"/>
          </p:cNvSpPr>
          <p:nvPr>
            <p:ph type="title"/>
          </p:nvPr>
        </p:nvSpPr>
        <p:spPr>
          <a:xfrm>
            <a:off x="1992313" y="188914"/>
            <a:ext cx="8228012" cy="765175"/>
          </a:xfrm>
          <a:solidFill>
            <a:srgbClr val="C6D9F1"/>
          </a:solidFill>
        </p:spPr>
        <p:txBody>
          <a:bodyPr/>
          <a:lstStyle/>
          <a:p>
            <a:r>
              <a:rPr lang="ru-RU" altLang="ru-RU" sz="3600" b="1"/>
              <a:t>Диагональный метод Кантора</a:t>
            </a:r>
          </a:p>
        </p:txBody>
      </p:sp>
      <p:sp>
        <p:nvSpPr>
          <p:cNvPr id="67587" name="Содержимое 2"/>
          <p:cNvSpPr>
            <a:spLocks noGrp="1"/>
          </p:cNvSpPr>
          <p:nvPr>
            <p:ph idx="1"/>
          </p:nvPr>
        </p:nvSpPr>
        <p:spPr>
          <a:xfrm>
            <a:off x="1703389" y="981076"/>
            <a:ext cx="8785225" cy="5688013"/>
          </a:xfrm>
        </p:spPr>
        <p:txBody>
          <a:bodyPr>
            <a:normAutofit fontScale="92500" lnSpcReduction="10000"/>
          </a:bodyPr>
          <a:lstStyle/>
          <a:p>
            <a:pPr indent="0">
              <a:buNone/>
            </a:pPr>
            <a:r>
              <a:rPr lang="ru-RU" dirty="0"/>
              <a:t>Теорема Кантора о несчетности множества действительных чисел: множество натуральных чисел и множество действительных чисел сегмента [0, 1] имеют разную мощность. Доказательство диагональным методом.</a:t>
            </a:r>
          </a:p>
          <a:p>
            <a:pPr indent="0">
              <a:buNone/>
            </a:pPr>
            <a:r>
              <a:rPr lang="ru-RU" b="1" dirty="0"/>
              <a:t>Доказательство (от противного). </a:t>
            </a:r>
          </a:p>
          <a:p>
            <a:pPr indent="0">
              <a:buNone/>
            </a:pPr>
            <a:r>
              <a:rPr lang="ru-RU" dirty="0"/>
              <a:t>Действительные числа сегмента [0, 1] будем представлять бесконечной десятичной дробью, у которой на первом месте 0, а далее через запятую следует бесконечная последовательность цифр: например 0,31415926536... Положим, что установлено соответствие между множеством натуральных чисел и множеством чисел из отрезка [0, 1] (т.е. положим, что мы занумеровали все числа отрезка [0, 1].)</a:t>
            </a:r>
            <a:br>
              <a:rPr lang="en-US" dirty="0"/>
            </a:br>
            <a:endParaRPr lang="ru-RU" dirty="0"/>
          </a:p>
        </p:txBody>
      </p:sp>
    </p:spTree>
    <p:extLst>
      <p:ext uri="{BB962C8B-B14F-4D97-AF65-F5344CB8AC3E}">
        <p14:creationId xmlns:p14="http://schemas.microsoft.com/office/powerpoint/2010/main" val="231972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Содержимое 2"/>
          <p:cNvSpPr>
            <a:spLocks noGrp="1"/>
          </p:cNvSpPr>
          <p:nvPr>
            <p:ph idx="1"/>
          </p:nvPr>
        </p:nvSpPr>
        <p:spPr>
          <a:xfrm>
            <a:off x="1703389" y="188914"/>
            <a:ext cx="8785225" cy="6480175"/>
          </a:xfrm>
        </p:spPr>
        <p:txBody>
          <a:bodyPr/>
          <a:lstStyle/>
          <a:p>
            <a:pPr indent="0">
              <a:buNone/>
            </a:pPr>
            <a:r>
              <a:rPr lang="en-US" dirty="0"/>
              <a:t>1   0, a</a:t>
            </a:r>
            <a:r>
              <a:rPr lang="en-US" baseline="-25000" dirty="0"/>
              <a:t>1</a:t>
            </a:r>
            <a:r>
              <a:rPr lang="en-US" dirty="0"/>
              <a:t>,</a:t>
            </a:r>
            <a:r>
              <a:rPr lang="en-US" baseline="-25000" dirty="0"/>
              <a:t>1</a:t>
            </a:r>
            <a:r>
              <a:rPr lang="en-US" dirty="0"/>
              <a:t>a</a:t>
            </a:r>
            <a:r>
              <a:rPr lang="en-US" baseline="-25000" dirty="0"/>
              <a:t>1</a:t>
            </a:r>
            <a:r>
              <a:rPr lang="en-US" dirty="0"/>
              <a:t>,</a:t>
            </a:r>
            <a:r>
              <a:rPr lang="en-US" baseline="-25000" dirty="0"/>
              <a:t>2</a:t>
            </a:r>
            <a:r>
              <a:rPr lang="en-US" dirty="0"/>
              <a:t>a</a:t>
            </a:r>
            <a:r>
              <a:rPr lang="en-US" baseline="-25000" dirty="0"/>
              <a:t>1</a:t>
            </a:r>
            <a:r>
              <a:rPr lang="en-US" dirty="0"/>
              <a:t>,</a:t>
            </a:r>
            <a:r>
              <a:rPr lang="en-US" baseline="-25000" dirty="0"/>
              <a:t>3</a:t>
            </a:r>
            <a:r>
              <a:rPr lang="en-US" dirty="0"/>
              <a:t>a</a:t>
            </a:r>
            <a:r>
              <a:rPr lang="en-US" baseline="-25000" dirty="0"/>
              <a:t>1</a:t>
            </a:r>
            <a:r>
              <a:rPr lang="en-US" dirty="0"/>
              <a:t>,</a:t>
            </a:r>
            <a:r>
              <a:rPr lang="en-US" baseline="-25000" dirty="0"/>
              <a:t>4</a:t>
            </a:r>
            <a:r>
              <a:rPr lang="en-US" dirty="0"/>
              <a:t>a</a:t>
            </a:r>
            <a:r>
              <a:rPr lang="en-US" baseline="-25000" dirty="0"/>
              <a:t>1</a:t>
            </a:r>
            <a:r>
              <a:rPr lang="en-US" dirty="0"/>
              <a:t>,</a:t>
            </a:r>
            <a:r>
              <a:rPr lang="en-US" baseline="-25000" dirty="0"/>
              <a:t>5</a:t>
            </a:r>
            <a:r>
              <a:rPr lang="en-US" dirty="0"/>
              <a:t>a</a:t>
            </a:r>
            <a:r>
              <a:rPr lang="en-US" baseline="-25000" dirty="0"/>
              <a:t>1</a:t>
            </a:r>
            <a:r>
              <a:rPr lang="en-US" dirty="0"/>
              <a:t>,</a:t>
            </a:r>
            <a:r>
              <a:rPr lang="en-US" baseline="-25000" dirty="0"/>
              <a:t>6</a:t>
            </a:r>
            <a:r>
              <a:rPr lang="en-US" dirty="0"/>
              <a:t>a</a:t>
            </a:r>
            <a:r>
              <a:rPr lang="en-US" baseline="-25000" dirty="0"/>
              <a:t>1</a:t>
            </a:r>
            <a:r>
              <a:rPr lang="en-US" dirty="0"/>
              <a:t>,</a:t>
            </a:r>
            <a:r>
              <a:rPr lang="en-US" baseline="-25000" dirty="0"/>
              <a:t>7</a:t>
            </a:r>
            <a:r>
              <a:rPr lang="en-US" dirty="0"/>
              <a:t>. . .</a:t>
            </a:r>
            <a:br>
              <a:rPr lang="en-US" dirty="0"/>
            </a:br>
            <a:r>
              <a:rPr lang="en-US" dirty="0"/>
              <a:t>2   0, a</a:t>
            </a:r>
            <a:r>
              <a:rPr lang="en-US" baseline="-25000" dirty="0"/>
              <a:t>2</a:t>
            </a:r>
            <a:r>
              <a:rPr lang="en-US" dirty="0"/>
              <a:t>,</a:t>
            </a:r>
            <a:r>
              <a:rPr lang="en-US" baseline="-25000" dirty="0"/>
              <a:t>1</a:t>
            </a:r>
            <a:r>
              <a:rPr lang="en-US" dirty="0"/>
              <a:t>a</a:t>
            </a:r>
            <a:r>
              <a:rPr lang="en-US" baseline="-25000" dirty="0"/>
              <a:t>2</a:t>
            </a:r>
            <a:r>
              <a:rPr lang="en-US" dirty="0"/>
              <a:t>,</a:t>
            </a:r>
            <a:r>
              <a:rPr lang="en-US" baseline="-25000" dirty="0"/>
              <a:t>2</a:t>
            </a:r>
            <a:r>
              <a:rPr lang="en-US" dirty="0"/>
              <a:t>a</a:t>
            </a:r>
            <a:r>
              <a:rPr lang="en-US" baseline="-25000" dirty="0"/>
              <a:t>2</a:t>
            </a:r>
            <a:r>
              <a:rPr lang="en-US" dirty="0"/>
              <a:t>,</a:t>
            </a:r>
            <a:r>
              <a:rPr lang="en-US" baseline="-25000" dirty="0"/>
              <a:t>3</a:t>
            </a:r>
            <a:r>
              <a:rPr lang="en-US" dirty="0"/>
              <a:t>a</a:t>
            </a:r>
            <a:r>
              <a:rPr lang="en-US" baseline="-25000" dirty="0"/>
              <a:t>2</a:t>
            </a:r>
            <a:r>
              <a:rPr lang="en-US" dirty="0"/>
              <a:t>,</a:t>
            </a:r>
            <a:r>
              <a:rPr lang="en-US" baseline="-25000" dirty="0"/>
              <a:t>4</a:t>
            </a:r>
            <a:r>
              <a:rPr lang="en-US" dirty="0"/>
              <a:t>a</a:t>
            </a:r>
            <a:r>
              <a:rPr lang="en-US" baseline="-25000" dirty="0"/>
              <a:t>2</a:t>
            </a:r>
            <a:r>
              <a:rPr lang="en-US" dirty="0"/>
              <a:t>,</a:t>
            </a:r>
            <a:r>
              <a:rPr lang="en-US" baseline="-25000" dirty="0"/>
              <a:t>5</a:t>
            </a:r>
            <a:r>
              <a:rPr lang="en-US" dirty="0"/>
              <a:t>a</a:t>
            </a:r>
            <a:r>
              <a:rPr lang="en-US" baseline="-25000" dirty="0"/>
              <a:t>2</a:t>
            </a:r>
            <a:r>
              <a:rPr lang="en-US" dirty="0"/>
              <a:t>,</a:t>
            </a:r>
            <a:r>
              <a:rPr lang="en-US" baseline="-25000" dirty="0"/>
              <a:t>6</a:t>
            </a:r>
            <a:r>
              <a:rPr lang="en-US" dirty="0"/>
              <a:t>a</a:t>
            </a:r>
            <a:r>
              <a:rPr lang="en-US" baseline="-25000" dirty="0"/>
              <a:t>2</a:t>
            </a:r>
            <a:r>
              <a:rPr lang="en-US" dirty="0"/>
              <a:t>,</a:t>
            </a:r>
            <a:r>
              <a:rPr lang="en-US" baseline="-25000" dirty="0"/>
              <a:t>7</a:t>
            </a:r>
            <a:r>
              <a:rPr lang="en-US" dirty="0"/>
              <a:t>. . .</a:t>
            </a:r>
            <a:br>
              <a:rPr lang="en-US" dirty="0"/>
            </a:br>
            <a:r>
              <a:rPr lang="en-US" dirty="0"/>
              <a:t>3   0, a</a:t>
            </a:r>
            <a:r>
              <a:rPr lang="en-US" baseline="-25000" dirty="0"/>
              <a:t>3</a:t>
            </a:r>
            <a:r>
              <a:rPr lang="en-US" dirty="0"/>
              <a:t>,</a:t>
            </a:r>
            <a:r>
              <a:rPr lang="en-US" baseline="-25000" dirty="0"/>
              <a:t>1</a:t>
            </a:r>
            <a:r>
              <a:rPr lang="en-US" dirty="0"/>
              <a:t>a</a:t>
            </a:r>
            <a:r>
              <a:rPr lang="en-US" baseline="-25000" dirty="0"/>
              <a:t>3</a:t>
            </a:r>
            <a:r>
              <a:rPr lang="en-US" dirty="0"/>
              <a:t>,</a:t>
            </a:r>
            <a:r>
              <a:rPr lang="en-US" baseline="-25000" dirty="0"/>
              <a:t>2</a:t>
            </a:r>
            <a:r>
              <a:rPr lang="en-US" dirty="0"/>
              <a:t>a</a:t>
            </a:r>
            <a:r>
              <a:rPr lang="en-US" baseline="-25000" dirty="0"/>
              <a:t>3</a:t>
            </a:r>
            <a:r>
              <a:rPr lang="en-US" dirty="0"/>
              <a:t>,</a:t>
            </a:r>
            <a:r>
              <a:rPr lang="en-US" baseline="-25000" dirty="0"/>
              <a:t>3</a:t>
            </a:r>
            <a:r>
              <a:rPr lang="en-US" dirty="0"/>
              <a:t>a</a:t>
            </a:r>
            <a:r>
              <a:rPr lang="en-US" baseline="-25000" dirty="0"/>
              <a:t>3</a:t>
            </a:r>
            <a:r>
              <a:rPr lang="en-US" dirty="0"/>
              <a:t>,</a:t>
            </a:r>
            <a:r>
              <a:rPr lang="en-US" baseline="-25000" dirty="0"/>
              <a:t>4</a:t>
            </a:r>
            <a:r>
              <a:rPr lang="en-US" dirty="0"/>
              <a:t>a</a:t>
            </a:r>
            <a:r>
              <a:rPr lang="en-US" baseline="-25000" dirty="0"/>
              <a:t>3</a:t>
            </a:r>
            <a:r>
              <a:rPr lang="en-US" dirty="0"/>
              <a:t>,</a:t>
            </a:r>
            <a:r>
              <a:rPr lang="en-US" baseline="-25000" dirty="0"/>
              <a:t>5</a:t>
            </a:r>
            <a:r>
              <a:rPr lang="en-US" dirty="0"/>
              <a:t>a</a:t>
            </a:r>
            <a:r>
              <a:rPr lang="en-US" baseline="-25000" dirty="0"/>
              <a:t>3</a:t>
            </a:r>
            <a:r>
              <a:rPr lang="en-US" dirty="0"/>
              <a:t>,</a:t>
            </a:r>
            <a:r>
              <a:rPr lang="en-US" baseline="-25000" dirty="0"/>
              <a:t>6</a:t>
            </a:r>
            <a:r>
              <a:rPr lang="en-US" dirty="0"/>
              <a:t>a</a:t>
            </a:r>
            <a:r>
              <a:rPr lang="en-US" baseline="-25000" dirty="0"/>
              <a:t>3</a:t>
            </a:r>
            <a:r>
              <a:rPr lang="en-US" dirty="0"/>
              <a:t>,</a:t>
            </a:r>
            <a:r>
              <a:rPr lang="en-US" baseline="-25000" dirty="0"/>
              <a:t>7</a:t>
            </a:r>
            <a:r>
              <a:rPr lang="en-US" dirty="0"/>
              <a:t>. . .</a:t>
            </a:r>
            <a:br>
              <a:rPr lang="en-US" dirty="0"/>
            </a:br>
            <a:r>
              <a:rPr lang="en-US" dirty="0"/>
              <a:t>4   0, a</a:t>
            </a:r>
            <a:r>
              <a:rPr lang="en-US" baseline="-25000" dirty="0"/>
              <a:t>4</a:t>
            </a:r>
            <a:r>
              <a:rPr lang="en-US" dirty="0"/>
              <a:t>,</a:t>
            </a:r>
            <a:r>
              <a:rPr lang="en-US" baseline="-25000" dirty="0"/>
              <a:t>1</a:t>
            </a:r>
            <a:r>
              <a:rPr lang="en-US" dirty="0"/>
              <a:t>a</a:t>
            </a:r>
            <a:r>
              <a:rPr lang="en-US" baseline="-25000" dirty="0"/>
              <a:t>4</a:t>
            </a:r>
            <a:r>
              <a:rPr lang="en-US" dirty="0"/>
              <a:t>,</a:t>
            </a:r>
            <a:r>
              <a:rPr lang="en-US" baseline="-25000" dirty="0"/>
              <a:t>2</a:t>
            </a:r>
            <a:r>
              <a:rPr lang="en-US" dirty="0"/>
              <a:t>a</a:t>
            </a:r>
            <a:r>
              <a:rPr lang="en-US" baseline="-25000" dirty="0"/>
              <a:t>4</a:t>
            </a:r>
            <a:r>
              <a:rPr lang="en-US" dirty="0"/>
              <a:t>,</a:t>
            </a:r>
            <a:r>
              <a:rPr lang="en-US" baseline="-25000" dirty="0"/>
              <a:t>3</a:t>
            </a:r>
            <a:r>
              <a:rPr lang="en-US" dirty="0"/>
              <a:t>a</a:t>
            </a:r>
            <a:r>
              <a:rPr lang="en-US" baseline="-25000" dirty="0"/>
              <a:t>4</a:t>
            </a:r>
            <a:r>
              <a:rPr lang="en-US" dirty="0"/>
              <a:t>,</a:t>
            </a:r>
            <a:r>
              <a:rPr lang="en-US" baseline="-25000" dirty="0"/>
              <a:t>4</a:t>
            </a:r>
            <a:r>
              <a:rPr lang="en-US" dirty="0"/>
              <a:t>a</a:t>
            </a:r>
            <a:r>
              <a:rPr lang="en-US" baseline="-25000" dirty="0"/>
              <a:t>4</a:t>
            </a:r>
            <a:r>
              <a:rPr lang="en-US" dirty="0"/>
              <a:t>,</a:t>
            </a:r>
            <a:r>
              <a:rPr lang="en-US" baseline="-25000" dirty="0"/>
              <a:t>5</a:t>
            </a:r>
            <a:r>
              <a:rPr lang="en-US" dirty="0"/>
              <a:t>a</a:t>
            </a:r>
            <a:r>
              <a:rPr lang="en-US" baseline="-25000" dirty="0"/>
              <a:t>4</a:t>
            </a:r>
            <a:r>
              <a:rPr lang="en-US" dirty="0"/>
              <a:t>,</a:t>
            </a:r>
            <a:r>
              <a:rPr lang="en-US" baseline="-25000" dirty="0"/>
              <a:t>6</a:t>
            </a:r>
            <a:r>
              <a:rPr lang="en-US" dirty="0"/>
              <a:t>a</a:t>
            </a:r>
            <a:r>
              <a:rPr lang="en-US" baseline="-25000" dirty="0"/>
              <a:t>4</a:t>
            </a:r>
            <a:r>
              <a:rPr lang="en-US" dirty="0"/>
              <a:t>,</a:t>
            </a:r>
            <a:r>
              <a:rPr lang="en-US" baseline="-25000" dirty="0"/>
              <a:t>7</a:t>
            </a:r>
            <a:r>
              <a:rPr lang="en-US" dirty="0"/>
              <a:t>. . .</a:t>
            </a:r>
            <a:br>
              <a:rPr lang="en-US" dirty="0"/>
            </a:br>
            <a:r>
              <a:rPr lang="en-US" dirty="0"/>
              <a:t>5   0, a</a:t>
            </a:r>
            <a:r>
              <a:rPr lang="en-US" baseline="-25000" dirty="0"/>
              <a:t>5</a:t>
            </a:r>
            <a:r>
              <a:rPr lang="en-US" dirty="0"/>
              <a:t>,</a:t>
            </a:r>
            <a:r>
              <a:rPr lang="en-US" baseline="-25000" dirty="0"/>
              <a:t>1</a:t>
            </a:r>
            <a:r>
              <a:rPr lang="en-US" dirty="0"/>
              <a:t>a</a:t>
            </a:r>
            <a:r>
              <a:rPr lang="en-US" baseline="-25000" dirty="0"/>
              <a:t>5</a:t>
            </a:r>
            <a:r>
              <a:rPr lang="en-US" dirty="0"/>
              <a:t>,</a:t>
            </a:r>
            <a:r>
              <a:rPr lang="en-US" baseline="-25000" dirty="0"/>
              <a:t>2</a:t>
            </a:r>
            <a:r>
              <a:rPr lang="en-US" dirty="0"/>
              <a:t>a</a:t>
            </a:r>
            <a:r>
              <a:rPr lang="en-US" baseline="-25000" dirty="0"/>
              <a:t>5</a:t>
            </a:r>
            <a:r>
              <a:rPr lang="en-US" dirty="0"/>
              <a:t>,</a:t>
            </a:r>
            <a:r>
              <a:rPr lang="en-US" baseline="-25000" dirty="0"/>
              <a:t>3</a:t>
            </a:r>
            <a:r>
              <a:rPr lang="en-US" dirty="0"/>
              <a:t>a</a:t>
            </a:r>
            <a:r>
              <a:rPr lang="en-US" baseline="-25000" dirty="0"/>
              <a:t>5</a:t>
            </a:r>
            <a:r>
              <a:rPr lang="en-US" dirty="0"/>
              <a:t>,</a:t>
            </a:r>
            <a:r>
              <a:rPr lang="en-US" baseline="-25000" dirty="0"/>
              <a:t>4</a:t>
            </a:r>
            <a:r>
              <a:rPr lang="en-US" dirty="0"/>
              <a:t>a</a:t>
            </a:r>
            <a:r>
              <a:rPr lang="en-US" baseline="-25000" dirty="0"/>
              <a:t>5</a:t>
            </a:r>
            <a:r>
              <a:rPr lang="en-US" dirty="0"/>
              <a:t>,</a:t>
            </a:r>
            <a:r>
              <a:rPr lang="en-US" baseline="-25000" dirty="0"/>
              <a:t>5</a:t>
            </a:r>
            <a:r>
              <a:rPr lang="en-US" dirty="0"/>
              <a:t>a</a:t>
            </a:r>
            <a:r>
              <a:rPr lang="en-US" baseline="-25000" dirty="0"/>
              <a:t>5</a:t>
            </a:r>
            <a:r>
              <a:rPr lang="en-US" dirty="0"/>
              <a:t>,</a:t>
            </a:r>
            <a:r>
              <a:rPr lang="en-US" baseline="-25000" dirty="0"/>
              <a:t>6</a:t>
            </a:r>
            <a:r>
              <a:rPr lang="en-US" dirty="0"/>
              <a:t>a</a:t>
            </a:r>
            <a:r>
              <a:rPr lang="en-US" baseline="-25000" dirty="0"/>
              <a:t>5</a:t>
            </a:r>
            <a:r>
              <a:rPr lang="en-US" dirty="0"/>
              <a:t>,</a:t>
            </a:r>
            <a:r>
              <a:rPr lang="en-US" baseline="-25000" dirty="0"/>
              <a:t>7</a:t>
            </a:r>
            <a:r>
              <a:rPr lang="en-US" dirty="0"/>
              <a:t>. . .</a:t>
            </a:r>
            <a:br>
              <a:rPr lang="en-US" dirty="0"/>
            </a:br>
            <a:r>
              <a:rPr lang="en-US" dirty="0"/>
              <a:t>6   0, a</a:t>
            </a:r>
            <a:r>
              <a:rPr lang="en-US" baseline="-25000" dirty="0"/>
              <a:t>6</a:t>
            </a:r>
            <a:r>
              <a:rPr lang="en-US" dirty="0"/>
              <a:t>,</a:t>
            </a:r>
            <a:r>
              <a:rPr lang="en-US" baseline="-25000" dirty="0"/>
              <a:t>1</a:t>
            </a:r>
            <a:r>
              <a:rPr lang="en-US" dirty="0"/>
              <a:t>a</a:t>
            </a:r>
            <a:r>
              <a:rPr lang="en-US" baseline="-25000" dirty="0"/>
              <a:t>6</a:t>
            </a:r>
            <a:r>
              <a:rPr lang="en-US" dirty="0"/>
              <a:t>,</a:t>
            </a:r>
            <a:r>
              <a:rPr lang="en-US" baseline="-25000" dirty="0"/>
              <a:t>2</a:t>
            </a:r>
            <a:r>
              <a:rPr lang="en-US" dirty="0"/>
              <a:t>a</a:t>
            </a:r>
            <a:r>
              <a:rPr lang="en-US" baseline="-25000" dirty="0"/>
              <a:t>6</a:t>
            </a:r>
            <a:r>
              <a:rPr lang="en-US" dirty="0"/>
              <a:t>,</a:t>
            </a:r>
            <a:r>
              <a:rPr lang="en-US" baseline="-25000" dirty="0"/>
              <a:t>3</a:t>
            </a:r>
            <a:r>
              <a:rPr lang="en-US" dirty="0"/>
              <a:t>a</a:t>
            </a:r>
            <a:r>
              <a:rPr lang="en-US" baseline="-25000" dirty="0"/>
              <a:t>6</a:t>
            </a:r>
            <a:r>
              <a:rPr lang="en-US" dirty="0"/>
              <a:t>,</a:t>
            </a:r>
            <a:r>
              <a:rPr lang="en-US" baseline="-25000" dirty="0"/>
              <a:t>4</a:t>
            </a:r>
            <a:r>
              <a:rPr lang="en-US" dirty="0"/>
              <a:t>a</a:t>
            </a:r>
            <a:r>
              <a:rPr lang="en-US" baseline="-25000" dirty="0"/>
              <a:t>6</a:t>
            </a:r>
            <a:r>
              <a:rPr lang="en-US" dirty="0"/>
              <a:t>,</a:t>
            </a:r>
            <a:r>
              <a:rPr lang="en-US" baseline="-25000" dirty="0"/>
              <a:t>5</a:t>
            </a:r>
            <a:r>
              <a:rPr lang="en-US" dirty="0"/>
              <a:t>a</a:t>
            </a:r>
            <a:r>
              <a:rPr lang="en-US" baseline="-25000" dirty="0"/>
              <a:t>6</a:t>
            </a:r>
            <a:r>
              <a:rPr lang="en-US" dirty="0"/>
              <a:t>,</a:t>
            </a:r>
            <a:r>
              <a:rPr lang="en-US" baseline="-25000" dirty="0"/>
              <a:t>6</a:t>
            </a:r>
            <a:r>
              <a:rPr lang="en-US" dirty="0"/>
              <a:t>a</a:t>
            </a:r>
            <a:r>
              <a:rPr lang="en-US" baseline="-25000" dirty="0"/>
              <a:t>6</a:t>
            </a:r>
            <a:r>
              <a:rPr lang="en-US" dirty="0"/>
              <a:t>,</a:t>
            </a:r>
            <a:r>
              <a:rPr lang="en-US" baseline="-25000" dirty="0"/>
              <a:t>7</a:t>
            </a:r>
            <a:r>
              <a:rPr lang="en-US" dirty="0"/>
              <a:t>. . .</a:t>
            </a:r>
            <a:br>
              <a:rPr lang="en-US" dirty="0"/>
            </a:br>
            <a:r>
              <a:rPr lang="en-US" dirty="0"/>
              <a:t>. . . . . . . . . . . . . . . . . . . . . . .</a:t>
            </a:r>
            <a:br>
              <a:rPr lang="en-US" dirty="0"/>
            </a:br>
            <a:r>
              <a:rPr lang="en-US" dirty="0"/>
              <a:t>n   0, a</a:t>
            </a:r>
            <a:r>
              <a:rPr lang="en-US" baseline="-25000" dirty="0"/>
              <a:t>n</a:t>
            </a:r>
            <a:r>
              <a:rPr lang="en-US" dirty="0"/>
              <a:t>,</a:t>
            </a:r>
            <a:r>
              <a:rPr lang="en-US" baseline="-25000" dirty="0"/>
              <a:t>1</a:t>
            </a:r>
            <a:r>
              <a:rPr lang="en-US" dirty="0"/>
              <a:t>a</a:t>
            </a:r>
            <a:r>
              <a:rPr lang="en-US" baseline="-25000" dirty="0"/>
              <a:t>n</a:t>
            </a:r>
            <a:r>
              <a:rPr lang="en-US" dirty="0"/>
              <a:t>,</a:t>
            </a:r>
            <a:r>
              <a:rPr lang="en-US" baseline="-25000" dirty="0"/>
              <a:t>2</a:t>
            </a:r>
            <a:r>
              <a:rPr lang="en-US" dirty="0"/>
              <a:t>a</a:t>
            </a:r>
            <a:r>
              <a:rPr lang="en-US" baseline="-25000" dirty="0"/>
              <a:t>n</a:t>
            </a:r>
            <a:r>
              <a:rPr lang="en-US" dirty="0"/>
              <a:t>,</a:t>
            </a:r>
            <a:r>
              <a:rPr lang="en-US" baseline="-25000" dirty="0"/>
              <a:t>3</a:t>
            </a:r>
            <a:r>
              <a:rPr lang="en-US" dirty="0"/>
              <a:t>a</a:t>
            </a:r>
            <a:r>
              <a:rPr lang="en-US" baseline="-25000" dirty="0"/>
              <a:t>n</a:t>
            </a:r>
            <a:r>
              <a:rPr lang="en-US" dirty="0"/>
              <a:t>,</a:t>
            </a:r>
            <a:r>
              <a:rPr lang="en-US" baseline="-25000" dirty="0"/>
              <a:t>4</a:t>
            </a:r>
            <a:r>
              <a:rPr lang="en-US" dirty="0"/>
              <a:t>a</a:t>
            </a:r>
            <a:r>
              <a:rPr lang="en-US" baseline="-25000" dirty="0"/>
              <a:t>n</a:t>
            </a:r>
            <a:r>
              <a:rPr lang="en-US" dirty="0"/>
              <a:t>,</a:t>
            </a:r>
            <a:r>
              <a:rPr lang="en-US" baseline="-25000" dirty="0"/>
              <a:t>5</a:t>
            </a:r>
            <a:r>
              <a:rPr lang="en-US" dirty="0"/>
              <a:t>a</a:t>
            </a:r>
            <a:r>
              <a:rPr lang="en-US" baseline="-25000" dirty="0"/>
              <a:t>n</a:t>
            </a:r>
            <a:r>
              <a:rPr lang="en-US" dirty="0"/>
              <a:t>,</a:t>
            </a:r>
            <a:r>
              <a:rPr lang="en-US" baseline="-25000" dirty="0"/>
              <a:t>6</a:t>
            </a:r>
            <a:r>
              <a:rPr lang="en-US" dirty="0"/>
              <a:t>a</a:t>
            </a:r>
            <a:r>
              <a:rPr lang="en-US" baseline="-25000" dirty="0"/>
              <a:t>n</a:t>
            </a:r>
            <a:r>
              <a:rPr lang="en-US" dirty="0"/>
              <a:t>,</a:t>
            </a:r>
            <a:r>
              <a:rPr lang="en-US" baseline="-25000" dirty="0"/>
              <a:t>7</a:t>
            </a:r>
            <a:r>
              <a:rPr lang="en-US" dirty="0"/>
              <a:t>. . .</a:t>
            </a:r>
            <a:br>
              <a:rPr lang="en-US" dirty="0"/>
            </a:br>
            <a:r>
              <a:rPr lang="en-US" dirty="0"/>
              <a:t>. . . . . . . . . . . . . . . . . . . . . . .</a:t>
            </a:r>
            <a:endParaRPr lang="ru-RU" dirty="0"/>
          </a:p>
          <a:p>
            <a:pPr indent="0">
              <a:buNone/>
            </a:pPr>
            <a:r>
              <a:rPr lang="ru-RU" sz="2400" dirty="0" err="1"/>
              <a:t>a</a:t>
            </a:r>
            <a:r>
              <a:rPr lang="ru-RU" sz="2400" baseline="-25000" dirty="0" err="1"/>
              <a:t>i,j</a:t>
            </a:r>
            <a:r>
              <a:rPr lang="ru-RU" sz="2400" baseline="-25000" dirty="0"/>
              <a:t> </a:t>
            </a:r>
            <a:r>
              <a:rPr lang="ru-RU" sz="2400" dirty="0"/>
              <a:t>- цифра от 0 до 9, i - номер числа, в записи которого она участвует, j - номер ее позиции в этом числе. Докажем, что есть число не вошедшее в эту нумерацию.</a:t>
            </a:r>
          </a:p>
          <a:p>
            <a:pPr indent="0">
              <a:buNone/>
            </a:pPr>
            <a:r>
              <a:rPr lang="ru-RU" sz="2400" dirty="0"/>
              <a:t>Строим число 0, b</a:t>
            </a:r>
            <a:r>
              <a:rPr lang="ru-RU" sz="2400" baseline="-25000" dirty="0"/>
              <a:t>1</a:t>
            </a:r>
            <a:r>
              <a:rPr lang="ru-RU" sz="2400" dirty="0"/>
              <a:t>b</a:t>
            </a:r>
            <a:r>
              <a:rPr lang="ru-RU" sz="2400" baseline="-25000" dirty="0"/>
              <a:t>2</a:t>
            </a:r>
            <a:r>
              <a:rPr lang="ru-RU" sz="2400" dirty="0"/>
              <a:t>b</a:t>
            </a:r>
            <a:r>
              <a:rPr lang="ru-RU" sz="2400" baseline="-25000" dirty="0"/>
              <a:t>3</a:t>
            </a:r>
            <a:r>
              <a:rPr lang="ru-RU" sz="2400" dirty="0"/>
              <a:t>b</a:t>
            </a:r>
            <a:r>
              <a:rPr lang="ru-RU" sz="2400" baseline="-25000" dirty="0"/>
              <a:t>4</a:t>
            </a:r>
            <a:r>
              <a:rPr lang="ru-RU" sz="2400" dirty="0"/>
              <a:t>b</a:t>
            </a:r>
            <a:r>
              <a:rPr lang="ru-RU" sz="2400" baseline="-25000" dirty="0"/>
              <a:t>5</a:t>
            </a:r>
            <a:r>
              <a:rPr lang="ru-RU" sz="2400" dirty="0"/>
              <a:t> . . ., ставя на n-</a:t>
            </a:r>
            <a:r>
              <a:rPr lang="ru-RU" sz="2400" dirty="0" err="1"/>
              <a:t>ое</a:t>
            </a:r>
            <a:r>
              <a:rPr lang="ru-RU" sz="2400" dirty="0"/>
              <a:t> место цифру </a:t>
            </a:r>
            <a:r>
              <a:rPr lang="ru-RU" sz="2400" dirty="0" err="1"/>
              <a:t>b</a:t>
            </a:r>
            <a:r>
              <a:rPr lang="ru-RU" sz="2400" baseline="-25000" dirty="0" err="1"/>
              <a:t>n</a:t>
            </a:r>
            <a:r>
              <a:rPr lang="ru-RU" sz="2400" dirty="0"/>
              <a:t>, такую, что </a:t>
            </a:r>
            <a:r>
              <a:rPr lang="ru-RU" sz="2400" dirty="0" err="1"/>
              <a:t>b</a:t>
            </a:r>
            <a:r>
              <a:rPr lang="ru-RU" sz="2400" baseline="-25000" dirty="0" err="1"/>
              <a:t>n</a:t>
            </a:r>
            <a:r>
              <a:rPr lang="ru-RU" sz="2400" dirty="0"/>
              <a:t> </a:t>
            </a:r>
            <a:r>
              <a:rPr lang="ru-RU" sz="2400" dirty="0">
                <a:sym typeface="Symbol" pitchFamily="18" charset="2"/>
              </a:rPr>
              <a:t></a:t>
            </a:r>
            <a:r>
              <a:rPr lang="ru-RU" sz="2400" dirty="0" err="1"/>
              <a:t>a</a:t>
            </a:r>
            <a:r>
              <a:rPr lang="ru-RU" sz="2400" baseline="-25000" dirty="0" err="1"/>
              <a:t>n</a:t>
            </a:r>
            <a:r>
              <a:rPr lang="en-US" sz="2400" baseline="-25000" dirty="0"/>
              <a:t>,n</a:t>
            </a:r>
            <a:r>
              <a:rPr lang="ru-RU" sz="2400" dirty="0"/>
              <a:t>. Таким образом получаем число отличное от числа с номером </a:t>
            </a:r>
            <a:r>
              <a:rPr lang="en-US" sz="2400" dirty="0"/>
              <a:t>n</a:t>
            </a:r>
            <a:r>
              <a:rPr lang="ru-RU" sz="2400" dirty="0"/>
              <a:t>. Поскольку так можно проделать для любого числа, получаем противоречие предположению, что можно занумеровать все действительные числа.</a:t>
            </a:r>
          </a:p>
          <a:p>
            <a:pPr indent="0">
              <a:buNone/>
            </a:pPr>
            <a:endParaRPr lang="ru-RU" sz="2400" dirty="0"/>
          </a:p>
        </p:txBody>
      </p:sp>
    </p:spTree>
    <p:extLst>
      <p:ext uri="{BB962C8B-B14F-4D97-AF65-F5344CB8AC3E}">
        <p14:creationId xmlns:p14="http://schemas.microsoft.com/office/powerpoint/2010/main" val="1277638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03389" y="188914"/>
            <a:ext cx="8785225" cy="6480175"/>
          </a:xfrm>
        </p:spPr>
        <p:txBody>
          <a:bodyPr/>
          <a:lstStyle/>
          <a:p>
            <a:pPr indent="0">
              <a:buNone/>
              <a:defRPr/>
            </a:pPr>
            <a:r>
              <a:rPr lang="ru-RU" sz="2400" b="1" dirty="0"/>
              <a:t>Теорема</a:t>
            </a:r>
            <a:r>
              <a:rPr lang="ru-RU" sz="2400" dirty="0"/>
              <a:t>: множество арифметических функций </a:t>
            </a:r>
            <a:r>
              <a:rPr lang="en-US" sz="2400" dirty="0"/>
              <a:t>n</a:t>
            </a:r>
            <a:r>
              <a:rPr lang="ru-RU" sz="2400" dirty="0"/>
              <a:t>-переменных несчетно.</a:t>
            </a:r>
          </a:p>
          <a:p>
            <a:pPr>
              <a:buFont typeface="Times New Roman" pitchFamily="18" charset="0"/>
              <a:buNone/>
              <a:defRPr/>
            </a:pPr>
            <a:r>
              <a:rPr lang="ru-RU" sz="2400" dirty="0"/>
              <a:t>     </a:t>
            </a:r>
            <a:r>
              <a:rPr lang="ru-RU" sz="2400" b="1" dirty="0" err="1"/>
              <a:t>Док-во</a:t>
            </a:r>
            <a:r>
              <a:rPr lang="ru-RU" sz="2400" dirty="0"/>
              <a:t> (с помощью диагонального метода):</a:t>
            </a:r>
          </a:p>
          <a:p>
            <a:pPr marL="72000" indent="0">
              <a:buNone/>
              <a:defRPr/>
            </a:pPr>
            <a:r>
              <a:rPr lang="ru-RU" sz="2000" dirty="0"/>
              <a:t>Для доказательства несчетности множества достаточно доказать несчетность какого-нибудь его подмножества. Рассмотрим функции одной переменной вида </a:t>
            </a:r>
            <a:r>
              <a:rPr lang="ru-RU" sz="2000" dirty="0" err="1"/>
              <a:t>F</a:t>
            </a:r>
            <a:r>
              <a:rPr lang="ru-RU" sz="1400" dirty="0" err="1"/>
              <a:t>i</a:t>
            </a:r>
            <a:r>
              <a:rPr lang="ru-RU" sz="2000" dirty="0"/>
              <a:t>(</a:t>
            </a:r>
            <a:r>
              <a:rPr lang="ru-RU" sz="2000" dirty="0" err="1"/>
              <a:t>x</a:t>
            </a:r>
            <a:r>
              <a:rPr lang="ru-RU" sz="2000" dirty="0"/>
              <a:t>). Пусть функций одной переменной счетное множество, т.е. их можно перенумеровать. </a:t>
            </a:r>
            <a:r>
              <a:rPr lang="ru-RU" sz="1800" dirty="0"/>
              <a:t>F</a:t>
            </a:r>
            <a:r>
              <a:rPr lang="ru-RU" sz="1200" dirty="0"/>
              <a:t>0</a:t>
            </a:r>
            <a:r>
              <a:rPr lang="ru-RU" sz="1800" dirty="0"/>
              <a:t>(</a:t>
            </a:r>
            <a:r>
              <a:rPr lang="ru-RU" sz="1800" dirty="0" err="1"/>
              <a:t>x</a:t>
            </a:r>
            <a:r>
              <a:rPr lang="ru-RU" sz="2000" dirty="0"/>
              <a:t>), F</a:t>
            </a:r>
            <a:r>
              <a:rPr lang="ru-RU" sz="1400" dirty="0"/>
              <a:t>1</a:t>
            </a:r>
            <a:r>
              <a:rPr lang="ru-RU" sz="2000" dirty="0"/>
              <a:t>(</a:t>
            </a:r>
            <a:r>
              <a:rPr lang="ru-RU" sz="2000" dirty="0" err="1"/>
              <a:t>x</a:t>
            </a:r>
            <a:r>
              <a:rPr lang="ru-RU" sz="2000" dirty="0"/>
              <a:t>), F</a:t>
            </a:r>
            <a:r>
              <a:rPr lang="ru-RU" sz="1400" dirty="0"/>
              <a:t>2</a:t>
            </a:r>
            <a:r>
              <a:rPr lang="ru-RU" sz="2000" dirty="0"/>
              <a:t>(</a:t>
            </a:r>
            <a:r>
              <a:rPr lang="ru-RU" sz="2000" dirty="0" err="1"/>
              <a:t>x</a:t>
            </a:r>
            <a:r>
              <a:rPr lang="ru-RU" sz="2000" dirty="0"/>
              <a:t>), … </a:t>
            </a:r>
          </a:p>
          <a:p>
            <a:pPr marL="72000" indent="0">
              <a:buNone/>
              <a:defRPr/>
            </a:pPr>
            <a:r>
              <a:rPr lang="ru-RU" sz="2000" dirty="0"/>
              <a:t>Построим новую функцию G(</a:t>
            </a:r>
            <a:r>
              <a:rPr lang="ru-RU" sz="2000" dirty="0" err="1"/>
              <a:t>x</a:t>
            </a:r>
            <a:r>
              <a:rPr lang="ru-RU" sz="2000" dirty="0"/>
              <a:t>)</a:t>
            </a:r>
            <a:r>
              <a:rPr lang="ru-RU" sz="2000" dirty="0" err="1"/>
              <a:t>=F</a:t>
            </a:r>
            <a:r>
              <a:rPr lang="ru-RU" sz="2000" baseline="-25000" dirty="0" err="1"/>
              <a:t>x</a:t>
            </a:r>
            <a:r>
              <a:rPr lang="ru-RU" sz="2000" dirty="0"/>
              <a:t>(</a:t>
            </a:r>
            <a:r>
              <a:rPr lang="ru-RU" sz="2000" dirty="0" err="1"/>
              <a:t>x</a:t>
            </a:r>
            <a:r>
              <a:rPr lang="ru-RU" sz="2000" dirty="0"/>
              <a:t>)+1. Это так называемая диагональная функция G(0)=F</a:t>
            </a:r>
            <a:r>
              <a:rPr lang="ru-RU" sz="2000" baseline="-25000" dirty="0"/>
              <a:t>0</a:t>
            </a:r>
            <a:r>
              <a:rPr lang="ru-RU" sz="2000" dirty="0"/>
              <a:t>(0)+1, G(1)=F</a:t>
            </a:r>
            <a:r>
              <a:rPr lang="ru-RU" sz="2000" baseline="-25000" dirty="0"/>
              <a:t>1</a:t>
            </a:r>
            <a:r>
              <a:rPr lang="ru-RU" sz="2000" dirty="0"/>
              <a:t>(1)+1, G(2)=F</a:t>
            </a:r>
            <a:r>
              <a:rPr lang="ru-RU" sz="2000" baseline="-25000" dirty="0"/>
              <a:t>2</a:t>
            </a:r>
            <a:r>
              <a:rPr lang="ru-RU" sz="2000" dirty="0"/>
              <a:t>(2)+1 и т.д. G-отлична от всех перечисленных функций, т.к. от каждой из функций она отличается хотя бы в одной точке. От функции F</a:t>
            </a:r>
            <a:r>
              <a:rPr lang="ru-RU" sz="2000" baseline="-25000" dirty="0"/>
              <a:t>0</a:t>
            </a:r>
            <a:r>
              <a:rPr lang="ru-RU" sz="2000" dirty="0"/>
              <a:t>(</a:t>
            </a:r>
            <a:r>
              <a:rPr lang="ru-RU" sz="2000" dirty="0" err="1"/>
              <a:t>x</a:t>
            </a:r>
            <a:r>
              <a:rPr lang="ru-RU" sz="2000" dirty="0"/>
              <a:t>)  отличается в точке х=0, от функции F</a:t>
            </a:r>
            <a:r>
              <a:rPr lang="ru-RU" sz="2000" baseline="-25000" dirty="0"/>
              <a:t>1</a:t>
            </a:r>
            <a:r>
              <a:rPr lang="ru-RU" sz="2000" dirty="0"/>
              <a:t>(</a:t>
            </a:r>
            <a:r>
              <a:rPr lang="ru-RU" sz="2000" dirty="0" err="1"/>
              <a:t>x</a:t>
            </a:r>
            <a:r>
              <a:rPr lang="ru-RU" sz="2000" dirty="0"/>
              <a:t>) в точке х=1 и т.д. Однако по построению G(</a:t>
            </a:r>
            <a:r>
              <a:rPr lang="ru-RU" sz="2000" dirty="0" err="1"/>
              <a:t>x</a:t>
            </a:r>
            <a:r>
              <a:rPr lang="ru-RU" sz="2000" dirty="0"/>
              <a:t>) принадлежит множеству арифметических функций одной переменной, значит должна быть в списке, т.е. совпадать с одной из перечисленных функций.</a:t>
            </a:r>
          </a:p>
          <a:p>
            <a:pPr marL="72000" indent="0">
              <a:buNone/>
              <a:defRPr/>
            </a:pPr>
            <a:r>
              <a:rPr lang="ru-RU" sz="2000" dirty="0"/>
              <a:t>Получили противоречие, следовательно исходное предположение неверно, и функций одной переменной несчетное множество. А значит и всех функций </a:t>
            </a:r>
            <a:r>
              <a:rPr lang="ru-RU" sz="2000" dirty="0" err="1"/>
              <a:t>n</a:t>
            </a:r>
            <a:r>
              <a:rPr lang="ru-RU" sz="2000" dirty="0"/>
              <a:t> переменных – тоже несчетное множество.</a:t>
            </a:r>
          </a:p>
          <a:p>
            <a:pPr>
              <a:defRPr/>
            </a:pPr>
            <a:endParaRPr lang="ru-RU" dirty="0"/>
          </a:p>
        </p:txBody>
      </p:sp>
    </p:spTree>
    <p:extLst>
      <p:ext uri="{BB962C8B-B14F-4D97-AF65-F5344CB8AC3E}">
        <p14:creationId xmlns:p14="http://schemas.microsoft.com/office/powerpoint/2010/main" val="4193485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Содержимое 2"/>
          <p:cNvSpPr>
            <a:spLocks noGrp="1"/>
          </p:cNvSpPr>
          <p:nvPr>
            <p:ph idx="1"/>
          </p:nvPr>
        </p:nvSpPr>
        <p:spPr>
          <a:xfrm>
            <a:off x="1774825" y="260351"/>
            <a:ext cx="8713788" cy="1008063"/>
          </a:xfrm>
        </p:spPr>
        <p:txBody>
          <a:bodyPr/>
          <a:lstStyle/>
          <a:p>
            <a:pPr>
              <a:buFont typeface="Times New Roman" pitchFamily="18" charset="0"/>
              <a:buNone/>
            </a:pPr>
            <a:r>
              <a:rPr lang="ru-RU" b="1"/>
              <a:t>Теорема:</a:t>
            </a:r>
            <a:r>
              <a:rPr lang="ru-RU"/>
              <a:t> вычислимых функций счетное множество. (Множество машин Тьюринга счетно).</a:t>
            </a:r>
          </a:p>
        </p:txBody>
      </p:sp>
      <p:pic>
        <p:nvPicPr>
          <p:cNvPr id="71683" name="Picture 4"/>
          <p:cNvPicPr>
            <a:picLocks noChangeAspect="1" noChangeArrowheads="1"/>
          </p:cNvPicPr>
          <p:nvPr/>
        </p:nvPicPr>
        <p:blipFill>
          <a:blip r:embed="rId2" cstate="print"/>
          <a:srcRect/>
          <a:stretch>
            <a:fillRect/>
          </a:stretch>
        </p:blipFill>
        <p:spPr bwMode="auto">
          <a:xfrm>
            <a:off x="1628776" y="1196975"/>
            <a:ext cx="9039225" cy="3848100"/>
          </a:xfrm>
          <a:prstGeom prst="rect">
            <a:avLst/>
          </a:prstGeom>
          <a:noFill/>
          <a:ln w="9525">
            <a:noFill/>
            <a:miter lim="800000"/>
            <a:headEnd/>
            <a:tailEnd/>
          </a:ln>
        </p:spPr>
      </p:pic>
      <p:sp>
        <p:nvSpPr>
          <p:cNvPr id="71684" name="Прямоугольник 4"/>
          <p:cNvSpPr>
            <a:spLocks noChangeArrowheads="1"/>
          </p:cNvSpPr>
          <p:nvPr/>
        </p:nvSpPr>
        <p:spPr bwMode="auto">
          <a:xfrm>
            <a:off x="1703389" y="5084763"/>
            <a:ext cx="8785225" cy="1200150"/>
          </a:xfrm>
          <a:prstGeom prst="rect">
            <a:avLst/>
          </a:prstGeom>
          <a:noFill/>
          <a:ln w="9525">
            <a:noFill/>
            <a:miter lim="800000"/>
            <a:headEnd/>
            <a:tailEnd/>
          </a:ln>
        </p:spPr>
        <p:txBody>
          <a:bodyPr>
            <a:spAutoFit/>
          </a:bodyPr>
          <a:lstStyle/>
          <a:p>
            <a:r>
              <a:rPr lang="ru-RU">
                <a:latin typeface="Times New Roman" pitchFamily="18" charset="0"/>
                <a:cs typeface="Times New Roman" pitchFamily="18" charset="0"/>
              </a:rPr>
              <a:t>Таким образом, каждая машина Тьюринга вполне определяется некоторым конечным словом в конечном стандартном алфавите. Поскольку множество всех конечных слов в конечном алфавите счетно, то и всех мыслимых машин Тьюринга (отличающихся друг от друга по существу своей работы) имеется не более чем счетное множество.</a:t>
            </a:r>
          </a:p>
        </p:txBody>
      </p:sp>
    </p:spTree>
    <p:extLst>
      <p:ext uri="{BB962C8B-B14F-4D97-AF65-F5344CB8AC3E}">
        <p14:creationId xmlns:p14="http://schemas.microsoft.com/office/powerpoint/2010/main" val="2511106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Содержимое 2"/>
          <p:cNvSpPr>
            <a:spLocks noGrp="1"/>
          </p:cNvSpPr>
          <p:nvPr>
            <p:ph idx="1"/>
          </p:nvPr>
        </p:nvSpPr>
        <p:spPr>
          <a:xfrm>
            <a:off x="1703389" y="188914"/>
            <a:ext cx="8785225" cy="936625"/>
          </a:xfrm>
        </p:spPr>
        <p:txBody>
          <a:bodyPr>
            <a:normAutofit/>
          </a:bodyPr>
          <a:lstStyle/>
          <a:p>
            <a:pPr indent="0">
              <a:buNone/>
            </a:pPr>
            <a:r>
              <a:rPr lang="ru-RU" b="1"/>
              <a:t>Оценка мощности множества невычислимых арифметических функций.</a:t>
            </a:r>
            <a:endParaRPr lang="ru-RU"/>
          </a:p>
        </p:txBody>
      </p:sp>
      <p:pic>
        <p:nvPicPr>
          <p:cNvPr id="72707" name="Picture 2"/>
          <p:cNvPicPr>
            <a:picLocks noChangeAspect="1" noChangeArrowheads="1"/>
          </p:cNvPicPr>
          <p:nvPr/>
        </p:nvPicPr>
        <p:blipFill>
          <a:blip r:embed="rId2" cstate="print"/>
          <a:srcRect/>
          <a:stretch>
            <a:fillRect/>
          </a:stretch>
        </p:blipFill>
        <p:spPr bwMode="auto">
          <a:xfrm>
            <a:off x="2927350" y="1484314"/>
            <a:ext cx="5519738" cy="2879725"/>
          </a:xfrm>
          <a:prstGeom prst="rect">
            <a:avLst/>
          </a:prstGeom>
          <a:noFill/>
          <a:ln w="9525">
            <a:noFill/>
            <a:miter lim="800000"/>
            <a:headEnd/>
            <a:tailEnd/>
          </a:ln>
        </p:spPr>
      </p:pic>
      <p:sp>
        <p:nvSpPr>
          <p:cNvPr id="72708" name="Прямоугольник 4"/>
          <p:cNvSpPr>
            <a:spLocks noChangeArrowheads="1"/>
          </p:cNvSpPr>
          <p:nvPr/>
        </p:nvSpPr>
        <p:spPr bwMode="auto">
          <a:xfrm>
            <a:off x="2063751" y="4868864"/>
            <a:ext cx="8353425" cy="369887"/>
          </a:xfrm>
          <a:prstGeom prst="rect">
            <a:avLst/>
          </a:prstGeom>
          <a:noFill/>
          <a:ln w="9525">
            <a:noFill/>
            <a:miter lim="800000"/>
            <a:headEnd/>
            <a:tailEnd/>
          </a:ln>
        </p:spPr>
        <p:txBody>
          <a:bodyPr>
            <a:spAutoFit/>
          </a:bodyPr>
          <a:lstStyle/>
          <a:p>
            <a:r>
              <a:rPr lang="ru-RU"/>
              <a:t>Невычислимых арифметических функций несчетное множество.</a:t>
            </a:r>
          </a:p>
        </p:txBody>
      </p:sp>
    </p:spTree>
    <p:extLst>
      <p:ext uri="{BB962C8B-B14F-4D97-AF65-F5344CB8AC3E}">
        <p14:creationId xmlns:p14="http://schemas.microsoft.com/office/powerpoint/2010/main" val="2775981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Заголовок 1"/>
          <p:cNvSpPr>
            <a:spLocks noGrp="1"/>
          </p:cNvSpPr>
          <p:nvPr>
            <p:ph idx="1"/>
          </p:nvPr>
        </p:nvSpPr>
        <p:spPr>
          <a:xfrm>
            <a:off x="1981201" y="765176"/>
            <a:ext cx="8228013" cy="5903913"/>
          </a:xfrm>
        </p:spPr>
        <p:txBody>
          <a:bodyPr/>
          <a:lstStyle/>
          <a:p>
            <a:pPr>
              <a:buFont typeface="Times New Roman" pitchFamily="18" charset="0"/>
              <a:buNone/>
              <a:defRPr/>
            </a:pPr>
            <a:r>
              <a:rPr lang="en-US" altLang="ru-RU" sz="2400" b="1" dirty="0"/>
              <a:t>	</a:t>
            </a:r>
            <a:r>
              <a:rPr lang="ru-RU" sz="2400" dirty="0"/>
              <a:t>Эти задачи часто используют для доказательства неразрешимости других проблем путем сведения к ним.</a:t>
            </a:r>
          </a:p>
          <a:p>
            <a:pPr>
              <a:buFont typeface="Times New Roman" pitchFamily="18" charset="0"/>
              <a:buNone/>
              <a:defRPr/>
            </a:pPr>
            <a:r>
              <a:rPr lang="ru-RU" sz="2400" b="1" dirty="0"/>
              <a:t>Нумерация алгоритмов</a:t>
            </a:r>
          </a:p>
          <a:p>
            <a:pPr marL="36000" indent="0">
              <a:buNone/>
              <a:defRPr/>
            </a:pPr>
            <a:r>
              <a:rPr lang="ru-RU" sz="2400" dirty="0"/>
              <a:t>Существует вычислимая функция, которая по номеру машины Тьюринга (алгоритма) восстанавливает  её программу (описание алгоритма) </a:t>
            </a:r>
            <a:r>
              <a:rPr lang="ru-RU" sz="2400" dirty="0">
                <a:sym typeface="Symbol"/>
              </a:rPr>
              <a:t></a:t>
            </a:r>
            <a:r>
              <a:rPr lang="ru-RU" sz="2400" dirty="0"/>
              <a:t>: N→A. Такая функция называется </a:t>
            </a:r>
            <a:r>
              <a:rPr lang="ru-RU" sz="2400" dirty="0">
                <a:solidFill>
                  <a:srgbClr val="C00000"/>
                </a:solidFill>
              </a:rPr>
              <a:t>нумерацией алгоритмов</a:t>
            </a:r>
            <a:r>
              <a:rPr lang="ru-RU" sz="2400" dirty="0"/>
              <a:t>. Это позволяет отождествлять алгоритм с его номером. Если </a:t>
            </a:r>
            <a:r>
              <a:rPr lang="ru-RU" sz="2400" dirty="0">
                <a:sym typeface="Symbol"/>
              </a:rPr>
              <a:t></a:t>
            </a:r>
            <a:r>
              <a:rPr lang="ru-RU" sz="2400" dirty="0"/>
              <a:t>(</a:t>
            </a:r>
            <a:r>
              <a:rPr lang="ru-RU" sz="2400" dirty="0" err="1"/>
              <a:t>n</a:t>
            </a:r>
            <a:r>
              <a:rPr lang="ru-RU" sz="2400" dirty="0"/>
              <a:t>)=A, то число </a:t>
            </a:r>
            <a:r>
              <a:rPr lang="ru-RU" sz="2400" dirty="0" err="1"/>
              <a:t>n</a:t>
            </a:r>
            <a:r>
              <a:rPr lang="ru-RU" sz="2400" dirty="0"/>
              <a:t> называется номером алгоритма A. Из взаимной однозначности отображения </a:t>
            </a:r>
            <a:r>
              <a:rPr lang="ru-RU" sz="2400" dirty="0">
                <a:sym typeface="Symbol"/>
              </a:rPr>
              <a:t></a:t>
            </a:r>
            <a:r>
              <a:rPr lang="ru-RU" sz="2400" dirty="0"/>
              <a:t> следует существование обратной функции </a:t>
            </a:r>
            <a:r>
              <a:rPr lang="ru-RU" sz="2400" dirty="0">
                <a:sym typeface="Symbol"/>
              </a:rPr>
              <a:t></a:t>
            </a:r>
            <a:r>
              <a:rPr lang="ru-RU" sz="2400" baseline="30000" dirty="0"/>
              <a:t>−1</a:t>
            </a:r>
            <a:r>
              <a:rPr lang="ru-RU" sz="2400" dirty="0"/>
              <a:t>, восстанавливающей по описанию алгоритма </a:t>
            </a:r>
            <a:r>
              <a:rPr lang="ru-RU" sz="2400" dirty="0" err="1"/>
              <a:t>A</a:t>
            </a:r>
            <a:r>
              <a:rPr lang="ru-RU" sz="2400" baseline="-25000" dirty="0" err="1"/>
              <a:t>n</a:t>
            </a:r>
            <a:r>
              <a:rPr lang="ru-RU" sz="2400" dirty="0"/>
              <a:t> его номер в этой нумерации  </a:t>
            </a:r>
            <a:r>
              <a:rPr lang="ru-RU" sz="2400" dirty="0">
                <a:sym typeface="Symbol"/>
              </a:rPr>
              <a:t></a:t>
            </a:r>
            <a:r>
              <a:rPr lang="ru-RU" sz="2400" baseline="30000" dirty="0"/>
              <a:t>−1</a:t>
            </a:r>
            <a:r>
              <a:rPr lang="ru-RU" sz="2400" dirty="0"/>
              <a:t>(</a:t>
            </a:r>
            <a:r>
              <a:rPr lang="ru-RU" sz="2400" dirty="0" err="1"/>
              <a:t>A</a:t>
            </a:r>
            <a:r>
              <a:rPr lang="ru-RU" sz="2400" baseline="-25000" dirty="0" err="1"/>
              <a:t>n</a:t>
            </a:r>
            <a:r>
              <a:rPr lang="ru-RU" sz="2400" dirty="0"/>
              <a:t>)</a:t>
            </a:r>
            <a:r>
              <a:rPr lang="ru-RU" sz="2400" dirty="0" err="1"/>
              <a:t>=n</a:t>
            </a:r>
            <a:r>
              <a:rPr lang="ru-RU" sz="2400" dirty="0"/>
              <a:t>.</a:t>
            </a:r>
          </a:p>
          <a:p>
            <a:pPr marL="36000" indent="0">
              <a:buNone/>
              <a:defRPr/>
            </a:pPr>
            <a:r>
              <a:rPr lang="ru-RU" sz="2000" i="1" dirty="0"/>
              <a:t>	Существование нумераций позволяет работать с алгоритмами как с числами. Это особенно удобно при исследовании алгоритмов над алгоритмами.</a:t>
            </a:r>
            <a:endParaRPr lang="ru-RU" altLang="ru-RU" sz="2000" b="1" i="1" dirty="0"/>
          </a:p>
        </p:txBody>
      </p:sp>
      <p:sp>
        <p:nvSpPr>
          <p:cNvPr id="73731" name="Заголовок 1"/>
          <p:cNvSpPr>
            <a:spLocks noGrp="1"/>
          </p:cNvSpPr>
          <p:nvPr>
            <p:ph type="title"/>
          </p:nvPr>
        </p:nvSpPr>
        <p:spPr>
          <a:xfrm>
            <a:off x="1992313" y="188913"/>
            <a:ext cx="8228012" cy="576262"/>
          </a:xfrm>
          <a:solidFill>
            <a:srgbClr val="C6D9F1"/>
          </a:solidFill>
        </p:spPr>
        <p:txBody>
          <a:bodyPr>
            <a:normAutofit/>
          </a:bodyPr>
          <a:lstStyle/>
          <a:p>
            <a:r>
              <a:rPr lang="ru-RU" altLang="ru-RU" sz="3200" b="1"/>
              <a:t>Проблемы самоприменимости и остановки.</a:t>
            </a:r>
          </a:p>
        </p:txBody>
      </p:sp>
    </p:spTree>
    <p:extLst>
      <p:ext uri="{BB962C8B-B14F-4D97-AF65-F5344CB8AC3E}">
        <p14:creationId xmlns:p14="http://schemas.microsoft.com/office/powerpoint/2010/main" val="2360622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03389" y="188914"/>
            <a:ext cx="8785225" cy="6480175"/>
          </a:xfrm>
        </p:spPr>
        <p:txBody>
          <a:bodyPr/>
          <a:lstStyle/>
          <a:p>
            <a:pPr>
              <a:buFont typeface="Times New Roman" pitchFamily="18" charset="0"/>
              <a:buNone/>
              <a:defRPr/>
            </a:pPr>
            <a:r>
              <a:rPr lang="ru-RU" sz="2600" b="1" dirty="0"/>
              <a:t>Проблема остановки.</a:t>
            </a:r>
            <a:endParaRPr lang="ru-RU" sz="2600" dirty="0"/>
          </a:p>
          <a:p>
            <a:pPr indent="0">
              <a:buNone/>
              <a:defRPr/>
            </a:pPr>
            <a:r>
              <a:rPr lang="ru-RU" sz="2600" dirty="0"/>
              <a:t>Не существует алгоритма (машины Тьюринга), позволяющего по описанию произвольного  алгоритма (его номеру) и исходных данных (и алгоритм и данные заданы символами  на ленте машины Тьюринга) определить</a:t>
            </a:r>
            <a:r>
              <a:rPr lang="ru-RU" sz="2600"/>
              <a:t>, остановится </a:t>
            </a:r>
            <a:r>
              <a:rPr lang="ru-RU" sz="2600" dirty="0"/>
              <a:t>ли этот алгоритм на этих данных или будет работать бесконечно.</a:t>
            </a:r>
          </a:p>
          <a:p>
            <a:pPr>
              <a:buFont typeface="Times New Roman" pitchFamily="18" charset="0"/>
              <a:buNone/>
              <a:defRPr/>
            </a:pPr>
            <a:r>
              <a:rPr lang="ru-RU" altLang="ru-RU" sz="2600" b="1" dirty="0" err="1"/>
              <a:t>Самоприменимость</a:t>
            </a:r>
            <a:r>
              <a:rPr lang="ru-RU" altLang="ru-RU" sz="2600" dirty="0"/>
              <a:t> (частный случай проблемы остановки) в теории алгоритмов — свойство алгоритма успешно завершаться на данных, представляющих собой формальную запись этого же алгоритма.</a:t>
            </a:r>
            <a:endParaRPr lang="en-US" altLang="ru-RU" sz="2600" dirty="0"/>
          </a:p>
          <a:p>
            <a:pPr>
              <a:buFont typeface="Times New Roman" pitchFamily="18" charset="0"/>
              <a:buNone/>
              <a:defRPr/>
            </a:pPr>
            <a:r>
              <a:rPr lang="en-US" altLang="ru-RU" b="1" dirty="0"/>
              <a:t>	</a:t>
            </a:r>
            <a:r>
              <a:rPr lang="ru-RU" altLang="ru-RU" sz="2400" b="1" dirty="0"/>
              <a:t>Пример </a:t>
            </a:r>
            <a:r>
              <a:rPr lang="ru-RU" altLang="ru-RU" sz="2400" b="1" dirty="0" err="1"/>
              <a:t>самоприменимого</a:t>
            </a:r>
            <a:r>
              <a:rPr lang="ru-RU" altLang="ru-RU" sz="2400" b="1" dirty="0"/>
              <a:t> алгоритма: </a:t>
            </a:r>
            <a:r>
              <a:rPr lang="ru-RU" altLang="ru-RU" sz="2400" dirty="0"/>
              <a:t>тождественные преобразования строк в алфавите </a:t>
            </a:r>
            <a:r>
              <a:rPr lang="en-US" altLang="ru-RU" sz="2400" dirty="0"/>
              <a:t>A</a:t>
            </a:r>
            <a:r>
              <a:rPr lang="ru-RU" altLang="ru-RU" sz="2400" dirty="0"/>
              <a:t>.</a:t>
            </a:r>
          </a:p>
          <a:p>
            <a:pPr>
              <a:buFont typeface="Times New Roman" pitchFamily="18" charset="0"/>
              <a:buNone/>
              <a:defRPr/>
            </a:pPr>
            <a:r>
              <a:rPr lang="ru-RU" altLang="ru-RU" b="1" dirty="0"/>
              <a:t>	</a:t>
            </a:r>
            <a:endParaRPr lang="ru-RU" dirty="0"/>
          </a:p>
        </p:txBody>
      </p:sp>
    </p:spTree>
    <p:extLst>
      <p:ext uri="{BB962C8B-B14F-4D97-AF65-F5344CB8AC3E}">
        <p14:creationId xmlns:p14="http://schemas.microsoft.com/office/powerpoint/2010/main" val="675243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03389" y="188914"/>
            <a:ext cx="8785225" cy="6480175"/>
          </a:xfrm>
        </p:spPr>
        <p:txBody>
          <a:bodyPr/>
          <a:lstStyle/>
          <a:p>
            <a:pPr marL="72000" indent="0">
              <a:buNone/>
              <a:defRPr/>
            </a:pPr>
            <a:r>
              <a:rPr lang="ru-RU" altLang="ru-RU" sz="2400" b="1" u="sng" dirty="0">
                <a:solidFill>
                  <a:srgbClr val="C00000"/>
                </a:solidFill>
              </a:rPr>
              <a:t>Теорема</a:t>
            </a:r>
            <a:r>
              <a:rPr lang="ru-RU" altLang="ru-RU" sz="2400" b="1" dirty="0"/>
              <a:t>.</a:t>
            </a:r>
            <a:r>
              <a:rPr lang="ru-RU" altLang="ru-RU" sz="2400" dirty="0"/>
              <a:t> Не существует машины Тьюринга Т</a:t>
            </a:r>
            <a:r>
              <a:rPr lang="ru-RU" altLang="ru-RU" sz="2400" baseline="-25000" dirty="0"/>
              <a:t>0</a:t>
            </a:r>
            <a:r>
              <a:rPr lang="ru-RU" altLang="ru-RU" sz="2400" dirty="0"/>
              <a:t> , которая решает проблему самоприменимости.</a:t>
            </a:r>
          </a:p>
          <a:p>
            <a:pPr marL="72000" indent="0">
              <a:buNone/>
              <a:defRPr/>
            </a:pPr>
            <a:r>
              <a:rPr lang="en-US" altLang="ru-RU" sz="2400" b="1" dirty="0"/>
              <a:t>	</a:t>
            </a:r>
            <a:r>
              <a:rPr lang="ru-RU" altLang="ru-RU" sz="2400" dirty="0"/>
              <a:t>Возьмем в качестве внешнего алфавита для машин Тьюринга А=</a:t>
            </a:r>
            <a:r>
              <a:rPr lang="en-US" altLang="ru-RU" sz="2400" dirty="0"/>
              <a:t>{</a:t>
            </a:r>
            <a:r>
              <a:rPr lang="ru-RU" altLang="ru-RU" sz="2400" dirty="0"/>
              <a:t>0,1</a:t>
            </a:r>
            <a:r>
              <a:rPr lang="en-US" altLang="ru-RU" sz="2400" dirty="0"/>
              <a:t>}</a:t>
            </a:r>
            <a:r>
              <a:rPr lang="ru-RU" altLang="ru-RU" sz="2400" dirty="0"/>
              <a:t>. Будем говорить, что МТ Т</a:t>
            </a:r>
            <a:r>
              <a:rPr lang="ru-RU" altLang="ru-RU" sz="2400" baseline="-25000" dirty="0"/>
              <a:t>0 </a:t>
            </a:r>
            <a:r>
              <a:rPr lang="ru-RU" altLang="ru-RU" sz="2400" dirty="0"/>
              <a:t>решает </a:t>
            </a:r>
            <a:r>
              <a:rPr lang="ru-RU" altLang="ru-RU" sz="2400" b="1" dirty="0"/>
              <a:t>проблему</a:t>
            </a:r>
          </a:p>
          <a:p>
            <a:pPr marL="72000" indent="0">
              <a:buNone/>
              <a:defRPr/>
            </a:pPr>
            <a:r>
              <a:rPr lang="ru-RU" altLang="ru-RU" sz="2400" b="1" dirty="0"/>
              <a:t>самоприменимости</a:t>
            </a:r>
            <a:r>
              <a:rPr lang="ru-RU" altLang="ru-RU" sz="2400" dirty="0"/>
              <a:t>, если для любой машины Т конфигурацию</a:t>
            </a:r>
            <a:r>
              <a:rPr lang="en-US" altLang="ru-RU" sz="2400" dirty="0"/>
              <a:t> </a:t>
            </a:r>
            <a:r>
              <a:rPr lang="ru-RU" altLang="ru-RU" sz="2400" dirty="0"/>
              <a:t>q</a:t>
            </a:r>
            <a:r>
              <a:rPr lang="ru-RU" altLang="ru-RU" sz="2400" baseline="-25000" dirty="0"/>
              <a:t>1</a:t>
            </a:r>
            <a:r>
              <a:rPr lang="ru-RU" altLang="ru-RU" sz="2400" dirty="0"/>
              <a:t>Код(Т) она переводит в конфигурацию q</a:t>
            </a:r>
            <a:r>
              <a:rPr lang="ru-RU" altLang="ru-RU" sz="2400" baseline="-25000" dirty="0"/>
              <a:t>0</a:t>
            </a:r>
            <a:r>
              <a:rPr lang="ru-RU" altLang="ru-RU" sz="2400" dirty="0"/>
              <a:t>1, если Т</a:t>
            </a:r>
            <a:r>
              <a:rPr lang="en-US" altLang="ru-RU" sz="2400" dirty="0"/>
              <a:t> </a:t>
            </a:r>
            <a:r>
              <a:rPr lang="ru-RU" altLang="ru-RU" sz="2400" dirty="0" err="1"/>
              <a:t>самоприменима</a:t>
            </a:r>
            <a:r>
              <a:rPr lang="ru-RU" altLang="ru-RU" sz="2400" dirty="0"/>
              <a:t>, и в конфигурацию q</a:t>
            </a:r>
            <a:r>
              <a:rPr lang="ru-RU" altLang="ru-RU" sz="2400" baseline="-25000" dirty="0"/>
              <a:t>0</a:t>
            </a:r>
            <a:r>
              <a:rPr lang="ru-RU" altLang="ru-RU" sz="2400" dirty="0"/>
              <a:t>0, если Т - </a:t>
            </a:r>
            <a:r>
              <a:rPr lang="ru-RU" altLang="ru-RU" sz="2400" dirty="0" err="1"/>
              <a:t>несамоприменима</a:t>
            </a:r>
            <a:r>
              <a:rPr lang="ru-RU" altLang="ru-RU" sz="2400" dirty="0"/>
              <a:t>.</a:t>
            </a:r>
          </a:p>
          <a:p>
            <a:pPr marL="72000" indent="0">
              <a:buNone/>
              <a:defRPr/>
            </a:pPr>
            <a:r>
              <a:rPr lang="ru-RU" altLang="ru-RU" sz="2400" b="1" dirty="0"/>
              <a:t>	Доказательство.</a:t>
            </a:r>
          </a:p>
          <a:p>
            <a:pPr marL="72000" indent="0">
              <a:buNone/>
              <a:defRPr/>
            </a:pPr>
            <a:r>
              <a:rPr lang="ru-RU" altLang="ru-RU" sz="2400" dirty="0"/>
              <a:t>Допустим, что существует машина T</a:t>
            </a:r>
            <a:r>
              <a:rPr lang="ru-RU" altLang="ru-RU" sz="2000" dirty="0"/>
              <a:t>0</a:t>
            </a:r>
            <a:r>
              <a:rPr lang="ru-RU" altLang="ru-RU" sz="2400" dirty="0"/>
              <a:t>, решающая проблему</a:t>
            </a:r>
            <a:r>
              <a:rPr lang="en-US" altLang="ru-RU" sz="2400" dirty="0"/>
              <a:t> </a:t>
            </a:r>
            <a:r>
              <a:rPr lang="ru-RU" altLang="ru-RU" sz="2400" dirty="0"/>
              <a:t>самоприменимости. Построим машину T</a:t>
            </a:r>
            <a:r>
              <a:rPr lang="ru-RU" altLang="ru-RU" sz="2000" dirty="0"/>
              <a:t>1</a:t>
            </a:r>
            <a:r>
              <a:rPr lang="ru-RU" altLang="ru-RU" sz="2400" dirty="0"/>
              <a:t>, в которой вместо</a:t>
            </a:r>
            <a:r>
              <a:rPr lang="en-US" altLang="ru-RU" sz="2400" dirty="0"/>
              <a:t>  c</a:t>
            </a:r>
            <a:r>
              <a:rPr lang="ru-RU" altLang="ru-RU" sz="2400" dirty="0" err="1"/>
              <a:t>остояния</a:t>
            </a:r>
            <a:r>
              <a:rPr lang="ru-RU" altLang="ru-RU" sz="2400" dirty="0"/>
              <a:t> q</a:t>
            </a:r>
            <a:r>
              <a:rPr lang="ru-RU" altLang="ru-RU" sz="1800" dirty="0"/>
              <a:t>0</a:t>
            </a:r>
            <a:r>
              <a:rPr lang="ru-RU" altLang="ru-RU" sz="2400" dirty="0"/>
              <a:t> введем новое заключительное состояние </a:t>
            </a:r>
            <a:r>
              <a:rPr lang="en-US" altLang="ru-RU" sz="2400" dirty="0" err="1"/>
              <a:t>q</a:t>
            </a:r>
            <a:r>
              <a:rPr lang="en-US" altLang="ru-RU" sz="2000" dirty="0" err="1"/>
              <a:t>r</a:t>
            </a:r>
            <a:r>
              <a:rPr lang="ru-RU" altLang="ru-RU" sz="2400" dirty="0"/>
              <a:t> и добавим к программе машины T</a:t>
            </a:r>
            <a:r>
              <a:rPr lang="ru-RU" altLang="ru-RU" sz="2000" dirty="0"/>
              <a:t>0</a:t>
            </a:r>
            <a:r>
              <a:rPr lang="ru-RU" altLang="ru-RU" sz="2400" dirty="0"/>
              <a:t> новые команды</a:t>
            </a:r>
          </a:p>
          <a:p>
            <a:pPr>
              <a:defRPr/>
            </a:pPr>
            <a:r>
              <a:rPr lang="ru-RU" altLang="ru-RU" sz="2400" dirty="0"/>
              <a:t>q</a:t>
            </a:r>
            <a:r>
              <a:rPr lang="ru-RU" altLang="ru-RU" sz="2400" baseline="-25000" dirty="0"/>
              <a:t>0</a:t>
            </a:r>
            <a:r>
              <a:rPr lang="ru-RU" altLang="ru-RU" sz="2400" dirty="0"/>
              <a:t>1 </a:t>
            </a:r>
            <a:r>
              <a:rPr lang="ru-RU" altLang="ru-RU" sz="2400" dirty="0">
                <a:sym typeface="Symbol" pitchFamily="18" charset="2"/>
              </a:rPr>
              <a:t></a:t>
            </a:r>
            <a:r>
              <a:rPr lang="ru-RU" altLang="ru-RU" sz="2400" dirty="0"/>
              <a:t> q</a:t>
            </a:r>
            <a:r>
              <a:rPr lang="ru-RU" altLang="ru-RU" sz="2400" baseline="-25000" dirty="0"/>
              <a:t>0</a:t>
            </a:r>
            <a:r>
              <a:rPr lang="ru-RU" altLang="ru-RU" sz="2400" dirty="0"/>
              <a:t>1E,</a:t>
            </a:r>
            <a:r>
              <a:rPr lang="en-US" altLang="ru-RU" sz="2400" dirty="0"/>
              <a:t> (</a:t>
            </a:r>
            <a:r>
              <a:rPr lang="ru-RU" altLang="ru-RU" sz="2400" dirty="0"/>
              <a:t>зацикливание)</a:t>
            </a:r>
          </a:p>
          <a:p>
            <a:pPr>
              <a:defRPr/>
            </a:pPr>
            <a:r>
              <a:rPr lang="ru-RU" altLang="ru-RU" sz="2400" dirty="0"/>
              <a:t>q</a:t>
            </a:r>
            <a:r>
              <a:rPr lang="ru-RU" altLang="ru-RU" sz="2400" baseline="-25000" dirty="0"/>
              <a:t>0</a:t>
            </a:r>
            <a:r>
              <a:rPr lang="ru-RU" altLang="ru-RU" sz="2400" dirty="0"/>
              <a:t>0 </a:t>
            </a:r>
            <a:r>
              <a:rPr lang="ru-RU" altLang="ru-RU" sz="2400" dirty="0">
                <a:sym typeface="Symbol" pitchFamily="18" charset="2"/>
              </a:rPr>
              <a:t></a:t>
            </a:r>
            <a:r>
              <a:rPr lang="ru-RU" altLang="ru-RU" sz="2400" dirty="0"/>
              <a:t> </a:t>
            </a:r>
            <a:r>
              <a:rPr lang="ru-RU" altLang="ru-RU" sz="2400" dirty="0" err="1"/>
              <a:t>q</a:t>
            </a:r>
            <a:r>
              <a:rPr lang="en-US" altLang="ru-RU" sz="2400" baseline="-25000" dirty="0"/>
              <a:t>r</a:t>
            </a:r>
            <a:r>
              <a:rPr lang="ru-RU" altLang="ru-RU" sz="2400" dirty="0"/>
              <a:t>0E   (*)</a:t>
            </a:r>
          </a:p>
          <a:p>
            <a:pPr>
              <a:buFont typeface="Times New Roman" pitchFamily="18" charset="0"/>
              <a:buNone/>
              <a:defRPr/>
            </a:pPr>
            <a:endParaRPr lang="ru-RU" dirty="0"/>
          </a:p>
        </p:txBody>
      </p:sp>
    </p:spTree>
    <p:extLst>
      <p:ext uri="{BB962C8B-B14F-4D97-AF65-F5344CB8AC3E}">
        <p14:creationId xmlns:p14="http://schemas.microsoft.com/office/powerpoint/2010/main" val="1496052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Содержимое 2"/>
          <p:cNvSpPr>
            <a:spLocks noGrp="1"/>
          </p:cNvSpPr>
          <p:nvPr>
            <p:ph idx="1"/>
          </p:nvPr>
        </p:nvSpPr>
        <p:spPr>
          <a:xfrm>
            <a:off x="1703389" y="188914"/>
            <a:ext cx="8713787" cy="6480175"/>
          </a:xfrm>
        </p:spPr>
        <p:txBody>
          <a:bodyPr/>
          <a:lstStyle/>
          <a:p>
            <a:pPr marL="71438" indent="0">
              <a:buNone/>
            </a:pPr>
            <a:r>
              <a:rPr lang="ru-RU" sz="2300"/>
              <a:t>Машина T</a:t>
            </a:r>
            <a:r>
              <a:rPr lang="ru-RU" sz="2300" baseline="-25000"/>
              <a:t>1</a:t>
            </a:r>
            <a:r>
              <a:rPr lang="ru-RU" sz="2300"/>
              <a:t> построена по машине T</a:t>
            </a:r>
            <a:r>
              <a:rPr lang="ru-RU" sz="2300" baseline="-25000"/>
              <a:t>0 </a:t>
            </a:r>
            <a:r>
              <a:rPr lang="ru-RU" sz="2300"/>
              <a:t>вполне конструктивными средствами и применима к кодам несамоприменимых машин и не применима к кодам самоприменимых машин.</a:t>
            </a:r>
          </a:p>
          <a:p>
            <a:pPr marL="71438" indent="0">
              <a:buNone/>
            </a:pPr>
            <a:r>
              <a:rPr lang="ru-RU" sz="2300">
                <a:solidFill>
                  <a:srgbClr val="C00000"/>
                </a:solidFill>
              </a:rPr>
              <a:t>Существование такой машины приводит к противоречию</a:t>
            </a:r>
            <a:r>
              <a:rPr lang="ru-RU" sz="2300"/>
              <a:t>, потому что Т</a:t>
            </a:r>
            <a:r>
              <a:rPr lang="ru-RU" sz="2300" baseline="-25000"/>
              <a:t>1 </a:t>
            </a:r>
            <a:r>
              <a:rPr lang="ru-RU" sz="2300"/>
              <a:t>не может быть ни самоприменимой, ни несамоприменимой.</a:t>
            </a:r>
          </a:p>
          <a:p>
            <a:pPr marL="71438" indent="0">
              <a:buNone/>
            </a:pPr>
            <a:r>
              <a:rPr lang="ru-RU" altLang="ru-RU" sz="2300"/>
              <a:t>Действительно, если Т</a:t>
            </a:r>
            <a:r>
              <a:rPr lang="ru-RU" altLang="ru-RU" sz="2300" baseline="-25000"/>
              <a:t>1</a:t>
            </a:r>
            <a:r>
              <a:rPr lang="ru-RU" altLang="ru-RU" sz="2300"/>
              <a:t> - самоприменима, то q</a:t>
            </a:r>
            <a:r>
              <a:rPr lang="ru-RU" altLang="ru-RU" sz="2300" baseline="-25000"/>
              <a:t>1</a:t>
            </a:r>
            <a:r>
              <a:rPr lang="ru-RU" altLang="ru-RU" sz="2300"/>
              <a:t>Код(Т</a:t>
            </a:r>
            <a:r>
              <a:rPr lang="ru-RU" altLang="ru-RU" sz="2300" baseline="-25000"/>
              <a:t>1</a:t>
            </a:r>
            <a:r>
              <a:rPr lang="ru-RU" altLang="ru-RU" sz="2300"/>
              <a:t>) переходит в q</a:t>
            </a:r>
            <a:r>
              <a:rPr lang="ru-RU" altLang="ru-RU" sz="2300" baseline="-25000"/>
              <a:t>0</a:t>
            </a:r>
            <a:r>
              <a:rPr lang="ru-RU" altLang="ru-RU" sz="2300"/>
              <a:t>1 и согласно (*) q</a:t>
            </a:r>
            <a:r>
              <a:rPr lang="ru-RU" altLang="ru-RU" sz="2300" baseline="-25000"/>
              <a:t>0</a:t>
            </a:r>
            <a:r>
              <a:rPr lang="ru-RU" altLang="ru-RU" sz="2300"/>
              <a:t>1 в q</a:t>
            </a:r>
            <a:r>
              <a:rPr lang="ru-RU" altLang="ru-RU" sz="2300" baseline="-25000"/>
              <a:t>0</a:t>
            </a:r>
            <a:r>
              <a:rPr lang="ru-RU" altLang="ru-RU" sz="2300"/>
              <a:t>1Е и T</a:t>
            </a:r>
            <a:r>
              <a:rPr lang="ru-RU" altLang="ru-RU" sz="2300" baseline="-25000"/>
              <a:t>1</a:t>
            </a:r>
            <a:r>
              <a:rPr lang="ru-RU" altLang="ru-RU" sz="2300"/>
              <a:t> никогда не остановится</a:t>
            </a:r>
            <a:r>
              <a:rPr lang="en-US" altLang="ru-RU" sz="2300"/>
              <a:t>, </a:t>
            </a:r>
            <a:r>
              <a:rPr lang="ru-RU" altLang="ru-RU" sz="2300"/>
              <a:t>т.е. по построению она не применима к коду самоприменимых машин. Если T</a:t>
            </a:r>
            <a:r>
              <a:rPr lang="ru-RU" altLang="ru-RU" sz="2300" baseline="-25000"/>
              <a:t>1</a:t>
            </a:r>
            <a:r>
              <a:rPr lang="ru-RU" altLang="ru-RU" sz="2300"/>
              <a:t> - несамоприменима, то q</a:t>
            </a:r>
            <a:r>
              <a:rPr lang="ru-RU" altLang="ru-RU" sz="2300" baseline="-25000"/>
              <a:t>1</a:t>
            </a:r>
            <a:r>
              <a:rPr lang="ru-RU" altLang="ru-RU" sz="2300"/>
              <a:t>Код(Т</a:t>
            </a:r>
            <a:r>
              <a:rPr lang="ru-RU" altLang="ru-RU" sz="2300" baseline="-25000"/>
              <a:t>1</a:t>
            </a:r>
            <a:r>
              <a:rPr lang="ru-RU" altLang="ru-RU" sz="2300"/>
              <a:t>) переходит в q</a:t>
            </a:r>
            <a:r>
              <a:rPr lang="ru-RU" altLang="ru-RU" sz="2300" baseline="-25000"/>
              <a:t>0</a:t>
            </a:r>
            <a:r>
              <a:rPr lang="ru-RU" altLang="ru-RU" sz="2300"/>
              <a:t>0 и согласно (*) q</a:t>
            </a:r>
            <a:r>
              <a:rPr lang="ru-RU" altLang="ru-RU" sz="2300" baseline="-25000"/>
              <a:t>0</a:t>
            </a:r>
            <a:r>
              <a:rPr lang="ru-RU" altLang="ru-RU" sz="2300"/>
              <a:t>0 в q</a:t>
            </a:r>
            <a:r>
              <a:rPr lang="en-US" altLang="ru-RU" sz="2300"/>
              <a:t>r</a:t>
            </a:r>
            <a:r>
              <a:rPr lang="ru-RU" altLang="ru-RU" sz="2300"/>
              <a:t>0 и машина Т</a:t>
            </a:r>
            <a:r>
              <a:rPr lang="ru-RU" altLang="ru-RU" sz="2300" baseline="-25000"/>
              <a:t>1</a:t>
            </a:r>
            <a:r>
              <a:rPr lang="ru-RU" altLang="ru-RU" sz="2300"/>
              <a:t> остановится, т.е. </a:t>
            </a:r>
            <a:r>
              <a:rPr lang="ru-RU" sz="2300"/>
              <a:t>по построению она применима к собственной записи, так как она применима к любой записи несамоприменимой машины, а это как раз означает, что </a:t>
            </a:r>
            <a:r>
              <a:rPr lang="ru-RU" altLang="ru-RU" sz="2300"/>
              <a:t>T</a:t>
            </a:r>
            <a:r>
              <a:rPr lang="ru-RU" altLang="ru-RU" sz="2300" baseline="-25000"/>
              <a:t>1 </a:t>
            </a:r>
            <a:r>
              <a:rPr lang="ru-RU" sz="2300"/>
              <a:t> самоприменима. Получили противоречие, т.е.</a:t>
            </a:r>
            <a:r>
              <a:rPr lang="ru-RU" altLang="ru-RU" sz="2300"/>
              <a:t> допущение о существовании МТ, решающей проблему самоприменимости, неверно. В силу тезиса Тьюринга невозможность построения МТ означает отсутствие алгоритма решения данной проблемы. </a:t>
            </a:r>
          </a:p>
        </p:txBody>
      </p:sp>
    </p:spTree>
    <p:extLst>
      <p:ext uri="{BB962C8B-B14F-4D97-AF65-F5344CB8AC3E}">
        <p14:creationId xmlns:p14="http://schemas.microsoft.com/office/powerpoint/2010/main" val="108285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Заголовок 1"/>
          <p:cNvSpPr>
            <a:spLocks noGrp="1"/>
          </p:cNvSpPr>
          <p:nvPr>
            <p:ph type="title"/>
          </p:nvPr>
        </p:nvSpPr>
        <p:spPr>
          <a:xfrm>
            <a:off x="1992313" y="188914"/>
            <a:ext cx="8228012" cy="936625"/>
          </a:xfrm>
          <a:solidFill>
            <a:srgbClr val="C6D9F1"/>
          </a:solidFill>
        </p:spPr>
        <p:txBody>
          <a:bodyPr>
            <a:normAutofit fontScale="90000"/>
          </a:bodyPr>
          <a:lstStyle/>
          <a:p>
            <a:r>
              <a:rPr lang="ru-RU" altLang="ru-RU" sz="3200" b="1"/>
              <a:t>Проблема останова МТ и доказательство её неразрешимости</a:t>
            </a:r>
          </a:p>
        </p:txBody>
      </p:sp>
      <p:sp>
        <p:nvSpPr>
          <p:cNvPr id="77827" name="Содержимое 2"/>
          <p:cNvSpPr>
            <a:spLocks noGrp="1"/>
          </p:cNvSpPr>
          <p:nvPr>
            <p:ph idx="1"/>
          </p:nvPr>
        </p:nvSpPr>
        <p:spPr>
          <a:xfrm>
            <a:off x="1981201" y="1268414"/>
            <a:ext cx="8228013" cy="5400675"/>
          </a:xfrm>
        </p:spPr>
        <p:txBody>
          <a:bodyPr/>
          <a:lstStyle/>
          <a:p>
            <a:r>
              <a:rPr lang="ru-RU" altLang="ru-RU" sz="2400"/>
              <a:t>Одна из первых задач, для которой была доказана неразрешимость.</a:t>
            </a:r>
          </a:p>
          <a:p>
            <a:r>
              <a:rPr lang="ru-RU" altLang="ru-RU" sz="2400"/>
              <a:t>Доказательство её неразрешимости проводится с помощью диагонального метода и свойства самоприменимости алгоритма.</a:t>
            </a:r>
          </a:p>
          <a:p>
            <a:r>
              <a:rPr lang="ru-RU" altLang="ru-RU" sz="2400"/>
              <a:t>Задачу останова часто используют для доказательства неразрешимости других проблем путем сведения к ней.</a:t>
            </a:r>
          </a:p>
          <a:p>
            <a:pPr>
              <a:buFont typeface="Times New Roman" pitchFamily="18" charset="0"/>
              <a:buNone/>
            </a:pPr>
            <a:r>
              <a:rPr lang="ru-RU" altLang="ru-RU" sz="2400"/>
              <a:t>	</a:t>
            </a:r>
            <a:r>
              <a:rPr lang="ru-RU" altLang="ru-RU" sz="2400" b="1" u="sng">
                <a:solidFill>
                  <a:srgbClr val="C00000"/>
                </a:solidFill>
              </a:rPr>
              <a:t>Теорема. </a:t>
            </a:r>
            <a:r>
              <a:rPr lang="ru-RU" altLang="ru-RU" sz="2400" i="1"/>
              <a:t>Не существует алгоритма (МТ), позволяющего по описанию произвольного  алгоритма и его исходных данных (и алгоритм и данные заданы символами  на ленте машины Тьюринга) определить, останавливается ли этот алгоритм на этих данных или будет работать бесконечно.</a:t>
            </a:r>
          </a:p>
          <a:p>
            <a:endParaRPr lang="ru-RU" altLang="ru-RU"/>
          </a:p>
        </p:txBody>
      </p:sp>
    </p:spTree>
    <p:extLst>
      <p:ext uri="{BB962C8B-B14F-4D97-AF65-F5344CB8AC3E}">
        <p14:creationId xmlns:p14="http://schemas.microsoft.com/office/powerpoint/2010/main" val="844544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Содержимое 2"/>
          <p:cNvSpPr>
            <a:spLocks noGrp="1"/>
          </p:cNvSpPr>
          <p:nvPr>
            <p:ph idx="1"/>
          </p:nvPr>
        </p:nvSpPr>
        <p:spPr>
          <a:xfrm>
            <a:off x="1774825" y="188914"/>
            <a:ext cx="8713788" cy="6480175"/>
          </a:xfrm>
        </p:spPr>
        <p:txBody>
          <a:bodyPr/>
          <a:lstStyle/>
          <a:p>
            <a:pPr>
              <a:buFont typeface="Times New Roman" pitchFamily="18" charset="0"/>
              <a:buNone/>
              <a:defRPr/>
            </a:pPr>
            <a:r>
              <a:rPr lang="ru-RU" b="1" dirty="0"/>
              <a:t>Доказательство.</a:t>
            </a:r>
            <a:r>
              <a:rPr lang="ru-RU" dirty="0"/>
              <a:t> </a:t>
            </a:r>
            <a:endParaRPr lang="ru-RU" altLang="ru-RU" b="1" dirty="0"/>
          </a:p>
          <a:p>
            <a:pPr marL="72000" indent="0">
              <a:buNone/>
              <a:defRPr/>
            </a:pPr>
            <a:r>
              <a:rPr lang="ru-RU" altLang="ru-RU" sz="2400" dirty="0"/>
              <a:t>	Рассмотрим множество всех алгоритмов, получающих на вход натуральное число, и возвращающих в качестве результата натуральное число, т.е. отображения N -&gt; N*, где</a:t>
            </a:r>
            <a:r>
              <a:rPr lang="ru-RU" sz="2400" dirty="0"/>
              <a:t> N* = N </a:t>
            </a:r>
            <a:r>
              <a:rPr lang="ru-RU" sz="2400" dirty="0">
                <a:sym typeface="Symbol"/>
              </a:rPr>
              <a:t></a:t>
            </a:r>
            <a:r>
              <a:rPr lang="ru-RU" sz="2400" dirty="0"/>
              <a:t> </a:t>
            </a:r>
            <a:r>
              <a:rPr lang="ru-RU" sz="2400" dirty="0" err="1"/>
              <a:t>undef</a:t>
            </a:r>
            <a:r>
              <a:rPr lang="ru-RU" sz="2400" dirty="0"/>
              <a:t>, </a:t>
            </a:r>
            <a:r>
              <a:rPr lang="ru-RU" sz="2400" dirty="0" err="1"/>
              <a:t>undef</a:t>
            </a:r>
            <a:r>
              <a:rPr lang="ru-RU" sz="2400" dirty="0"/>
              <a:t> — случай, когда алгоритм </a:t>
            </a:r>
            <a:r>
              <a:rPr lang="ru-RU" sz="2400" dirty="0" err="1"/>
              <a:t>зацикливается</a:t>
            </a:r>
            <a:r>
              <a:rPr lang="ru-RU" sz="2400" dirty="0"/>
              <a:t>, то есть не заканчивает свою работу.</a:t>
            </a:r>
            <a:r>
              <a:rPr lang="ru-RU" altLang="ru-RU" sz="2400" dirty="0"/>
              <a:t> Эта абстракция допустима, так как слова в любом конечном алфавите можно однозначно закодировать натуральными числами.</a:t>
            </a:r>
          </a:p>
          <a:p>
            <a:pPr marL="72000" indent="0">
              <a:buNone/>
              <a:defRPr/>
            </a:pPr>
            <a:r>
              <a:rPr lang="ru-RU" altLang="ru-RU" dirty="0"/>
              <a:t>	</a:t>
            </a:r>
            <a:r>
              <a:rPr lang="ru-RU" altLang="ru-RU" sz="2400" dirty="0"/>
              <a:t> Докажем, что не существует универсальной функции, которая определяет остановится ли алгоритм на данном входе или будет работать бесконечно.</a:t>
            </a:r>
          </a:p>
          <a:p>
            <a:pPr marL="72000" indent="0">
              <a:buNone/>
              <a:defRPr/>
            </a:pPr>
            <a:r>
              <a:rPr lang="ru-RU" altLang="ru-RU" sz="2400" dirty="0"/>
              <a:t>	Пусть существует вычислимая функция </a:t>
            </a:r>
            <a:r>
              <a:rPr lang="en-US" altLang="ru-RU" sz="2400" dirty="0"/>
              <a:t>F</a:t>
            </a:r>
            <a:r>
              <a:rPr lang="ru-RU" altLang="ru-RU" sz="2400" dirty="0"/>
              <a:t>(</a:t>
            </a:r>
            <a:r>
              <a:rPr lang="ru-RU" altLang="ru-RU" sz="2400" dirty="0" err="1"/>
              <a:t>a,x</a:t>
            </a:r>
            <a:r>
              <a:rPr lang="ru-RU" altLang="ru-RU" sz="2400" dirty="0"/>
              <a:t>), принимающая значения на N*. Первый аргумент </a:t>
            </a:r>
            <a:r>
              <a:rPr lang="ru-RU" altLang="ru-RU" sz="2400" dirty="0" err="1"/>
              <a:t>a</a:t>
            </a:r>
            <a:r>
              <a:rPr lang="ru-RU" altLang="ru-RU" sz="2400" dirty="0"/>
              <a:t> — номер описания алгоритма на некотором языке, второй аргумент </a:t>
            </a:r>
            <a:r>
              <a:rPr lang="ru-RU" altLang="ru-RU" sz="2400" dirty="0" err="1"/>
              <a:t>x</a:t>
            </a:r>
            <a:r>
              <a:rPr lang="ru-RU" altLang="ru-RU" sz="2400" dirty="0"/>
              <a:t> — входные данные для этого алгоритма. </a:t>
            </a:r>
            <a:r>
              <a:rPr lang="en-US" altLang="ru-RU" sz="2400" dirty="0"/>
              <a:t>F</a:t>
            </a:r>
            <a:r>
              <a:rPr lang="ru-RU" altLang="ru-RU" sz="2400" dirty="0"/>
              <a:t>(</a:t>
            </a:r>
            <a:r>
              <a:rPr lang="ru-RU" altLang="ru-RU" sz="2400" dirty="0" err="1"/>
              <a:t>a,x</a:t>
            </a:r>
            <a:r>
              <a:rPr lang="ru-RU" altLang="ru-RU" sz="2400" dirty="0"/>
              <a:t>) по определению есть результат выполнения алгоритма </a:t>
            </a:r>
            <a:r>
              <a:rPr lang="ru-RU" altLang="ru-RU" sz="2400" dirty="0" err="1"/>
              <a:t>a</a:t>
            </a:r>
            <a:r>
              <a:rPr lang="ru-RU" altLang="ru-RU" sz="2400" dirty="0"/>
              <a:t> на входных данных </a:t>
            </a:r>
            <a:r>
              <a:rPr lang="ru-RU" altLang="ru-RU" sz="2400" dirty="0" err="1"/>
              <a:t>x</a:t>
            </a:r>
            <a:r>
              <a:rPr lang="ru-RU" altLang="ru-RU" sz="2400" dirty="0"/>
              <a:t>.</a:t>
            </a:r>
          </a:p>
          <a:p>
            <a:pPr>
              <a:buFont typeface="Times New Roman" pitchFamily="18" charset="0"/>
              <a:buNone/>
              <a:defRPr/>
            </a:pPr>
            <a:endParaRPr lang="ru-RU" altLang="ru-RU" dirty="0"/>
          </a:p>
          <a:p>
            <a:pPr>
              <a:buFont typeface="Times New Roman" pitchFamily="18" charset="0"/>
              <a:buNone/>
              <a:defRPr/>
            </a:pPr>
            <a:endParaRPr lang="ru-RU" altLang="ru-RU" b="1" dirty="0"/>
          </a:p>
          <a:p>
            <a:pPr>
              <a:buFont typeface="Times New Roman" pitchFamily="18" charset="0"/>
              <a:buNone/>
              <a:defRPr/>
            </a:pPr>
            <a:endParaRPr lang="ru-RU" altLang="ru-RU" dirty="0"/>
          </a:p>
        </p:txBody>
      </p:sp>
    </p:spTree>
    <p:extLst>
      <p:ext uri="{BB962C8B-B14F-4D97-AF65-F5344CB8AC3E}">
        <p14:creationId xmlns:p14="http://schemas.microsoft.com/office/powerpoint/2010/main" val="823457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Прямоугольник 3"/>
          <p:cNvSpPr>
            <a:spLocks noChangeArrowheads="1"/>
          </p:cNvSpPr>
          <p:nvPr/>
        </p:nvSpPr>
        <p:spPr bwMode="auto">
          <a:xfrm>
            <a:off x="1703389" y="260351"/>
            <a:ext cx="8785225" cy="5632311"/>
          </a:xfrm>
          <a:prstGeom prst="rect">
            <a:avLst/>
          </a:prstGeom>
          <a:noFill/>
          <a:ln w="9525">
            <a:noFill/>
            <a:miter lim="800000"/>
            <a:headEnd/>
            <a:tailEnd/>
          </a:ln>
        </p:spPr>
        <p:txBody>
          <a:bodyPr>
            <a:spAutoFit/>
          </a:bodyPr>
          <a:lstStyle/>
          <a:p>
            <a:r>
              <a:rPr lang="ru-RU" altLang="ru-RU" sz="2400" dirty="0"/>
              <a:t>Вычислимая функция </a:t>
            </a:r>
            <a:r>
              <a:rPr lang="en-US" altLang="ru-RU" sz="2400" dirty="0"/>
              <a:t>F</a:t>
            </a:r>
            <a:r>
              <a:rPr lang="ru-RU" altLang="ru-RU" sz="2400" dirty="0"/>
              <a:t>(</a:t>
            </a:r>
            <a:r>
              <a:rPr lang="ru-RU" altLang="ru-RU" sz="2400" dirty="0" err="1"/>
              <a:t>a,x</a:t>
            </a:r>
            <a:r>
              <a:rPr lang="ru-RU" altLang="ru-RU" sz="2400" dirty="0"/>
              <a:t>) двух натуральных аргументов как бы перечисляет ВСЕ вычислимые функции с одним натуральным аргументом. (Предполагается, что натуральными числами a шифруются множество всех алгоритмов.)</a:t>
            </a:r>
          </a:p>
          <a:p>
            <a:r>
              <a:rPr lang="ru-RU" altLang="ru-RU" sz="2400" dirty="0"/>
              <a:t>Рассмотрим эту функцию с точки зрения </a:t>
            </a:r>
            <a:r>
              <a:rPr lang="ru-RU" altLang="ru-RU" sz="2400" dirty="0" err="1"/>
              <a:t>самоприменимости</a:t>
            </a:r>
            <a:r>
              <a:rPr lang="ru-RU" altLang="ru-RU" sz="2400" dirty="0"/>
              <a:t> т.е. </a:t>
            </a:r>
            <a:r>
              <a:rPr lang="en-US" altLang="ru-RU" sz="2400" dirty="0"/>
              <a:t>F</a:t>
            </a:r>
            <a:r>
              <a:rPr lang="ru-RU" altLang="ru-RU" sz="2400" dirty="0"/>
              <a:t>(</a:t>
            </a:r>
            <a:r>
              <a:rPr lang="en-US" altLang="ru-RU" sz="2400" dirty="0"/>
              <a:t>a</a:t>
            </a:r>
            <a:r>
              <a:rPr lang="ru-RU" altLang="ru-RU" sz="2400" dirty="0"/>
              <a:t>,</a:t>
            </a:r>
            <a:r>
              <a:rPr lang="en-US" altLang="ru-RU" sz="2400" dirty="0"/>
              <a:t>a</a:t>
            </a:r>
            <a:r>
              <a:rPr lang="ru-RU" altLang="ru-RU" sz="2400" dirty="0"/>
              <a:t>), где входом для алгоритма с номером </a:t>
            </a:r>
            <a:r>
              <a:rPr lang="en-US" altLang="ru-RU" sz="2400" dirty="0"/>
              <a:t>a </a:t>
            </a:r>
            <a:r>
              <a:rPr lang="ru-RU" altLang="ru-RU" sz="2400" dirty="0"/>
              <a:t>будет формальная запись этого же алгоритма, и построим функцию h(</a:t>
            </a:r>
            <a:r>
              <a:rPr lang="en-US" altLang="ru-RU" sz="2400" dirty="0"/>
              <a:t>a</a:t>
            </a:r>
            <a:r>
              <a:rPr lang="ru-RU" altLang="ru-RU" sz="2400" dirty="0"/>
              <a:t>) = </a:t>
            </a:r>
            <a:r>
              <a:rPr lang="en-US" altLang="ru-RU" sz="2400" dirty="0"/>
              <a:t>F</a:t>
            </a:r>
            <a:r>
              <a:rPr lang="ru-RU" altLang="ru-RU" sz="2400" dirty="0"/>
              <a:t>(</a:t>
            </a:r>
            <a:r>
              <a:rPr lang="en-US" altLang="ru-RU" sz="2400" dirty="0"/>
              <a:t>a</a:t>
            </a:r>
            <a:r>
              <a:rPr lang="ru-RU" altLang="ru-RU" sz="2400" dirty="0"/>
              <a:t>,</a:t>
            </a:r>
            <a:r>
              <a:rPr lang="en-US" altLang="ru-RU" sz="2400" dirty="0"/>
              <a:t>a</a:t>
            </a:r>
            <a:r>
              <a:rPr lang="ru-RU" altLang="ru-RU" sz="2400" dirty="0"/>
              <a:t>)+1. Функция h(</a:t>
            </a:r>
            <a:r>
              <a:rPr lang="en-US" altLang="ru-RU" sz="2400" dirty="0"/>
              <a:t>a</a:t>
            </a:r>
            <a:r>
              <a:rPr lang="ru-RU" altLang="ru-RU" sz="2400" dirty="0"/>
              <a:t>) - вычислимая, так как она использует результат вычислимой функции </a:t>
            </a:r>
            <a:r>
              <a:rPr lang="en-US" altLang="ru-RU" sz="2400" dirty="0"/>
              <a:t>F</a:t>
            </a:r>
            <a:r>
              <a:rPr lang="ru-RU" altLang="ru-RU" sz="2400" dirty="0"/>
              <a:t> и после прибавляет к нему единицу. Пусть функция h(</a:t>
            </a:r>
            <a:r>
              <a:rPr lang="en-US" altLang="ru-RU" sz="2400" dirty="0"/>
              <a:t>a</a:t>
            </a:r>
            <a:r>
              <a:rPr lang="ru-RU" altLang="ru-RU" sz="2400" dirty="0"/>
              <a:t>) имеет номер </a:t>
            </a:r>
            <a:r>
              <a:rPr lang="en-US" altLang="ru-RU" sz="2400" dirty="0"/>
              <a:t>x</a:t>
            </a:r>
            <a:r>
              <a:rPr lang="ru-RU" altLang="ru-RU" sz="2400" dirty="0"/>
              <a:t>, то есть </a:t>
            </a:r>
            <a:r>
              <a:rPr lang="en-US" altLang="ru-RU" sz="2400" dirty="0"/>
              <a:t>F</a:t>
            </a:r>
            <a:r>
              <a:rPr lang="ru-RU" altLang="ru-RU" sz="2400" dirty="0"/>
              <a:t>(</a:t>
            </a:r>
            <a:r>
              <a:rPr lang="en-US" altLang="ru-RU" sz="2400" dirty="0"/>
              <a:t>x</a:t>
            </a:r>
            <a:r>
              <a:rPr lang="ru-RU" altLang="ru-RU" sz="2400" dirty="0"/>
              <a:t>,</a:t>
            </a:r>
            <a:r>
              <a:rPr lang="en-US" altLang="ru-RU" sz="2400" dirty="0"/>
              <a:t>a</a:t>
            </a:r>
            <a:r>
              <a:rPr lang="ru-RU" altLang="ru-RU" sz="2400" dirty="0"/>
              <a:t>)=h(</a:t>
            </a:r>
            <a:r>
              <a:rPr lang="en-US" altLang="ru-RU" sz="2400" dirty="0"/>
              <a:t>a</a:t>
            </a:r>
            <a:r>
              <a:rPr lang="ru-RU" altLang="ru-RU" sz="2400" dirty="0"/>
              <a:t>). Но по определению h(</a:t>
            </a:r>
            <a:r>
              <a:rPr lang="en-US" altLang="ru-RU" sz="2400" dirty="0"/>
              <a:t>a</a:t>
            </a:r>
            <a:r>
              <a:rPr lang="ru-RU" altLang="ru-RU" sz="2400" dirty="0"/>
              <a:t>)=</a:t>
            </a:r>
            <a:r>
              <a:rPr lang="en-US" altLang="ru-RU" sz="2400" dirty="0"/>
              <a:t>F</a:t>
            </a:r>
            <a:r>
              <a:rPr lang="ru-RU" altLang="ru-RU" sz="2400" dirty="0"/>
              <a:t>(</a:t>
            </a:r>
            <a:r>
              <a:rPr lang="en-US" altLang="ru-RU" sz="2400" dirty="0"/>
              <a:t>a</a:t>
            </a:r>
            <a:r>
              <a:rPr lang="ru-RU" altLang="ru-RU" sz="2400" dirty="0"/>
              <a:t>,</a:t>
            </a:r>
            <a:r>
              <a:rPr lang="en-US" altLang="ru-RU" sz="2400" dirty="0"/>
              <a:t>a</a:t>
            </a:r>
            <a:r>
              <a:rPr lang="ru-RU" altLang="ru-RU" sz="2400" dirty="0"/>
              <a:t>)+1 и при x=</a:t>
            </a:r>
            <a:r>
              <a:rPr lang="en-US" altLang="ru-RU" sz="2400" dirty="0"/>
              <a:t>a </a:t>
            </a:r>
            <a:r>
              <a:rPr lang="ru-RU" altLang="ru-RU" sz="2400" dirty="0"/>
              <a:t>имеем F(</a:t>
            </a:r>
            <a:r>
              <a:rPr lang="en-US" altLang="ru-RU" sz="2400" dirty="0"/>
              <a:t>a</a:t>
            </a:r>
            <a:r>
              <a:rPr lang="ru-RU" altLang="ru-RU" sz="2400" dirty="0"/>
              <a:t>,a)=h(</a:t>
            </a:r>
            <a:r>
              <a:rPr lang="en-US" altLang="ru-RU" sz="2400" dirty="0"/>
              <a:t>a</a:t>
            </a:r>
            <a:r>
              <a:rPr lang="ru-RU" altLang="ru-RU" sz="2400" dirty="0"/>
              <a:t>) и h(</a:t>
            </a:r>
            <a:r>
              <a:rPr lang="en-US" altLang="ru-RU" sz="2400" dirty="0"/>
              <a:t>a</a:t>
            </a:r>
            <a:r>
              <a:rPr lang="ru-RU" altLang="ru-RU" sz="2400" dirty="0"/>
              <a:t>)=</a:t>
            </a:r>
            <a:r>
              <a:rPr lang="en-US" altLang="ru-RU" sz="2400" dirty="0"/>
              <a:t>F</a:t>
            </a:r>
            <a:r>
              <a:rPr lang="ru-RU" altLang="ru-RU" sz="2400" dirty="0"/>
              <a:t>(</a:t>
            </a:r>
            <a:r>
              <a:rPr lang="en-US" altLang="ru-RU" sz="2400" dirty="0"/>
              <a:t>a</a:t>
            </a:r>
            <a:r>
              <a:rPr lang="ru-RU" altLang="ru-RU" sz="2400" dirty="0"/>
              <a:t>,</a:t>
            </a:r>
            <a:r>
              <a:rPr lang="en-US" altLang="ru-RU" sz="2400" dirty="0"/>
              <a:t>a</a:t>
            </a:r>
            <a:r>
              <a:rPr lang="ru-RU" altLang="ru-RU" sz="2400" dirty="0"/>
              <a:t>)+1. Получили противоречие.</a:t>
            </a:r>
          </a:p>
          <a:p>
            <a:endParaRPr lang="ru-RU" altLang="ru-RU" sz="2400" dirty="0"/>
          </a:p>
          <a:p>
            <a:r>
              <a:rPr lang="ru-RU" altLang="ru-RU" sz="2400" dirty="0"/>
              <a:t>Таким образом определение того, остановится или нет программа, является </a:t>
            </a:r>
            <a:r>
              <a:rPr lang="ru-RU" altLang="ru-RU" sz="2400" b="1" dirty="0"/>
              <a:t>невычислимой функцией</a:t>
            </a:r>
            <a:r>
              <a:rPr lang="ru-RU" altLang="ru-RU" sz="2400" dirty="0"/>
              <a:t>.</a:t>
            </a:r>
          </a:p>
        </p:txBody>
      </p:sp>
    </p:spTree>
    <p:extLst>
      <p:ext uri="{BB962C8B-B14F-4D97-AF65-F5344CB8AC3E}">
        <p14:creationId xmlns:p14="http://schemas.microsoft.com/office/powerpoint/2010/main" val="2599292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Содержимое 3"/>
          <p:cNvSpPr>
            <a:spLocks noGrp="1"/>
          </p:cNvSpPr>
          <p:nvPr>
            <p:ph idx="1"/>
          </p:nvPr>
        </p:nvSpPr>
        <p:spPr>
          <a:xfrm>
            <a:off x="1703389" y="188914"/>
            <a:ext cx="8713787" cy="6264275"/>
          </a:xfrm>
        </p:spPr>
        <p:txBody>
          <a:bodyPr/>
          <a:lstStyle/>
          <a:p>
            <a:pPr>
              <a:buFont typeface="Times New Roman" pitchFamily="18" charset="0"/>
              <a:buNone/>
            </a:pPr>
            <a:r>
              <a:rPr lang="ru-RU" altLang="ru-RU"/>
              <a:t>	Неразрешимость проблемы останова можно интерпретировать как несуществование общего алгоритма для отладки программ, точнее, алгоритма, который по тексту любой программы и данным для нее определял бы, зациклится ли программа на этих данных или нет.</a:t>
            </a:r>
          </a:p>
          <a:p>
            <a:endParaRPr lang="ru-RU" altLang="ru-RU"/>
          </a:p>
        </p:txBody>
      </p:sp>
    </p:spTree>
    <p:extLst>
      <p:ext uri="{BB962C8B-B14F-4D97-AF65-F5344CB8AC3E}">
        <p14:creationId xmlns:p14="http://schemas.microsoft.com/office/powerpoint/2010/main" val="1272392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1"/>
          <p:cNvSpPr txBox="1">
            <a:spLocks noChangeArrowheads="1"/>
          </p:cNvSpPr>
          <p:nvPr/>
        </p:nvSpPr>
        <p:spPr bwMode="auto">
          <a:xfrm>
            <a:off x="0" y="0"/>
            <a:ext cx="12192000" cy="6858000"/>
          </a:xfrm>
          <a:prstGeom prst="rect">
            <a:avLst/>
          </a:prstGeom>
          <a:gradFill rotWithShape="0">
            <a:gsLst>
              <a:gs pos="0">
                <a:srgbClr val="E1E8F5"/>
              </a:gs>
              <a:gs pos="100000">
                <a:srgbClr val="9AB5E4"/>
              </a:gs>
            </a:gsLst>
            <a:lin ang="5400000" scaled="1"/>
          </a:gradFill>
          <a:ln w="9525">
            <a:noFill/>
            <a:round/>
            <a:headEnd/>
            <a:tailEnd/>
          </a:ln>
        </p:spPr>
        <p:txBody>
          <a:bodyPr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ru-RU" sz="4400" b="1" dirty="0">
                <a:solidFill>
                  <a:srgbClr val="000000"/>
                </a:solidFill>
                <a:latin typeface="Calibri" pitchFamily="34" charset="0"/>
              </a:rPr>
              <a:t>Основы анализа сложности алгоритмов</a:t>
            </a:r>
          </a:p>
        </p:txBody>
      </p:sp>
      <p:sp>
        <p:nvSpPr>
          <p:cNvPr id="81923" name="Text Box 2"/>
          <p:cNvSpPr txBox="1">
            <a:spLocks noChangeArrowheads="1"/>
          </p:cNvSpPr>
          <p:nvPr/>
        </p:nvSpPr>
        <p:spPr bwMode="auto">
          <a:xfrm>
            <a:off x="2895600" y="3886200"/>
            <a:ext cx="6400800" cy="1752600"/>
          </a:xfrm>
          <a:prstGeom prst="rect">
            <a:avLst/>
          </a:prstGeom>
          <a:noFill/>
          <a:ln w="9525">
            <a:noFill/>
            <a:round/>
            <a:headEnd/>
            <a:tailEnd/>
          </a:ln>
        </p:spPr>
        <p:txBody>
          <a:bodyPr wrap="none" anchor="ctr"/>
          <a:lstStyle/>
          <a:p>
            <a:endParaRPr lang="ru-RU" altLang="ru-RU"/>
          </a:p>
        </p:txBody>
      </p:sp>
    </p:spTree>
    <p:extLst>
      <p:ext uri="{BB962C8B-B14F-4D97-AF65-F5344CB8AC3E}">
        <p14:creationId xmlns:p14="http://schemas.microsoft.com/office/powerpoint/2010/main" val="189915179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1"/>
          <p:cNvSpPr txBox="1">
            <a:spLocks noChangeArrowheads="1"/>
          </p:cNvSpPr>
          <p:nvPr/>
        </p:nvSpPr>
        <p:spPr bwMode="auto">
          <a:xfrm>
            <a:off x="1738314" y="142876"/>
            <a:ext cx="8715375" cy="6500813"/>
          </a:xfrm>
          <a:prstGeom prst="rect">
            <a:avLst/>
          </a:prstGeom>
          <a:noFill/>
          <a:ln w="9525">
            <a:noFill/>
            <a:round/>
            <a:headEnd/>
            <a:tailEnd/>
          </a:ln>
        </p:spPr>
        <p:txBody>
          <a:bodyPr/>
          <a:lstStyle/>
          <a:p>
            <a:pPr marL="342900" indent="-341313">
              <a:spcBef>
                <a:spcPts val="800"/>
              </a:spcBef>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ru-RU" sz="3200" b="1" dirty="0">
                <a:solidFill>
                  <a:srgbClr val="000000"/>
                </a:solidFill>
                <a:latin typeface="Calibri" pitchFamily="34" charset="0"/>
              </a:rPr>
              <a:t>Критерии оценки эффективности алгоритмов:</a:t>
            </a:r>
          </a:p>
          <a:p>
            <a:pPr marL="342900" indent="-341313">
              <a:spcBef>
                <a:spcPts val="8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ru-RU" sz="2400" b="1" dirty="0">
                <a:solidFill>
                  <a:srgbClr val="000000"/>
                </a:solidFill>
                <a:latin typeface="Calibri" pitchFamily="34" charset="0"/>
              </a:rPr>
              <a:t>Процессорное время </a:t>
            </a:r>
            <a:r>
              <a:rPr lang="ru-RU" sz="2400" dirty="0">
                <a:solidFill>
                  <a:srgbClr val="000000"/>
                </a:solidFill>
                <a:latin typeface="Calibri" pitchFamily="34" charset="0"/>
              </a:rPr>
              <a:t>(вычислительная сложность)</a:t>
            </a:r>
          </a:p>
          <a:p>
            <a:pPr marL="342900" indent="-341313">
              <a:spcBef>
                <a:spcPts val="8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ru-RU" sz="2400" b="1" dirty="0">
                <a:solidFill>
                  <a:srgbClr val="000000"/>
                </a:solidFill>
                <a:latin typeface="Calibri" pitchFamily="34" charset="0"/>
              </a:rPr>
              <a:t>Память</a:t>
            </a:r>
            <a:r>
              <a:rPr lang="ru-RU" sz="2400" dirty="0">
                <a:solidFill>
                  <a:srgbClr val="000000"/>
                </a:solidFill>
                <a:latin typeface="Calibri" pitchFamily="34" charset="0"/>
              </a:rPr>
              <a:t> (максимальное  количество ячеек задействованных алгоритмом)</a:t>
            </a:r>
          </a:p>
          <a:p>
            <a:pPr marL="342900" indent="-341313">
              <a:spcBef>
                <a:spcPts val="800"/>
              </a:spcBef>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ru-RU" sz="2000" dirty="0"/>
              <a:t>	</a:t>
            </a:r>
            <a:r>
              <a:rPr lang="ru-RU" sz="2000" dirty="0">
                <a:solidFill>
                  <a:srgbClr val="C00000"/>
                </a:solidFill>
              </a:rPr>
              <a:t>Каждое вычислительное устройство имеет свои особенности, которые могут влиять на длительность вычисления при этом алгоритм не становится хуже или лучше!</a:t>
            </a:r>
          </a:p>
          <a:p>
            <a:pPr>
              <a:defRPr/>
            </a:pPr>
            <a:r>
              <a:rPr lang="ru-RU" sz="2400" b="1" dirty="0"/>
              <a:t>Пример:</a:t>
            </a:r>
            <a:endParaRPr lang="ru-RU" sz="2400" dirty="0"/>
          </a:p>
          <a:p>
            <a:pPr>
              <a:defRPr/>
            </a:pPr>
            <a:r>
              <a:rPr lang="ru-RU" sz="2000" dirty="0"/>
              <a:t>Необходимо отсортировать массив из миллиона чисел. Имеется два алгоритма: один требует выполнения </a:t>
            </a:r>
            <a:r>
              <a:rPr lang="ru-RU" sz="2000" dirty="0">
                <a:solidFill>
                  <a:srgbClr val="C00000"/>
                </a:solidFill>
              </a:rPr>
              <a:t>2</a:t>
            </a:r>
            <a:r>
              <a:rPr lang="en-US" sz="2000" dirty="0">
                <a:solidFill>
                  <a:srgbClr val="C00000"/>
                </a:solidFill>
              </a:rPr>
              <a:t>n</a:t>
            </a:r>
            <a:r>
              <a:rPr lang="ru-RU" sz="2000" baseline="30000" dirty="0">
                <a:solidFill>
                  <a:srgbClr val="C00000"/>
                </a:solidFill>
              </a:rPr>
              <a:t>2 </a:t>
            </a:r>
            <a:r>
              <a:rPr lang="ru-RU" sz="2000" dirty="0"/>
              <a:t>операций, другой </a:t>
            </a:r>
            <a:r>
              <a:rPr lang="ru-RU" sz="2000" dirty="0">
                <a:solidFill>
                  <a:srgbClr val="C00000"/>
                </a:solidFill>
              </a:rPr>
              <a:t>50</a:t>
            </a:r>
            <a:r>
              <a:rPr lang="en-US" sz="2000" dirty="0" err="1">
                <a:solidFill>
                  <a:srgbClr val="C00000"/>
                </a:solidFill>
              </a:rPr>
              <a:t>nlog</a:t>
            </a:r>
            <a:r>
              <a:rPr lang="ru-RU" sz="2000" dirty="0">
                <a:solidFill>
                  <a:srgbClr val="C00000"/>
                </a:solidFill>
              </a:rPr>
              <a:t>(</a:t>
            </a:r>
            <a:r>
              <a:rPr lang="en-US" sz="2000" dirty="0">
                <a:solidFill>
                  <a:srgbClr val="C00000"/>
                </a:solidFill>
              </a:rPr>
              <a:t>n</a:t>
            </a:r>
            <a:r>
              <a:rPr lang="ru-RU" sz="2000" dirty="0">
                <a:solidFill>
                  <a:srgbClr val="C00000"/>
                </a:solidFill>
              </a:rPr>
              <a:t>) </a:t>
            </a:r>
            <a:r>
              <a:rPr lang="ru-RU" sz="2000" dirty="0"/>
              <a:t>– операций</a:t>
            </a:r>
            <a:r>
              <a:rPr lang="en-US" sz="2000" dirty="0"/>
              <a:t> </a:t>
            </a:r>
            <a:r>
              <a:rPr lang="ru-RU" sz="2000" dirty="0"/>
              <a:t>при входе длины </a:t>
            </a:r>
            <a:r>
              <a:rPr lang="en-US" sz="2000" dirty="0">
                <a:solidFill>
                  <a:srgbClr val="C00000"/>
                </a:solidFill>
              </a:rPr>
              <a:t>n</a:t>
            </a:r>
            <a:r>
              <a:rPr lang="ru-RU" sz="2000" dirty="0"/>
              <a:t>. Имеется два компьютера: один выполняет </a:t>
            </a:r>
            <a:r>
              <a:rPr lang="ru-RU" sz="2000" dirty="0">
                <a:solidFill>
                  <a:srgbClr val="C00000"/>
                </a:solidFill>
              </a:rPr>
              <a:t>10</a:t>
            </a:r>
            <a:r>
              <a:rPr lang="ru-RU" sz="2000" baseline="30000" dirty="0">
                <a:solidFill>
                  <a:srgbClr val="C00000"/>
                </a:solidFill>
              </a:rPr>
              <a:t>8</a:t>
            </a:r>
            <a:r>
              <a:rPr lang="ru-RU" sz="2000" dirty="0"/>
              <a:t> операций в секунду, другой </a:t>
            </a:r>
            <a:r>
              <a:rPr lang="ru-RU" sz="2000" dirty="0">
                <a:solidFill>
                  <a:srgbClr val="C00000"/>
                </a:solidFill>
              </a:rPr>
              <a:t>10</a:t>
            </a:r>
            <a:r>
              <a:rPr lang="ru-RU" sz="2000" baseline="30000" dirty="0">
                <a:solidFill>
                  <a:srgbClr val="C00000"/>
                </a:solidFill>
              </a:rPr>
              <a:t>6</a:t>
            </a:r>
            <a:r>
              <a:rPr lang="ru-RU" sz="2000" dirty="0"/>
              <a:t> операций. </a:t>
            </a:r>
          </a:p>
          <a:p>
            <a:pPr marL="342900" indent="-341313">
              <a:spcBef>
                <a:spcPts val="8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a:pPr>
            <a:endParaRPr lang="ru-RU" sz="2800" dirty="0">
              <a:solidFill>
                <a:srgbClr val="000000"/>
              </a:solidFill>
              <a:latin typeface="Calibri" pitchFamily="34" charset="0"/>
            </a:endParaRPr>
          </a:p>
          <a:p>
            <a:pPr marL="342900" indent="-341313">
              <a:spcBef>
                <a:spcPts val="700"/>
              </a:spcBef>
              <a:tabLst>
                <a:tab pos="912813" algn="l"/>
                <a:tab pos="1827213" algn="l"/>
                <a:tab pos="2741613" algn="l"/>
                <a:tab pos="3656013" algn="l"/>
                <a:tab pos="4570413" algn="l"/>
                <a:tab pos="5484813" algn="l"/>
                <a:tab pos="6399213" algn="l"/>
                <a:tab pos="7313613" algn="l"/>
                <a:tab pos="8228013" algn="l"/>
                <a:tab pos="9142413" algn="l"/>
                <a:tab pos="10056813" algn="l"/>
              </a:tabLst>
              <a:defRPr/>
            </a:pPr>
            <a:r>
              <a:rPr lang="ru-RU" sz="3200" dirty="0">
                <a:solidFill>
                  <a:srgbClr val="000000"/>
                </a:solidFill>
                <a:latin typeface="Calibri" pitchFamily="34" charset="0"/>
              </a:rPr>
              <a:t>		</a:t>
            </a:r>
            <a:endParaRPr lang="ru-RU" sz="2800" b="1" i="1" dirty="0">
              <a:solidFill>
                <a:srgbClr val="000000"/>
              </a:solidFill>
              <a:latin typeface="Calibri" pitchFamily="34" charset="0"/>
            </a:endParaRPr>
          </a:p>
        </p:txBody>
      </p:sp>
      <p:pic>
        <p:nvPicPr>
          <p:cNvPr id="3" name="Рисунок 2"/>
          <p:cNvPicPr>
            <a:picLocks noChangeAspect="1"/>
          </p:cNvPicPr>
          <p:nvPr/>
        </p:nvPicPr>
        <p:blipFill>
          <a:blip r:embed="rId3"/>
          <a:stretch>
            <a:fillRect/>
          </a:stretch>
        </p:blipFill>
        <p:spPr>
          <a:xfrm>
            <a:off x="2447926" y="4700589"/>
            <a:ext cx="7296150" cy="1943100"/>
          </a:xfrm>
          <a:prstGeom prst="rect">
            <a:avLst/>
          </a:prstGeom>
        </p:spPr>
      </p:pic>
    </p:spTree>
    <p:extLst>
      <p:ext uri="{BB962C8B-B14F-4D97-AF65-F5344CB8AC3E}">
        <p14:creationId xmlns:p14="http://schemas.microsoft.com/office/powerpoint/2010/main" val="22683595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Заголовок 1"/>
          <p:cNvSpPr>
            <a:spLocks noGrp="1"/>
          </p:cNvSpPr>
          <p:nvPr>
            <p:ph type="title"/>
          </p:nvPr>
        </p:nvSpPr>
        <p:spPr>
          <a:xfrm>
            <a:off x="1981201" y="128588"/>
            <a:ext cx="8228013" cy="779462"/>
          </a:xfrm>
          <a:solidFill>
            <a:srgbClr val="C6D9F1"/>
          </a:solidFill>
        </p:spPr>
        <p:txBody>
          <a:bodyPr>
            <a:normAutofit fontScale="90000"/>
          </a:bodyPr>
          <a:lstStyle/>
          <a:p>
            <a:r>
              <a:rPr lang="ru-RU" altLang="ru-RU" sz="2800" b="1"/>
              <a:t>Модель абстрактного вычислителя - </a:t>
            </a:r>
            <a:r>
              <a:rPr lang="ru-RU" altLang="ru-RU" sz="2800" b="1" i="1"/>
              <a:t>машина с произвольным доступом к памяти (RAM)</a:t>
            </a:r>
            <a:endParaRPr lang="ru-RU" altLang="ru-RU" sz="2800" b="1"/>
          </a:p>
        </p:txBody>
      </p:sp>
      <p:sp>
        <p:nvSpPr>
          <p:cNvPr id="70659" name="Содержимое 2"/>
          <p:cNvSpPr>
            <a:spLocks noGrp="1"/>
          </p:cNvSpPr>
          <p:nvPr>
            <p:ph idx="1"/>
          </p:nvPr>
        </p:nvSpPr>
        <p:spPr>
          <a:xfrm>
            <a:off x="1981201" y="908050"/>
            <a:ext cx="8228013" cy="5761038"/>
          </a:xfrm>
        </p:spPr>
        <p:txBody>
          <a:bodyPr/>
          <a:lstStyle/>
          <a:p>
            <a:pPr indent="0">
              <a:buNone/>
              <a:defRPr/>
            </a:pPr>
            <a:r>
              <a:rPr lang="ru-RU" sz="2000" b="1" dirty="0"/>
              <a:t>Модель состоит из памяти и процессора, которые работают следующим образом:</a:t>
            </a:r>
          </a:p>
          <a:p>
            <a:pPr>
              <a:defRPr/>
            </a:pPr>
            <a:r>
              <a:rPr lang="ru-RU" sz="2000" dirty="0"/>
              <a:t>память состоит из ячеек, каждая из которых имеет адрес и может хранить один элемент данных;</a:t>
            </a:r>
          </a:p>
          <a:p>
            <a:pPr>
              <a:defRPr/>
            </a:pPr>
            <a:r>
              <a:rPr lang="ru-RU" sz="2000" dirty="0"/>
              <a:t>каждое обращение к памяти занимает одну единицу времени, независимо от номера адресуемой ячейки;</a:t>
            </a:r>
          </a:p>
          <a:p>
            <a:pPr>
              <a:defRPr/>
            </a:pPr>
            <a:r>
              <a:rPr lang="ru-RU" sz="2000" dirty="0"/>
              <a:t>количество памяти достаточно для выполнения любого алгоритма; </a:t>
            </a:r>
          </a:p>
          <a:p>
            <a:pPr>
              <a:defRPr/>
            </a:pPr>
            <a:r>
              <a:rPr lang="ru-RU" sz="2000" dirty="0"/>
              <a:t>процессор выполняет любую элементарную операцию (основные логические и арифметические операции, чтение из памяти, запись в память, вызов подпрограммы и т.п.) за один временной шаг;</a:t>
            </a:r>
          </a:p>
          <a:p>
            <a:pPr>
              <a:defRPr/>
            </a:pPr>
            <a:r>
              <a:rPr lang="ru-RU" sz="2000" dirty="0"/>
              <a:t>циклы и подпрограммы не считаются простыми операциями.</a:t>
            </a:r>
          </a:p>
          <a:p>
            <a:pPr>
              <a:defRPr/>
            </a:pPr>
            <a:endParaRPr lang="ru-RU" sz="2000" dirty="0"/>
          </a:p>
          <a:p>
            <a:pPr indent="0">
              <a:buNone/>
              <a:defRPr/>
            </a:pPr>
            <a:r>
              <a:rPr lang="ru-RU" sz="2000" dirty="0">
                <a:solidFill>
                  <a:srgbClr val="C00000"/>
                </a:solidFill>
              </a:rPr>
              <a:t>Число элементарных операций алгоритма на этой модели показывает относительное время выполнения алгоритма.</a:t>
            </a:r>
          </a:p>
          <a:p>
            <a:pPr>
              <a:defRPr/>
            </a:pPr>
            <a:endParaRPr lang="ru-RU" sz="2600" dirty="0"/>
          </a:p>
        </p:txBody>
      </p:sp>
    </p:spTree>
    <p:extLst>
      <p:ext uri="{BB962C8B-B14F-4D97-AF65-F5344CB8AC3E}">
        <p14:creationId xmlns:p14="http://schemas.microsoft.com/office/powerpoint/2010/main" val="1062859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Прямоугольник 3"/>
          <p:cNvSpPr>
            <a:spLocks noChangeArrowheads="1"/>
          </p:cNvSpPr>
          <p:nvPr/>
        </p:nvSpPr>
        <p:spPr bwMode="auto">
          <a:xfrm>
            <a:off x="1774825" y="188913"/>
            <a:ext cx="8713788" cy="6247864"/>
          </a:xfrm>
          <a:prstGeom prst="rect">
            <a:avLst/>
          </a:prstGeom>
          <a:noFill/>
          <a:ln w="9525">
            <a:noFill/>
            <a:miter lim="800000"/>
            <a:headEnd/>
            <a:tailEnd/>
          </a:ln>
        </p:spPr>
        <p:txBody>
          <a:bodyPr>
            <a:spAutoFit/>
          </a:bodyPr>
          <a:lstStyle/>
          <a:p>
            <a:pPr algn="just"/>
            <a:r>
              <a:rPr lang="ru-RU" altLang="ru-RU" sz="2000" dirty="0"/>
              <a:t>Неудобно оценивать алгоритм по фактическому количеству элементарных операций на тех или иных входных данных.</a:t>
            </a:r>
          </a:p>
          <a:p>
            <a:r>
              <a:rPr lang="ru-RU" altLang="ru-RU" sz="2000" b="1" dirty="0"/>
              <a:t>Пример:</a:t>
            </a:r>
            <a:endParaRPr lang="ru-RU" altLang="ru-RU" sz="2000" dirty="0"/>
          </a:p>
          <a:p>
            <a:r>
              <a:rPr lang="ru-RU" altLang="ru-RU" sz="2000" dirty="0"/>
              <a:t>Сложность алгоритма А = 372</a:t>
            </a:r>
            <a:r>
              <a:rPr lang="en-US" altLang="ru-RU" sz="2000" dirty="0"/>
              <a:t>n</a:t>
            </a:r>
            <a:r>
              <a:rPr lang="ru-RU" altLang="ru-RU" sz="2000" baseline="30000" dirty="0"/>
              <a:t>3</a:t>
            </a:r>
            <a:r>
              <a:rPr lang="ru-RU" altLang="ru-RU" sz="2000" dirty="0"/>
              <a:t> + 15</a:t>
            </a:r>
            <a:r>
              <a:rPr lang="en-US" altLang="ru-RU" sz="2000" dirty="0"/>
              <a:t>n</a:t>
            </a:r>
            <a:r>
              <a:rPr lang="ru-RU" altLang="ru-RU" sz="2000" baseline="30000" dirty="0"/>
              <a:t>2</a:t>
            </a:r>
            <a:r>
              <a:rPr lang="ru-RU" altLang="ru-RU" sz="2000" dirty="0"/>
              <a:t> +100</a:t>
            </a:r>
          </a:p>
          <a:p>
            <a:r>
              <a:rPr lang="ru-RU" altLang="ru-RU" sz="2000" dirty="0"/>
              <a:t>Сложность алгоритма В = 2</a:t>
            </a:r>
            <a:r>
              <a:rPr lang="en-US" altLang="ru-RU" sz="2000" dirty="0"/>
              <a:t>n</a:t>
            </a:r>
            <a:r>
              <a:rPr lang="ru-RU" altLang="ru-RU" sz="2000" baseline="30000" dirty="0"/>
              <a:t>4</a:t>
            </a:r>
            <a:endParaRPr lang="ru-RU" altLang="ru-RU" sz="2000" dirty="0"/>
          </a:p>
          <a:p>
            <a:r>
              <a:rPr lang="ru-RU" altLang="ru-RU" sz="2000" dirty="0"/>
              <a:t>На входе </a:t>
            </a:r>
            <a:r>
              <a:rPr lang="en-US" altLang="ru-RU" sz="2000" dirty="0"/>
              <a:t>n</a:t>
            </a:r>
            <a:r>
              <a:rPr lang="ru-RU" altLang="ru-RU" sz="2000" dirty="0"/>
              <a:t>=186 почти одинаковое количество операций, при </a:t>
            </a:r>
            <a:r>
              <a:rPr lang="en-US" altLang="ru-RU" sz="2000" dirty="0"/>
              <a:t>n </a:t>
            </a:r>
            <a:r>
              <a:rPr lang="ru-RU" altLang="ru-RU" sz="2000" dirty="0"/>
              <a:t>&gt; 187, второй алгоритм выполняет большее количество операций.</a:t>
            </a:r>
            <a:endParaRPr lang="ru-RU" altLang="ru-RU" sz="2000" b="1" dirty="0">
              <a:solidFill>
                <a:srgbClr val="C00000"/>
              </a:solidFill>
            </a:endParaRPr>
          </a:p>
          <a:p>
            <a:pPr algn="just"/>
            <a:r>
              <a:rPr lang="ru-RU" altLang="ru-RU" sz="2000" i="1" dirty="0"/>
              <a:t>При входах малой длины все алгоритмы можно  считать эффективными.</a:t>
            </a:r>
          </a:p>
          <a:p>
            <a:pPr algn="just"/>
            <a:endParaRPr lang="ru-RU" altLang="ru-RU" sz="2000" i="1" dirty="0"/>
          </a:p>
          <a:p>
            <a:r>
              <a:rPr lang="ru-RU" sz="2000" dirty="0"/>
              <a:t>Задача анализа сложности алгоритма состоит в исследовании того, как меняется время работы при увеличении объема входных данных.</a:t>
            </a:r>
          </a:p>
          <a:p>
            <a:r>
              <a:rPr lang="ru-RU" sz="2000" dirty="0"/>
              <a:t>Поэтому временная сложность алгоритма определяется числовой функцией, соотносящей время работы алгоритма с размером задачи, т.е. показывающей  </a:t>
            </a:r>
            <a:r>
              <a:rPr lang="ru-RU" sz="2000" b="1" i="1" dirty="0"/>
              <a:t>зависимость числа операций</a:t>
            </a:r>
            <a:r>
              <a:rPr lang="ru-RU" sz="2000" dirty="0"/>
              <a:t> конкретного алгоритма от размера входных данных, </a:t>
            </a:r>
            <a:r>
              <a:rPr lang="ru-RU" sz="2000" b="1" i="1" dirty="0"/>
              <a:t>что дает возможность сравнить два алгоритма по скорости роста числа операций.</a:t>
            </a:r>
            <a:endParaRPr lang="ru-RU" sz="2000" dirty="0"/>
          </a:p>
          <a:p>
            <a:pPr algn="just"/>
            <a:r>
              <a:rPr lang="ru-RU" altLang="ru-RU" sz="2000" i="1" dirty="0"/>
              <a:t>Именно скорость роста играет ключевую роль, поскольку при небольшом размере входных данных алгоритм А на входе длины </a:t>
            </a:r>
            <a:r>
              <a:rPr lang="en-US" altLang="ru-RU" sz="2000" i="1" dirty="0"/>
              <a:t>n</a:t>
            </a:r>
            <a:r>
              <a:rPr lang="ru-RU" altLang="ru-RU" sz="2000" i="1" dirty="0"/>
              <a:t> может требовать меньшего количества операций, чем алгоритм В, но при росте объема входных данных ситуация может поменяться на противоположную.</a:t>
            </a:r>
            <a:endParaRPr lang="ru-RU" altLang="ru-RU" sz="2000" b="1" i="1" dirty="0"/>
          </a:p>
        </p:txBody>
      </p:sp>
    </p:spTree>
    <p:extLst>
      <p:ext uri="{BB962C8B-B14F-4D97-AF65-F5344CB8AC3E}">
        <p14:creationId xmlns:p14="http://schemas.microsoft.com/office/powerpoint/2010/main" val="3513395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одержимое 3"/>
          <p:cNvSpPr>
            <a:spLocks noGrp="1"/>
          </p:cNvSpPr>
          <p:nvPr>
            <p:ph idx="1"/>
          </p:nvPr>
        </p:nvSpPr>
        <p:spPr>
          <a:xfrm>
            <a:off x="1585823" y="248195"/>
            <a:ext cx="8785225" cy="6002883"/>
          </a:xfrm>
        </p:spPr>
        <p:txBody>
          <a:bodyPr/>
          <a:lstStyle/>
          <a:p>
            <a:pPr indent="0">
              <a:buNone/>
              <a:defRPr/>
            </a:pPr>
            <a:r>
              <a:rPr lang="ru-RU" sz="2600" b="1" dirty="0"/>
              <a:t>Размер входа определяется для каждого типа задач индивидуально. </a:t>
            </a:r>
          </a:p>
          <a:p>
            <a:pPr marL="72000" indent="0">
              <a:buNone/>
              <a:defRPr/>
            </a:pPr>
            <a:r>
              <a:rPr lang="ru-RU" sz="2600" dirty="0"/>
              <a:t>1) в задачах обработки одномерных массивов размером входа принято считать количество элементов в массиве;</a:t>
            </a:r>
          </a:p>
          <a:p>
            <a:pPr marL="72000" indent="0">
              <a:buNone/>
              <a:defRPr/>
            </a:pPr>
            <a:r>
              <a:rPr lang="ru-RU" sz="2600" dirty="0"/>
              <a:t>2) в задачах обработки двумерных массивов размером входа так же является количество элементов в массиве;</a:t>
            </a:r>
          </a:p>
          <a:p>
            <a:pPr marL="72000" indent="0">
              <a:buNone/>
              <a:defRPr/>
            </a:pPr>
            <a:r>
              <a:rPr lang="ru-RU" sz="2600" dirty="0"/>
              <a:t>3) в задачах обработки чисел (длинная арифметика, проверка на простоту и т.д.) более естественно считать размером общее число битов, необходимое для представления данных в памяти компьютера;</a:t>
            </a:r>
          </a:p>
          <a:p>
            <a:pPr marL="72000" indent="0">
              <a:buNone/>
              <a:defRPr/>
            </a:pPr>
            <a:r>
              <a:rPr lang="ru-RU" sz="2600" dirty="0"/>
              <a:t>4) в задачах обработки графов разумно за размер входа принять количество вершин графа, а иногда представить двумя значениями: число вершин и число ребер графа.</a:t>
            </a:r>
            <a:endParaRPr lang="ru-RU" sz="2600" dirty="0">
              <a:solidFill>
                <a:srgbClr val="FF0000"/>
              </a:solidFill>
            </a:endParaRPr>
          </a:p>
          <a:p>
            <a:pPr>
              <a:defRPr/>
            </a:pPr>
            <a:endParaRPr lang="ru-RU" dirty="0"/>
          </a:p>
        </p:txBody>
      </p:sp>
    </p:spTree>
    <p:extLst>
      <p:ext uri="{BB962C8B-B14F-4D97-AF65-F5344CB8AC3E}">
        <p14:creationId xmlns:p14="http://schemas.microsoft.com/office/powerpoint/2010/main" val="2163227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1"/>
          <p:cNvSpPr txBox="1">
            <a:spLocks noChangeArrowheads="1"/>
          </p:cNvSpPr>
          <p:nvPr/>
        </p:nvSpPr>
        <p:spPr bwMode="auto">
          <a:xfrm>
            <a:off x="1738314" y="500065"/>
            <a:ext cx="8715375" cy="6266496"/>
          </a:xfrm>
          <a:prstGeom prst="rect">
            <a:avLst/>
          </a:prstGeom>
          <a:noFill/>
          <a:ln w="9525">
            <a:noFill/>
            <a:round/>
            <a:headEnd/>
            <a:tailEnd/>
          </a:ln>
        </p:spPr>
        <p:txBody>
          <a:bodyPr/>
          <a:lstStyle/>
          <a:p>
            <a:pPr marL="341313" indent="-341313">
              <a:spcBef>
                <a:spcPts val="65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000" dirty="0">
                <a:solidFill>
                  <a:srgbClr val="000000"/>
                </a:solidFill>
                <a:latin typeface="Calibri" pitchFamily="34" charset="0"/>
              </a:rPr>
              <a:t>Конкретная проблема задается N словами памяти по </a:t>
            </a:r>
            <a:r>
              <a:rPr lang="ru-RU" altLang="ru-RU" sz="2000" dirty="0">
                <a:solidFill>
                  <a:srgbClr val="000000"/>
                </a:solidFill>
                <a:latin typeface="Calibri" pitchFamily="34" charset="0"/>
                <a:sym typeface="Symbol" pitchFamily="18" charset="2"/>
              </a:rPr>
              <a:t></a:t>
            </a:r>
            <a:r>
              <a:rPr lang="ru-RU" altLang="ru-RU" sz="2000" dirty="0">
                <a:solidFill>
                  <a:srgbClr val="000000"/>
                </a:solidFill>
                <a:latin typeface="Calibri" pitchFamily="34" charset="0"/>
              </a:rPr>
              <a:t> битов </a:t>
            </a:r>
            <a:r>
              <a:rPr lang="ru-RU" altLang="ru-RU" sz="2000" dirty="0">
                <a:latin typeface="Calibri" pitchFamily="34" charset="0"/>
              </a:rPr>
              <a:t>каждое </a:t>
            </a:r>
            <a:r>
              <a:rPr lang="ru-RU" altLang="ru-RU" sz="2000" dirty="0"/>
              <a:t>N</a:t>
            </a:r>
            <a:r>
              <a:rPr lang="ru-RU" altLang="ru-RU" sz="2000" baseline="-25000" dirty="0">
                <a:sym typeface="Symbol" pitchFamily="18" charset="2"/>
              </a:rPr>
              <a:t></a:t>
            </a:r>
            <a:r>
              <a:rPr lang="ru-RU" altLang="ru-RU" sz="2000" dirty="0"/>
              <a:t> = N*</a:t>
            </a:r>
            <a:r>
              <a:rPr lang="ru-RU" altLang="ru-RU" sz="2000" dirty="0">
                <a:sym typeface="Symbol" pitchFamily="18" charset="2"/>
              </a:rPr>
              <a:t></a:t>
            </a:r>
            <a:r>
              <a:rPr lang="ru-RU" altLang="ru-RU" sz="2000" dirty="0"/>
              <a:t> </a:t>
            </a:r>
            <a:endParaRPr lang="ru-RU" altLang="ru-RU" sz="2000" dirty="0">
              <a:latin typeface="Calibri" pitchFamily="34" charset="0"/>
            </a:endParaRPr>
          </a:p>
          <a:p>
            <a:pPr marL="341313" indent="-341313">
              <a:spcBef>
                <a:spcPts val="65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000" dirty="0">
                <a:solidFill>
                  <a:srgbClr val="000000"/>
                </a:solidFill>
                <a:latin typeface="Calibri" pitchFamily="34" charset="0"/>
              </a:rPr>
              <a:t>Программа, реализующая алгоритм состоит из М машинных инструкций по </a:t>
            </a:r>
            <a:r>
              <a:rPr lang="ru-RU" altLang="ru-RU" sz="2000" dirty="0">
                <a:solidFill>
                  <a:srgbClr val="000000"/>
                </a:solidFill>
                <a:latin typeface="Symbol" pitchFamily="18" charset="2"/>
              </a:rPr>
              <a:t></a:t>
            </a:r>
            <a:r>
              <a:rPr lang="ru-RU" altLang="ru-RU" sz="2000" dirty="0">
                <a:solidFill>
                  <a:srgbClr val="000000"/>
                </a:solidFill>
                <a:latin typeface="Calibri" pitchFamily="34" charset="0"/>
              </a:rPr>
              <a:t> битов – М</a:t>
            </a:r>
            <a:r>
              <a:rPr lang="ru-RU" altLang="ru-RU" sz="2000" baseline="-25000" dirty="0">
                <a:solidFill>
                  <a:srgbClr val="000000"/>
                </a:solidFill>
                <a:latin typeface="Symbol" pitchFamily="18" charset="2"/>
              </a:rPr>
              <a:t></a:t>
            </a:r>
            <a:r>
              <a:rPr lang="ru-RU" altLang="ru-RU" sz="2000" dirty="0">
                <a:solidFill>
                  <a:srgbClr val="000000"/>
                </a:solidFill>
                <a:latin typeface="Calibri" pitchFamily="34" charset="0"/>
              </a:rPr>
              <a:t> = М*</a:t>
            </a:r>
            <a:r>
              <a:rPr lang="ru-RU" altLang="ru-RU" sz="2000" dirty="0">
                <a:solidFill>
                  <a:srgbClr val="000000"/>
                </a:solidFill>
                <a:latin typeface="Symbol" pitchFamily="18" charset="2"/>
              </a:rPr>
              <a:t></a:t>
            </a:r>
            <a:r>
              <a:rPr lang="ru-RU" altLang="ru-RU" sz="2000" dirty="0">
                <a:solidFill>
                  <a:srgbClr val="000000"/>
                </a:solidFill>
                <a:latin typeface="Calibri" pitchFamily="34" charset="0"/>
              </a:rPr>
              <a:t> </a:t>
            </a:r>
          </a:p>
          <a:p>
            <a:pPr marL="341313" indent="-341313">
              <a:spcBef>
                <a:spcPts val="65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000" dirty="0" err="1">
                <a:solidFill>
                  <a:srgbClr val="000000"/>
                </a:solidFill>
                <a:latin typeface="Calibri" pitchFamily="34" charset="0"/>
              </a:rPr>
              <a:t>S</a:t>
            </a:r>
            <a:r>
              <a:rPr lang="ru-RU" altLang="ru-RU" sz="2000" baseline="-25000" dirty="0" err="1">
                <a:solidFill>
                  <a:srgbClr val="000000"/>
                </a:solidFill>
                <a:latin typeface="Calibri" pitchFamily="34" charset="0"/>
              </a:rPr>
              <a:t>d</a:t>
            </a:r>
            <a:r>
              <a:rPr lang="ru-RU" altLang="ru-RU" sz="2000" dirty="0">
                <a:solidFill>
                  <a:srgbClr val="000000"/>
                </a:solidFill>
                <a:latin typeface="Calibri" pitchFamily="34" charset="0"/>
              </a:rPr>
              <a:t> – память для хранения промежуточных результатов</a:t>
            </a:r>
          </a:p>
          <a:p>
            <a:pPr marL="341313" indent="-341313">
              <a:spcBef>
                <a:spcPts val="65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000" dirty="0" err="1">
                <a:solidFill>
                  <a:srgbClr val="000000"/>
                </a:solidFill>
                <a:latin typeface="Calibri" pitchFamily="34" charset="0"/>
              </a:rPr>
              <a:t>S</a:t>
            </a:r>
            <a:r>
              <a:rPr lang="ru-RU" altLang="ru-RU" sz="2000" baseline="-25000" dirty="0" err="1">
                <a:solidFill>
                  <a:srgbClr val="000000"/>
                </a:solidFill>
                <a:latin typeface="Calibri" pitchFamily="34" charset="0"/>
              </a:rPr>
              <a:t>r</a:t>
            </a:r>
            <a:r>
              <a:rPr lang="ru-RU" altLang="ru-RU" sz="2000" dirty="0">
                <a:solidFill>
                  <a:srgbClr val="000000"/>
                </a:solidFill>
                <a:latin typeface="Calibri" pitchFamily="34" charset="0"/>
              </a:rPr>
              <a:t> – память для организации вычислительного процесса</a:t>
            </a:r>
          </a:p>
          <a:p>
            <a:r>
              <a:rPr lang="ru-RU" altLang="ru-RU" sz="2000" b="1" i="1" dirty="0">
                <a:solidFill>
                  <a:srgbClr val="C00000"/>
                </a:solidFill>
                <a:latin typeface="Calibri" pitchFamily="34" charset="0"/>
              </a:rPr>
              <a:t>Трудоёмкость алгоритма</a:t>
            </a:r>
            <a:r>
              <a:rPr lang="ru-RU" altLang="ru-RU" sz="2000" dirty="0">
                <a:solidFill>
                  <a:srgbClr val="C00000"/>
                </a:solidFill>
                <a:latin typeface="Calibri" pitchFamily="34" charset="0"/>
              </a:rPr>
              <a:t> </a:t>
            </a:r>
            <a:r>
              <a:rPr lang="ru-RU" altLang="ru-RU" sz="2000" dirty="0">
                <a:solidFill>
                  <a:srgbClr val="000000"/>
                </a:solidFill>
                <a:latin typeface="Calibri" pitchFamily="34" charset="0"/>
              </a:rPr>
              <a:t>- количество «элементарных» операций совершаемых алгоритмом для решения конкретной проблемы</a:t>
            </a:r>
            <a:r>
              <a:rPr lang="ru-RU" dirty="0"/>
              <a:t>, заданной</a:t>
            </a:r>
          </a:p>
          <a:p>
            <a:r>
              <a:rPr lang="ru-RU" dirty="0"/>
              <a:t>N  + М +</a:t>
            </a:r>
            <a:r>
              <a:rPr lang="ru-RU" altLang="ru-RU" dirty="0">
                <a:solidFill>
                  <a:srgbClr val="000000"/>
                </a:solidFill>
                <a:latin typeface="Calibri" pitchFamily="34" charset="0"/>
              </a:rPr>
              <a:t> </a:t>
            </a:r>
            <a:r>
              <a:rPr lang="ru-RU" altLang="ru-RU" dirty="0" err="1">
                <a:solidFill>
                  <a:srgbClr val="000000"/>
                </a:solidFill>
                <a:latin typeface="Calibri" pitchFamily="34" charset="0"/>
              </a:rPr>
              <a:t>S</a:t>
            </a:r>
            <a:r>
              <a:rPr lang="ru-RU" altLang="ru-RU" baseline="-25000" dirty="0" err="1">
                <a:solidFill>
                  <a:srgbClr val="000000"/>
                </a:solidFill>
                <a:latin typeface="Calibri" pitchFamily="34" charset="0"/>
              </a:rPr>
              <a:t>d</a:t>
            </a:r>
            <a:r>
              <a:rPr lang="ru-RU" altLang="ru-RU" baseline="-25000" dirty="0">
                <a:solidFill>
                  <a:srgbClr val="000000"/>
                </a:solidFill>
                <a:latin typeface="Calibri" pitchFamily="34" charset="0"/>
              </a:rPr>
              <a:t> </a:t>
            </a:r>
            <a:r>
              <a:rPr lang="ru-RU" dirty="0"/>
              <a:t>+</a:t>
            </a:r>
            <a:r>
              <a:rPr lang="en-US" dirty="0"/>
              <a:t> </a:t>
            </a:r>
            <a:r>
              <a:rPr lang="ru-RU" altLang="ru-RU" dirty="0" err="1">
                <a:solidFill>
                  <a:srgbClr val="000000"/>
                </a:solidFill>
                <a:latin typeface="Calibri" pitchFamily="34" charset="0"/>
              </a:rPr>
              <a:t>S</a:t>
            </a:r>
            <a:r>
              <a:rPr lang="ru-RU" altLang="ru-RU" baseline="-25000" dirty="0" err="1">
                <a:solidFill>
                  <a:srgbClr val="000000"/>
                </a:solidFill>
                <a:latin typeface="Calibri" pitchFamily="34" charset="0"/>
              </a:rPr>
              <a:t>r</a:t>
            </a:r>
            <a:r>
              <a:rPr lang="ru-RU" altLang="ru-RU" baseline="-25000" dirty="0">
                <a:solidFill>
                  <a:srgbClr val="000000"/>
                </a:solidFill>
                <a:latin typeface="Calibri" pitchFamily="34" charset="0"/>
              </a:rPr>
              <a:t> </a:t>
            </a:r>
            <a:r>
              <a:rPr lang="en-US" altLang="ru-RU" baseline="-25000" dirty="0">
                <a:solidFill>
                  <a:srgbClr val="000000"/>
                </a:solidFill>
                <a:latin typeface="Calibri" pitchFamily="34" charset="0"/>
              </a:rPr>
              <a:t> </a:t>
            </a:r>
            <a:r>
              <a:rPr lang="ru-RU" dirty="0"/>
              <a:t>словами</a:t>
            </a:r>
            <a:r>
              <a:rPr lang="en-US" dirty="0"/>
              <a:t> </a:t>
            </a:r>
            <a:r>
              <a:rPr lang="ru-RU" dirty="0"/>
              <a:t>памяти</a:t>
            </a:r>
            <a:r>
              <a:rPr lang="en-US" altLang="ru-RU" sz="2000" dirty="0">
                <a:solidFill>
                  <a:srgbClr val="000000"/>
                </a:solidFill>
                <a:latin typeface="Calibri" pitchFamily="34" charset="0"/>
              </a:rPr>
              <a:t> </a:t>
            </a:r>
            <a:r>
              <a:rPr lang="ru-RU" altLang="ru-RU" sz="2000" dirty="0">
                <a:solidFill>
                  <a:srgbClr val="000000"/>
                </a:solidFill>
                <a:latin typeface="Calibri" pitchFamily="34" charset="0"/>
              </a:rPr>
              <a:t> в данной формальной системе.</a:t>
            </a: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000" b="1" i="1" dirty="0">
                <a:solidFill>
                  <a:srgbClr val="C00000"/>
                </a:solidFill>
                <a:latin typeface="Calibri" pitchFamily="34" charset="0"/>
              </a:rPr>
              <a:t>Функцией трудоемкости</a:t>
            </a:r>
            <a:r>
              <a:rPr lang="ru-RU" altLang="ru-RU" sz="2000" dirty="0">
                <a:solidFill>
                  <a:srgbClr val="C00000"/>
                </a:solidFill>
                <a:latin typeface="Calibri" pitchFamily="34" charset="0"/>
              </a:rPr>
              <a:t> </a:t>
            </a:r>
            <a:r>
              <a:rPr lang="en-US" altLang="ru-RU" sz="2000" dirty="0">
                <a:solidFill>
                  <a:srgbClr val="C00000"/>
                </a:solidFill>
                <a:latin typeface="Calibri" pitchFamily="34" charset="0"/>
              </a:rPr>
              <a:t>T</a:t>
            </a:r>
            <a:r>
              <a:rPr lang="en-US" altLang="ru-RU" sz="2000" b="1" baseline="-25000" dirty="0">
                <a:solidFill>
                  <a:srgbClr val="C00000"/>
                </a:solidFill>
                <a:latin typeface="Calibri" pitchFamily="34" charset="0"/>
              </a:rPr>
              <a:t>a</a:t>
            </a:r>
            <a:r>
              <a:rPr lang="ru-RU" altLang="ru-RU" sz="2000" b="1" dirty="0">
                <a:solidFill>
                  <a:srgbClr val="C00000"/>
                </a:solidFill>
                <a:latin typeface="Calibri" pitchFamily="34" charset="0"/>
              </a:rPr>
              <a:t> (N)</a:t>
            </a:r>
            <a:r>
              <a:rPr lang="ru-RU" altLang="ru-RU" sz="2000" b="1" i="1" dirty="0">
                <a:solidFill>
                  <a:srgbClr val="000000"/>
                </a:solidFill>
                <a:latin typeface="Calibri" pitchFamily="34" charset="0"/>
              </a:rPr>
              <a:t> </a:t>
            </a:r>
            <a:r>
              <a:rPr lang="ru-RU" altLang="ru-RU" sz="2000" dirty="0">
                <a:solidFill>
                  <a:srgbClr val="000000"/>
                </a:solidFill>
                <a:latin typeface="Calibri" pitchFamily="34" charset="0"/>
              </a:rPr>
              <a:t>называется отношение, связывающие входные данные алгоритма с количеством элементарных операций.</a:t>
            </a:r>
            <a:endParaRPr lang="en-US" altLang="ru-RU" sz="2000" dirty="0">
              <a:solidFill>
                <a:srgbClr val="000000"/>
              </a:solidFill>
              <a:latin typeface="Calibri" pitchFamily="34" charset="0"/>
            </a:endParaRP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t>	</a:t>
            </a:r>
            <a:r>
              <a:rPr lang="ru-RU" sz="2000" dirty="0"/>
              <a:t>Комплексный анализ алгоритма может быть выполнен на основе комплексной оценки ресурсов формальной системы, требуемых алгоритмом для решения конкретных проблем. Очевидно, что для различных областей применения веса ресурсов будут различны, что приводит к следующей комплексной оценке алгоритма:</a:t>
            </a:r>
            <a:endParaRPr lang="ru-RU" altLang="ru-RU" sz="2000" dirty="0">
              <a:solidFill>
                <a:srgbClr val="000000"/>
              </a:solidFill>
              <a:latin typeface="Calibri" pitchFamily="34" charset="0"/>
            </a:endParaRP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000" b="1" i="1" dirty="0">
                <a:solidFill>
                  <a:srgbClr val="C00000"/>
                </a:solidFill>
                <a:latin typeface="Calibri" pitchFamily="34" charset="0"/>
              </a:rPr>
              <a:t>Комплексная оценка алгоритма: </a:t>
            </a:r>
            <a:r>
              <a:rPr lang="ru-RU" altLang="ru-RU" sz="2000" b="1" i="1" dirty="0">
                <a:solidFill>
                  <a:srgbClr val="000000"/>
                </a:solidFill>
                <a:latin typeface="Calibri" pitchFamily="34" charset="0"/>
              </a:rPr>
              <a:t>(</a:t>
            </a:r>
            <a:r>
              <a:rPr lang="en-US" altLang="ru-RU" sz="2000" i="1" dirty="0">
                <a:solidFill>
                  <a:srgbClr val="000000"/>
                </a:solidFill>
                <a:latin typeface="Calibri" pitchFamily="34" charset="0"/>
              </a:rPr>
              <a:t>c</a:t>
            </a:r>
            <a:r>
              <a:rPr lang="en-US" altLang="ru-RU" sz="2000" i="1" baseline="-25000" dirty="0">
                <a:solidFill>
                  <a:srgbClr val="000000"/>
                </a:solidFill>
                <a:latin typeface="Calibri" pitchFamily="34" charset="0"/>
              </a:rPr>
              <a:t>i</a:t>
            </a:r>
            <a:r>
              <a:rPr lang="en-US" altLang="ru-RU" sz="2000" i="1" dirty="0">
                <a:solidFill>
                  <a:srgbClr val="000000"/>
                </a:solidFill>
                <a:latin typeface="Calibri" pitchFamily="34" charset="0"/>
              </a:rPr>
              <a:t> </a:t>
            </a:r>
            <a:r>
              <a:rPr lang="ru-RU" altLang="ru-RU" sz="2000" dirty="0">
                <a:solidFill>
                  <a:srgbClr val="000000"/>
                </a:solidFill>
                <a:latin typeface="Calibri" pitchFamily="34" charset="0"/>
              </a:rPr>
              <a:t>– веса ресурсов</a:t>
            </a:r>
            <a:r>
              <a:rPr lang="ru-RU" altLang="ru-RU" sz="2000" b="1" dirty="0">
                <a:solidFill>
                  <a:srgbClr val="000000"/>
                </a:solidFill>
                <a:latin typeface="Calibri" pitchFamily="34" charset="0"/>
              </a:rPr>
              <a:t>.</a:t>
            </a:r>
            <a:r>
              <a:rPr lang="ru-RU" altLang="ru-RU" sz="2000" b="1" i="1" dirty="0">
                <a:solidFill>
                  <a:srgbClr val="000000"/>
                </a:solidFill>
                <a:latin typeface="Calibri" pitchFamily="34" charset="0"/>
              </a:rPr>
              <a:t>)</a:t>
            </a: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000" i="1" dirty="0">
                <a:solidFill>
                  <a:srgbClr val="000000"/>
                </a:solidFill>
                <a:latin typeface="Calibri" pitchFamily="34" charset="0"/>
              </a:rPr>
              <a:t>	</a:t>
            </a:r>
            <a:r>
              <a:rPr lang="ru-RU" altLang="ru-RU" sz="2000" i="1" dirty="0">
                <a:latin typeface="Calibri" pitchFamily="34" charset="0"/>
              </a:rPr>
              <a:t>	</a:t>
            </a:r>
            <a:r>
              <a:rPr lang="ru-RU" altLang="ru-RU" sz="2000" i="1" dirty="0">
                <a:sym typeface="Symbol" pitchFamily="18" charset="2"/>
              </a:rPr>
              <a:t></a:t>
            </a:r>
            <a:r>
              <a:rPr lang="ru-RU" altLang="ru-RU" sz="2000" i="1" baseline="-25000" dirty="0">
                <a:sym typeface="Symbol" pitchFamily="18" charset="2"/>
              </a:rPr>
              <a:t></a:t>
            </a:r>
            <a:r>
              <a:rPr lang="ru-RU" altLang="ru-RU" sz="2000" i="1" dirty="0">
                <a:sym typeface="Symbol" pitchFamily="18" charset="2"/>
              </a:rPr>
              <a:t></a:t>
            </a:r>
            <a:r>
              <a:rPr lang="ru-RU" altLang="ru-RU" sz="2000" i="1" dirty="0"/>
              <a:t>c</a:t>
            </a:r>
            <a:r>
              <a:rPr lang="ru-RU" altLang="ru-RU" sz="2000" i="1" baseline="-25000" dirty="0"/>
              <a:t>1</a:t>
            </a:r>
            <a:r>
              <a:rPr lang="ru-RU" altLang="ru-RU" sz="2000" i="1" dirty="0"/>
              <a:t> * </a:t>
            </a:r>
            <a:r>
              <a:rPr lang="en-US" altLang="ru-RU" sz="2000" i="1" dirty="0"/>
              <a:t>T</a:t>
            </a:r>
            <a:r>
              <a:rPr lang="ru-RU" altLang="ru-RU" sz="2000" i="1" baseline="-25000" dirty="0"/>
              <a:t>a</a:t>
            </a:r>
            <a:r>
              <a:rPr lang="ru-RU" altLang="ru-RU" sz="2000" i="1" dirty="0"/>
              <a:t>(</a:t>
            </a:r>
            <a:r>
              <a:rPr lang="en-US" altLang="ru-RU" sz="2000" i="1" dirty="0"/>
              <a:t>N</a:t>
            </a:r>
            <a:r>
              <a:rPr lang="ru-RU" altLang="ru-RU" sz="2000" i="1" dirty="0"/>
              <a:t>) + c</a:t>
            </a:r>
            <a:r>
              <a:rPr lang="en-US" altLang="ru-RU" sz="2000" i="1" baseline="-25000" dirty="0"/>
              <a:t>2</a:t>
            </a:r>
            <a:r>
              <a:rPr lang="en-US" altLang="ru-RU" sz="2000" i="1" dirty="0"/>
              <a:t>*N + </a:t>
            </a:r>
            <a:r>
              <a:rPr lang="ru-RU" altLang="ru-RU" sz="2000" i="1" dirty="0"/>
              <a:t>c</a:t>
            </a:r>
            <a:r>
              <a:rPr lang="en-US" altLang="ru-RU" sz="2000" i="1" baseline="-25000" dirty="0"/>
              <a:t>3</a:t>
            </a:r>
            <a:r>
              <a:rPr lang="ru-RU" altLang="ru-RU" sz="2000" i="1" baseline="-25000" dirty="0"/>
              <a:t> </a:t>
            </a:r>
            <a:r>
              <a:rPr lang="ru-RU" altLang="ru-RU" sz="2000" i="1" dirty="0"/>
              <a:t>* </a:t>
            </a:r>
            <a:r>
              <a:rPr lang="ru-RU" altLang="ru-RU" sz="2000" i="1" dirty="0">
                <a:sym typeface="Symbol" pitchFamily="18" charset="2"/>
              </a:rPr>
              <a:t></a:t>
            </a:r>
            <a:r>
              <a:rPr lang="ru-RU" altLang="ru-RU" sz="2000" i="1" dirty="0"/>
              <a:t> + c</a:t>
            </a:r>
            <a:r>
              <a:rPr lang="en-US" altLang="ru-RU" sz="2000" i="1" baseline="-25000" dirty="0"/>
              <a:t>4</a:t>
            </a:r>
            <a:r>
              <a:rPr lang="ru-RU" altLang="ru-RU" sz="2000" i="1" dirty="0"/>
              <a:t> * S</a:t>
            </a:r>
            <a:r>
              <a:rPr lang="en-US" altLang="ru-RU" sz="2000" i="1" baseline="-25000" dirty="0"/>
              <a:t>d</a:t>
            </a:r>
            <a:r>
              <a:rPr lang="ru-RU" altLang="ru-RU" sz="2000" i="1" dirty="0"/>
              <a:t> + c</a:t>
            </a:r>
            <a:r>
              <a:rPr lang="en-US" altLang="ru-RU" sz="2000" i="1" baseline="-25000" dirty="0"/>
              <a:t>5</a:t>
            </a:r>
            <a:r>
              <a:rPr lang="ru-RU" altLang="ru-RU" sz="2000" i="1" dirty="0"/>
              <a:t> * S</a:t>
            </a:r>
            <a:r>
              <a:rPr lang="en-US" altLang="ru-RU" sz="2000" i="1" baseline="-25000" dirty="0"/>
              <a:t>r</a:t>
            </a:r>
            <a:endParaRPr lang="ru-RU" altLang="ru-RU" sz="2000" b="1" dirty="0">
              <a:latin typeface="Calibri" pitchFamily="34" charset="0"/>
            </a:endParaRP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ru-RU" sz="2800" b="1" dirty="0">
              <a:solidFill>
                <a:srgbClr val="000000"/>
              </a:solidFill>
              <a:latin typeface="Calibri" pitchFamily="34" charset="0"/>
            </a:endParaRPr>
          </a:p>
        </p:txBody>
      </p:sp>
      <p:sp>
        <p:nvSpPr>
          <p:cNvPr id="87043" name="Text Box 2"/>
          <p:cNvSpPr txBox="1">
            <a:spLocks noChangeArrowheads="1"/>
          </p:cNvSpPr>
          <p:nvPr/>
        </p:nvSpPr>
        <p:spPr bwMode="auto">
          <a:xfrm>
            <a:off x="2063750" y="0"/>
            <a:ext cx="8229600" cy="546100"/>
          </a:xfrm>
          <a:prstGeom prst="rect">
            <a:avLst/>
          </a:prstGeom>
          <a:solidFill>
            <a:srgbClr val="C6D9F1"/>
          </a:solidFill>
          <a:ln w="9525">
            <a:noFill/>
            <a:round/>
            <a:headEnd/>
            <a:tailEnd/>
          </a:ln>
        </p:spPr>
        <p:txBody>
          <a:bodyPr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ru-RU" sz="2000" b="1" dirty="0">
                <a:latin typeface="Calibri" pitchFamily="34" charset="0"/>
              </a:rPr>
              <a:t>Формальное описание (</a:t>
            </a:r>
            <a:r>
              <a:rPr lang="ru-RU" altLang="ru-RU" sz="2000" b="1">
                <a:latin typeface="Calibri" pitchFamily="34" charset="0"/>
              </a:rPr>
              <a:t>комплексная оценка </a:t>
            </a:r>
            <a:r>
              <a:rPr lang="ru-RU" altLang="ru-RU" sz="2000" b="1" dirty="0">
                <a:latin typeface="Calibri" pitchFamily="34" charset="0"/>
              </a:rPr>
              <a:t>алгоритмов) </a:t>
            </a:r>
          </a:p>
        </p:txBody>
      </p:sp>
    </p:spTree>
    <p:extLst>
      <p:ext uri="{BB962C8B-B14F-4D97-AF65-F5344CB8AC3E}">
        <p14:creationId xmlns:p14="http://schemas.microsoft.com/office/powerpoint/2010/main" val="99722564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1"/>
          <p:cNvSpPr txBox="1">
            <a:spLocks noChangeArrowheads="1"/>
          </p:cNvSpPr>
          <p:nvPr/>
        </p:nvSpPr>
        <p:spPr bwMode="auto">
          <a:xfrm>
            <a:off x="1524000" y="1357314"/>
            <a:ext cx="9144000" cy="5500687"/>
          </a:xfrm>
          <a:prstGeom prst="rect">
            <a:avLst/>
          </a:prstGeom>
          <a:noFill/>
          <a:ln w="9525">
            <a:noFill/>
            <a:round/>
            <a:headEnd/>
            <a:tailEnd/>
          </a:ln>
        </p:spPr>
        <p:txBody>
          <a:bodyPr/>
          <a:lstStyle/>
          <a:p>
            <a:pPr marL="72000">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2800" dirty="0"/>
              <a:t>	</a:t>
            </a:r>
            <a:r>
              <a:rPr lang="ru-RU" sz="2800" dirty="0"/>
              <a:t>Не всегда количество элементарных операций, выполняемых алгоритмом на одном входе длины N, совпадает с количеством операций на другом входе такой же длины.</a:t>
            </a:r>
            <a:endParaRPr lang="en-US" altLang="ru-RU" sz="2800" dirty="0">
              <a:latin typeface="Calibri" pitchFamily="34" charset="0"/>
            </a:endParaRPr>
          </a:p>
          <a:p>
            <a:pPr marL="72000">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ru-RU" sz="2800" dirty="0">
                <a:solidFill>
                  <a:srgbClr val="000000"/>
                </a:solidFill>
                <a:latin typeface="Calibri" pitchFamily="34" charset="0"/>
              </a:rPr>
              <a:t>	</a:t>
            </a:r>
            <a:r>
              <a:rPr lang="ru-RU" altLang="ru-RU" sz="2800" dirty="0">
                <a:solidFill>
                  <a:srgbClr val="000000"/>
                </a:solidFill>
                <a:latin typeface="Calibri" pitchFamily="34" charset="0"/>
              </a:rPr>
              <a:t>Пусть </a:t>
            </a:r>
            <a:r>
              <a:rPr lang="ru-RU" altLang="ru-RU" sz="2800" i="1" dirty="0">
                <a:solidFill>
                  <a:srgbClr val="000000"/>
                </a:solidFill>
                <a:latin typeface="Calibri" pitchFamily="34" charset="0"/>
              </a:rPr>
              <a:t>D</a:t>
            </a:r>
            <a:r>
              <a:rPr lang="ru-RU" altLang="ru-RU" sz="2800" i="1" baseline="-25000" dirty="0">
                <a:solidFill>
                  <a:srgbClr val="000000"/>
                </a:solidFill>
                <a:latin typeface="Calibri" pitchFamily="34" charset="0"/>
              </a:rPr>
              <a:t>А</a:t>
            </a:r>
            <a:r>
              <a:rPr lang="ru-RU" altLang="ru-RU" sz="2800" dirty="0">
                <a:solidFill>
                  <a:srgbClr val="000000"/>
                </a:solidFill>
                <a:latin typeface="Calibri" pitchFamily="34" charset="0"/>
              </a:rPr>
              <a:t> – множество конкретных проблем данной задачи, заданное в формальной системе. Пусть </a:t>
            </a:r>
            <a:r>
              <a:rPr lang="ru-RU" altLang="ru-RU" sz="2800" i="1" dirty="0">
                <a:solidFill>
                  <a:srgbClr val="000000"/>
                </a:solidFill>
                <a:latin typeface="Calibri" pitchFamily="34" charset="0"/>
              </a:rPr>
              <a:t>D </a:t>
            </a:r>
            <a:r>
              <a:rPr lang="ru-RU" altLang="ru-RU" sz="2800" i="1" dirty="0">
                <a:solidFill>
                  <a:srgbClr val="000000"/>
                </a:solidFill>
                <a:latin typeface="Symbol" pitchFamily="18" charset="2"/>
              </a:rPr>
              <a:t></a:t>
            </a:r>
            <a:r>
              <a:rPr lang="ru-RU" altLang="ru-RU" sz="2800" i="1" dirty="0">
                <a:solidFill>
                  <a:srgbClr val="000000"/>
                </a:solidFill>
                <a:latin typeface="Calibri" pitchFamily="34" charset="0"/>
              </a:rPr>
              <a:t> D</a:t>
            </a:r>
            <a:r>
              <a:rPr lang="ru-RU" altLang="ru-RU" sz="2800" i="1" baseline="-25000" dirty="0">
                <a:solidFill>
                  <a:srgbClr val="000000"/>
                </a:solidFill>
                <a:latin typeface="Calibri" pitchFamily="34" charset="0"/>
              </a:rPr>
              <a:t>А</a:t>
            </a:r>
            <a:r>
              <a:rPr lang="ru-RU" altLang="ru-RU" sz="2800" dirty="0">
                <a:solidFill>
                  <a:srgbClr val="000000"/>
                </a:solidFill>
                <a:latin typeface="Calibri" pitchFamily="34" charset="0"/>
              </a:rPr>
              <a:t> –конкретная проблема и |D|</a:t>
            </a:r>
            <a:r>
              <a:rPr lang="ru-RU" altLang="ru-RU" sz="2800" i="1" dirty="0">
                <a:solidFill>
                  <a:srgbClr val="000000"/>
                </a:solidFill>
                <a:latin typeface="Calibri" pitchFamily="34" charset="0"/>
              </a:rPr>
              <a:t> = </a:t>
            </a:r>
            <a:r>
              <a:rPr lang="en-US" altLang="ru-RU" sz="2800" i="1" dirty="0">
                <a:solidFill>
                  <a:srgbClr val="000000"/>
                </a:solidFill>
                <a:latin typeface="Calibri" pitchFamily="34" charset="0"/>
              </a:rPr>
              <a:t>N</a:t>
            </a:r>
            <a:r>
              <a:rPr lang="ru-RU" altLang="ru-RU" sz="2800" dirty="0">
                <a:solidFill>
                  <a:srgbClr val="000000"/>
                </a:solidFill>
                <a:latin typeface="Calibri" pitchFamily="34" charset="0"/>
              </a:rPr>
              <a:t>.</a:t>
            </a:r>
          </a:p>
          <a:p>
            <a:pPr marL="72000">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ru-RU" sz="2800" dirty="0">
                <a:solidFill>
                  <a:srgbClr val="000000"/>
                </a:solidFill>
                <a:latin typeface="Calibri" pitchFamily="34" charset="0"/>
              </a:rPr>
              <a:t>	</a:t>
            </a:r>
            <a:r>
              <a:rPr lang="ru-RU" altLang="ru-RU" sz="2800" dirty="0">
                <a:solidFill>
                  <a:srgbClr val="000000"/>
                </a:solidFill>
                <a:latin typeface="Calibri" pitchFamily="34" charset="0"/>
              </a:rPr>
              <a:t>Обозначим подмножество множества </a:t>
            </a:r>
            <a:r>
              <a:rPr lang="ru-RU" altLang="ru-RU" sz="2800" i="1" dirty="0">
                <a:solidFill>
                  <a:srgbClr val="000000"/>
                </a:solidFill>
                <a:latin typeface="Calibri" pitchFamily="34" charset="0"/>
              </a:rPr>
              <a:t>D</a:t>
            </a:r>
            <a:r>
              <a:rPr lang="ru-RU" altLang="ru-RU" sz="2800" i="1" baseline="-25000" dirty="0">
                <a:solidFill>
                  <a:srgbClr val="000000"/>
                </a:solidFill>
                <a:latin typeface="Calibri" pitchFamily="34" charset="0"/>
              </a:rPr>
              <a:t>А</a:t>
            </a:r>
            <a:r>
              <a:rPr lang="ru-RU" altLang="ru-RU" sz="2800" dirty="0">
                <a:solidFill>
                  <a:srgbClr val="000000"/>
                </a:solidFill>
                <a:latin typeface="Calibri" pitchFamily="34" charset="0"/>
              </a:rPr>
              <a:t>, включающее все конкретные проблемы, имеющие мощность </a:t>
            </a:r>
            <a:r>
              <a:rPr lang="en-US" altLang="ru-RU" sz="2800" i="1" dirty="0">
                <a:solidFill>
                  <a:srgbClr val="000000"/>
                </a:solidFill>
                <a:latin typeface="Calibri" pitchFamily="34" charset="0"/>
              </a:rPr>
              <a:t>N </a:t>
            </a:r>
            <a:r>
              <a:rPr lang="ru-RU" altLang="ru-RU" sz="2800" dirty="0">
                <a:solidFill>
                  <a:srgbClr val="000000"/>
                </a:solidFill>
                <a:latin typeface="Calibri" pitchFamily="34" charset="0"/>
              </a:rPr>
              <a:t>через </a:t>
            </a:r>
            <a:r>
              <a:rPr lang="ru-RU" altLang="ru-RU" sz="2800" i="1" dirty="0">
                <a:solidFill>
                  <a:srgbClr val="000000"/>
                </a:solidFill>
                <a:latin typeface="Calibri" pitchFamily="34" charset="0"/>
              </a:rPr>
              <a:t>D</a:t>
            </a:r>
            <a:r>
              <a:rPr lang="ru-RU" altLang="ru-RU" sz="2800" i="1" baseline="-25000" dirty="0">
                <a:solidFill>
                  <a:srgbClr val="000000"/>
                </a:solidFill>
                <a:latin typeface="Calibri" pitchFamily="34" charset="0"/>
              </a:rPr>
              <a:t>N</a:t>
            </a:r>
            <a:r>
              <a:rPr lang="ru-RU" altLang="ru-RU" sz="2800" i="1" dirty="0">
                <a:solidFill>
                  <a:srgbClr val="000000"/>
                </a:solidFill>
                <a:latin typeface="Calibri" pitchFamily="34" charset="0"/>
              </a:rPr>
              <a:t>: 	D</a:t>
            </a:r>
            <a:r>
              <a:rPr lang="ru-RU" altLang="ru-RU" sz="2800" i="1" baseline="-25000" dirty="0">
                <a:solidFill>
                  <a:srgbClr val="000000"/>
                </a:solidFill>
                <a:latin typeface="Calibri" pitchFamily="34" charset="0"/>
              </a:rPr>
              <a:t>N</a:t>
            </a:r>
            <a:r>
              <a:rPr lang="ru-RU" altLang="ru-RU" sz="2800" i="1" dirty="0">
                <a:solidFill>
                  <a:srgbClr val="000000"/>
                </a:solidFill>
                <a:latin typeface="Calibri" pitchFamily="34" charset="0"/>
              </a:rPr>
              <a:t> = {D</a:t>
            </a:r>
            <a:r>
              <a:rPr lang="ru-RU" altLang="ru-RU" sz="2800" i="1" dirty="0">
                <a:solidFill>
                  <a:srgbClr val="000000"/>
                </a:solidFill>
                <a:latin typeface="Symbol" pitchFamily="18" charset="2"/>
              </a:rPr>
              <a:t></a:t>
            </a:r>
            <a:r>
              <a:rPr lang="ru-RU" altLang="ru-RU" sz="2800" i="1" dirty="0">
                <a:solidFill>
                  <a:srgbClr val="000000"/>
                </a:solidFill>
                <a:latin typeface="Calibri" pitchFamily="34" charset="0"/>
              </a:rPr>
              <a:t> D</a:t>
            </a:r>
            <a:r>
              <a:rPr lang="ru-RU" altLang="ru-RU" sz="2800" i="1" baseline="-25000" dirty="0">
                <a:solidFill>
                  <a:srgbClr val="000000"/>
                </a:solidFill>
                <a:latin typeface="Calibri" pitchFamily="34" charset="0"/>
              </a:rPr>
              <a:t>N</a:t>
            </a:r>
            <a:r>
              <a:rPr lang="ru-RU" altLang="ru-RU" sz="2800" i="1" dirty="0">
                <a:solidFill>
                  <a:srgbClr val="000000"/>
                </a:solidFill>
                <a:latin typeface="Calibri" pitchFamily="34" charset="0"/>
              </a:rPr>
              <a:t>,: </a:t>
            </a:r>
            <a:r>
              <a:rPr lang="ru-RU" altLang="ru-RU" sz="2800" dirty="0">
                <a:solidFill>
                  <a:srgbClr val="000000"/>
                </a:solidFill>
                <a:latin typeface="Calibri" pitchFamily="34" charset="0"/>
              </a:rPr>
              <a:t>|D|</a:t>
            </a:r>
            <a:r>
              <a:rPr lang="ru-RU" altLang="ru-RU" sz="2800" i="1" dirty="0">
                <a:solidFill>
                  <a:srgbClr val="000000"/>
                </a:solidFill>
                <a:latin typeface="Calibri" pitchFamily="34" charset="0"/>
              </a:rPr>
              <a:t> = </a:t>
            </a:r>
            <a:r>
              <a:rPr lang="en-US" altLang="ru-RU" sz="2800" i="1" dirty="0">
                <a:solidFill>
                  <a:srgbClr val="000000"/>
                </a:solidFill>
                <a:latin typeface="Calibri" pitchFamily="34" charset="0"/>
              </a:rPr>
              <a:t>N</a:t>
            </a:r>
            <a:r>
              <a:rPr lang="ru-RU" altLang="ru-RU" sz="2800" i="1" dirty="0">
                <a:solidFill>
                  <a:srgbClr val="000000"/>
                </a:solidFill>
                <a:latin typeface="Calibri" pitchFamily="34" charset="0"/>
              </a:rPr>
              <a:t>} </a:t>
            </a:r>
            <a:r>
              <a:rPr lang="ru-RU" altLang="ru-RU" sz="2800" dirty="0">
                <a:solidFill>
                  <a:srgbClr val="000000"/>
                </a:solidFill>
                <a:latin typeface="Calibri" pitchFamily="34" charset="0"/>
              </a:rPr>
              <a:t>и</a:t>
            </a:r>
            <a:r>
              <a:rPr lang="ru-RU" altLang="ru-RU" sz="2800" i="1" dirty="0">
                <a:solidFill>
                  <a:srgbClr val="000000"/>
                </a:solidFill>
                <a:latin typeface="Calibri" pitchFamily="34" charset="0"/>
              </a:rPr>
              <a:t> </a:t>
            </a:r>
            <a:r>
              <a:rPr lang="ru-RU" altLang="ru-RU" sz="2800" dirty="0">
                <a:solidFill>
                  <a:srgbClr val="000000"/>
                </a:solidFill>
                <a:latin typeface="Calibri" pitchFamily="34" charset="0"/>
              </a:rPr>
              <a:t>мощность множества </a:t>
            </a:r>
            <a:r>
              <a:rPr lang="ru-RU" altLang="ru-RU" sz="2800" i="1" dirty="0">
                <a:solidFill>
                  <a:srgbClr val="000000"/>
                </a:solidFill>
                <a:latin typeface="Calibri" pitchFamily="34" charset="0"/>
              </a:rPr>
              <a:t>D</a:t>
            </a:r>
            <a:r>
              <a:rPr lang="ru-RU" altLang="ru-RU" sz="2800" i="1" baseline="-25000" dirty="0">
                <a:solidFill>
                  <a:srgbClr val="000000"/>
                </a:solidFill>
                <a:latin typeface="Calibri" pitchFamily="34" charset="0"/>
              </a:rPr>
              <a:t>N</a:t>
            </a:r>
            <a:r>
              <a:rPr lang="ru-RU" altLang="ru-RU" sz="2800" baseline="-25000" dirty="0">
                <a:solidFill>
                  <a:srgbClr val="000000"/>
                </a:solidFill>
                <a:latin typeface="Calibri" pitchFamily="34" charset="0"/>
              </a:rPr>
              <a:t>  </a:t>
            </a:r>
            <a:r>
              <a:rPr lang="ru-RU" altLang="ru-RU" sz="2800" dirty="0">
                <a:solidFill>
                  <a:srgbClr val="000000"/>
                </a:solidFill>
                <a:latin typeface="Calibri" pitchFamily="34" charset="0"/>
              </a:rPr>
              <a:t>через </a:t>
            </a:r>
            <a:r>
              <a:rPr lang="en-US" altLang="ru-RU" sz="2800" i="1" dirty="0">
                <a:solidFill>
                  <a:srgbClr val="000000"/>
                </a:solidFill>
                <a:latin typeface="Calibri" pitchFamily="34" charset="0"/>
              </a:rPr>
              <a:t>M</a:t>
            </a:r>
            <a:r>
              <a:rPr lang="en-US" altLang="ru-RU" sz="2800" i="1" baseline="-25000" dirty="0">
                <a:solidFill>
                  <a:srgbClr val="000000"/>
                </a:solidFill>
                <a:latin typeface="Calibri" pitchFamily="34" charset="0"/>
              </a:rPr>
              <a:t>DN</a:t>
            </a:r>
            <a:r>
              <a:rPr lang="ru-RU" altLang="ru-RU" sz="2800" i="1" dirty="0">
                <a:solidFill>
                  <a:srgbClr val="000000"/>
                </a:solidFill>
                <a:latin typeface="Calibri" pitchFamily="34" charset="0"/>
              </a:rPr>
              <a:t> = </a:t>
            </a:r>
            <a:r>
              <a:rPr lang="ru-RU" altLang="ru-RU" sz="2800" dirty="0">
                <a:solidFill>
                  <a:srgbClr val="000000"/>
                </a:solidFill>
                <a:latin typeface="Calibri" pitchFamily="34" charset="0"/>
              </a:rPr>
              <a:t>|D</a:t>
            </a:r>
            <a:r>
              <a:rPr lang="ru-RU" altLang="ru-RU" sz="2800" baseline="-25000" dirty="0">
                <a:solidFill>
                  <a:srgbClr val="000000"/>
                </a:solidFill>
                <a:latin typeface="Calibri" pitchFamily="34" charset="0"/>
              </a:rPr>
              <a:t>N</a:t>
            </a:r>
            <a:r>
              <a:rPr lang="ru-RU" altLang="ru-RU" sz="2800" dirty="0">
                <a:solidFill>
                  <a:srgbClr val="000000"/>
                </a:solidFill>
                <a:latin typeface="Calibri" pitchFamily="34" charset="0"/>
              </a:rPr>
              <a:t> |.</a:t>
            </a:r>
          </a:p>
          <a:p>
            <a:pPr marL="341313" indent="-341313">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ru-RU" altLang="ru-RU" sz="3200" i="1" dirty="0">
              <a:solidFill>
                <a:srgbClr val="000000"/>
              </a:solidFill>
              <a:latin typeface="Calibri" pitchFamily="34" charset="0"/>
            </a:endParaRPr>
          </a:p>
        </p:txBody>
      </p:sp>
      <p:sp>
        <p:nvSpPr>
          <p:cNvPr id="88067" name="Text Box 2"/>
          <p:cNvSpPr txBox="1">
            <a:spLocks noChangeArrowheads="1"/>
          </p:cNvSpPr>
          <p:nvPr/>
        </p:nvSpPr>
        <p:spPr bwMode="auto">
          <a:xfrm>
            <a:off x="1981200" y="188914"/>
            <a:ext cx="8229600" cy="936625"/>
          </a:xfrm>
          <a:prstGeom prst="rect">
            <a:avLst/>
          </a:prstGeom>
          <a:solidFill>
            <a:srgbClr val="C6D9F1"/>
          </a:solidFill>
          <a:ln w="9525">
            <a:noFill/>
            <a:round/>
            <a:headEnd/>
            <a:tailEnd/>
          </a:ln>
        </p:spPr>
        <p:txBody>
          <a:bodyPr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lang="ru-RU" altLang="ru-RU" sz="2800" b="1">
                <a:solidFill>
                  <a:srgbClr val="000000"/>
                </a:solidFill>
                <a:latin typeface="Calibri" pitchFamily="34" charset="0"/>
              </a:rPr>
            </a:br>
            <a:r>
              <a:rPr lang="ru-RU" altLang="ru-RU" sz="3200" b="1">
                <a:latin typeface="Calibri" pitchFamily="34" charset="0"/>
              </a:rPr>
              <a:t>Зависимость трудоемкости от входных данных</a:t>
            </a:r>
            <a:br>
              <a:rPr lang="ru-RU" altLang="ru-RU" sz="3600" b="1">
                <a:solidFill>
                  <a:srgbClr val="C00000"/>
                </a:solidFill>
                <a:latin typeface="Calibri" pitchFamily="34" charset="0"/>
              </a:rPr>
            </a:br>
            <a:endParaRPr lang="ru-RU" altLang="ru-RU" sz="3600" b="1">
              <a:solidFill>
                <a:srgbClr val="C00000"/>
              </a:solidFill>
              <a:latin typeface="Calibri" pitchFamily="34" charset="0"/>
            </a:endParaRPr>
          </a:p>
        </p:txBody>
      </p:sp>
    </p:spTree>
    <p:extLst>
      <p:ext uri="{BB962C8B-B14F-4D97-AF65-F5344CB8AC3E}">
        <p14:creationId xmlns:p14="http://schemas.microsoft.com/office/powerpoint/2010/main" val="321312544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3"/>
          <p:cNvPicPr>
            <a:picLocks noChangeAspect="1" noChangeArrowheads="1"/>
          </p:cNvPicPr>
          <p:nvPr/>
        </p:nvPicPr>
        <p:blipFill>
          <a:blip r:embed="rId3" cstate="print"/>
          <a:srcRect/>
          <a:stretch>
            <a:fillRect/>
          </a:stretch>
        </p:blipFill>
        <p:spPr bwMode="auto">
          <a:xfrm>
            <a:off x="1847850" y="260350"/>
            <a:ext cx="8451850" cy="3492500"/>
          </a:xfrm>
          <a:prstGeom prst="rect">
            <a:avLst/>
          </a:prstGeom>
          <a:noFill/>
          <a:ln w="9525">
            <a:noFill/>
            <a:miter lim="800000"/>
            <a:headEnd/>
            <a:tailEnd/>
          </a:ln>
        </p:spPr>
      </p:pic>
      <p:sp>
        <p:nvSpPr>
          <p:cNvPr id="89091" name="Прямоугольник 3"/>
          <p:cNvSpPr>
            <a:spLocks noChangeArrowheads="1"/>
          </p:cNvSpPr>
          <p:nvPr/>
        </p:nvSpPr>
        <p:spPr bwMode="auto">
          <a:xfrm>
            <a:off x="1703389" y="4005263"/>
            <a:ext cx="8785225" cy="1569660"/>
          </a:xfrm>
          <a:prstGeom prst="rect">
            <a:avLst/>
          </a:prstGeom>
          <a:noFill/>
          <a:ln w="9525">
            <a:noFill/>
            <a:miter lim="800000"/>
            <a:headEnd/>
            <a:tailEnd/>
          </a:ln>
        </p:spPr>
        <p:txBody>
          <a:bodyPr>
            <a:spAutoFit/>
          </a:bodyPr>
          <a:lstStyle/>
          <a:p>
            <a:r>
              <a:rPr lang="ru-RU" sz="1600"/>
              <a:t>Для нахождения среднего значения, сначала определяются всевозможные группы, на которые следует разбить входные данные так, чтобы время работы алгоритма на всех данных одной группы было одинаковым. Затем подсчитывается время работы алгоритма на данных из каждой группы и определяется вероятность, с которой входной набор данных принадлежит каждой группе. Среднее время вычисляется как сумма (по всем группам) произведений вероятностей того, что входные данные принадлежат данной группе на время обработки данных этой группы.</a:t>
            </a:r>
          </a:p>
        </p:txBody>
      </p:sp>
      <p:pic>
        <p:nvPicPr>
          <p:cNvPr id="89092" name="Picture 6"/>
          <p:cNvPicPr>
            <a:picLocks noChangeAspect="1" noChangeArrowheads="1"/>
          </p:cNvPicPr>
          <p:nvPr/>
        </p:nvPicPr>
        <p:blipFill>
          <a:blip r:embed="rId4" cstate="print"/>
          <a:srcRect/>
          <a:stretch>
            <a:fillRect/>
          </a:stretch>
        </p:blipFill>
        <p:spPr bwMode="auto">
          <a:xfrm>
            <a:off x="3575050" y="5949950"/>
            <a:ext cx="4757738" cy="503238"/>
          </a:xfrm>
          <a:prstGeom prst="rect">
            <a:avLst/>
          </a:prstGeom>
          <a:noFill/>
          <a:ln w="9525">
            <a:noFill/>
            <a:miter lim="800000"/>
            <a:headEnd/>
            <a:tailEnd/>
          </a:ln>
        </p:spPr>
      </p:pic>
    </p:spTree>
    <p:extLst>
      <p:ext uri="{BB962C8B-B14F-4D97-AF65-F5344CB8AC3E}">
        <p14:creationId xmlns:p14="http://schemas.microsoft.com/office/powerpoint/2010/main" val="77107150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1"/>
          <p:cNvSpPr txBox="1">
            <a:spLocks noChangeArrowheads="1"/>
          </p:cNvSpPr>
          <p:nvPr/>
        </p:nvSpPr>
        <p:spPr bwMode="auto">
          <a:xfrm>
            <a:off x="1738314" y="1000125"/>
            <a:ext cx="8715375" cy="5439864"/>
          </a:xfrm>
          <a:prstGeom prst="rect">
            <a:avLst/>
          </a:prstGeom>
          <a:noFill/>
          <a:ln w="9525">
            <a:noFill/>
            <a:round/>
            <a:headEnd/>
            <a:tailEnd/>
          </a:ln>
        </p:spPr>
        <p:txBody>
          <a:bodyPr/>
          <a:lstStyle/>
          <a:p>
            <a:pPr marL="341313" indent="-341313">
              <a:spcBef>
                <a:spcPts val="7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b="1" i="1" dirty="0">
                <a:solidFill>
                  <a:srgbClr val="000000"/>
                </a:solidFill>
                <a:latin typeface="Calibri" pitchFamily="34" charset="0"/>
              </a:rPr>
              <a:t>1. Количественно-зависимые</a:t>
            </a: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	Это алгоритмы, функция трудоемкости которых зависит только от размерности конкретного входа, и не зависит от конкретных значений:</a:t>
            </a: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	</a:t>
            </a:r>
            <a:r>
              <a:rPr lang="en-US" altLang="ru-RU" sz="2200" dirty="0">
                <a:solidFill>
                  <a:srgbClr val="000000"/>
                </a:solidFill>
                <a:latin typeface="Calibri" pitchFamily="34" charset="0"/>
              </a:rPr>
              <a:t>T</a:t>
            </a:r>
            <a:r>
              <a:rPr lang="ru-RU" altLang="ru-RU" sz="2200" baseline="-25000" dirty="0">
                <a:solidFill>
                  <a:srgbClr val="000000"/>
                </a:solidFill>
                <a:latin typeface="Calibri" pitchFamily="34" charset="0"/>
              </a:rPr>
              <a:t>a</a:t>
            </a:r>
            <a:r>
              <a:rPr lang="ru-RU" altLang="ru-RU" sz="2200" dirty="0">
                <a:solidFill>
                  <a:srgbClr val="000000"/>
                </a:solidFill>
                <a:latin typeface="Calibri" pitchFamily="34" charset="0"/>
              </a:rPr>
              <a:t> (D) = </a:t>
            </a:r>
            <a:r>
              <a:rPr lang="en-US" altLang="ru-RU" sz="2200" dirty="0">
                <a:solidFill>
                  <a:srgbClr val="000000"/>
                </a:solidFill>
                <a:latin typeface="Calibri" pitchFamily="34" charset="0"/>
              </a:rPr>
              <a:t>T</a:t>
            </a:r>
            <a:r>
              <a:rPr lang="ru-RU" altLang="ru-RU" sz="2200" baseline="-25000" dirty="0">
                <a:solidFill>
                  <a:srgbClr val="000000"/>
                </a:solidFill>
                <a:latin typeface="Calibri" pitchFamily="34" charset="0"/>
              </a:rPr>
              <a:t>a</a:t>
            </a:r>
            <a:r>
              <a:rPr lang="ru-RU" altLang="ru-RU" sz="2200" dirty="0">
                <a:solidFill>
                  <a:srgbClr val="000000"/>
                </a:solidFill>
                <a:latin typeface="Calibri" pitchFamily="34" charset="0"/>
              </a:rPr>
              <a:t> (|D|) = </a:t>
            </a:r>
            <a:r>
              <a:rPr lang="en-US" altLang="ru-RU" sz="2200" dirty="0">
                <a:solidFill>
                  <a:srgbClr val="000000"/>
                </a:solidFill>
                <a:latin typeface="Calibri" pitchFamily="34" charset="0"/>
              </a:rPr>
              <a:t>T</a:t>
            </a:r>
            <a:r>
              <a:rPr lang="ru-RU" altLang="ru-RU" sz="2200" baseline="-25000" dirty="0">
                <a:solidFill>
                  <a:srgbClr val="000000"/>
                </a:solidFill>
                <a:latin typeface="Calibri" pitchFamily="34" charset="0"/>
              </a:rPr>
              <a:t>a</a:t>
            </a:r>
            <a:r>
              <a:rPr lang="ru-RU" altLang="ru-RU" sz="2200" dirty="0">
                <a:solidFill>
                  <a:srgbClr val="000000"/>
                </a:solidFill>
                <a:latin typeface="Calibri" pitchFamily="34" charset="0"/>
              </a:rPr>
              <a:t> (</a:t>
            </a:r>
            <a:r>
              <a:rPr lang="en-US" altLang="ru-RU" sz="2200" dirty="0">
                <a:solidFill>
                  <a:srgbClr val="000000"/>
                </a:solidFill>
                <a:latin typeface="Calibri" pitchFamily="34" charset="0"/>
              </a:rPr>
              <a:t>N</a:t>
            </a:r>
            <a:r>
              <a:rPr lang="ru-RU" altLang="ru-RU" sz="2200" dirty="0">
                <a:solidFill>
                  <a:srgbClr val="000000"/>
                </a:solidFill>
                <a:latin typeface="Calibri" pitchFamily="34" charset="0"/>
              </a:rPr>
              <a:t>)</a:t>
            </a: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b="1" dirty="0">
                <a:solidFill>
                  <a:srgbClr val="000000"/>
                </a:solidFill>
                <a:latin typeface="Calibri" pitchFamily="34" charset="0"/>
              </a:rPr>
              <a:t>Пример: </a:t>
            </a:r>
            <a:r>
              <a:rPr lang="ru-RU" altLang="ru-RU" sz="2200" dirty="0">
                <a:solidFill>
                  <a:srgbClr val="000000"/>
                </a:solidFill>
                <a:latin typeface="Calibri" pitchFamily="34" charset="0"/>
              </a:rPr>
              <a:t>умножение матриц</a:t>
            </a:r>
          </a:p>
          <a:p>
            <a:pPr marL="341313" indent="-341313">
              <a:spcBef>
                <a:spcPts val="7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b="1" i="1" dirty="0">
                <a:solidFill>
                  <a:srgbClr val="000000"/>
                </a:solidFill>
                <a:latin typeface="Calibri" pitchFamily="34" charset="0"/>
              </a:rPr>
              <a:t>2.Параметрически-зависимые</a:t>
            </a: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	Это алгоритмы, трудоемкость которых определяется конкретными значениями обрабатываемых слов памяти:</a:t>
            </a: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i="1" dirty="0">
                <a:solidFill>
                  <a:srgbClr val="000000"/>
                </a:solidFill>
                <a:latin typeface="Calibri" pitchFamily="34" charset="0"/>
              </a:rPr>
              <a:t>	</a:t>
            </a:r>
            <a:r>
              <a:rPr lang="en-US" altLang="ru-RU" sz="2200" i="1" dirty="0">
                <a:solidFill>
                  <a:srgbClr val="000000"/>
                </a:solidFill>
                <a:latin typeface="Calibri" pitchFamily="34" charset="0"/>
              </a:rPr>
              <a:t>T</a:t>
            </a:r>
            <a:r>
              <a:rPr lang="en-US" altLang="ru-RU" sz="2200" i="1" baseline="-25000" dirty="0">
                <a:solidFill>
                  <a:srgbClr val="000000"/>
                </a:solidFill>
                <a:latin typeface="Calibri" pitchFamily="34" charset="0"/>
              </a:rPr>
              <a:t>a</a:t>
            </a:r>
            <a:r>
              <a:rPr lang="en-US" altLang="ru-RU" sz="2200" i="1" dirty="0">
                <a:solidFill>
                  <a:srgbClr val="000000"/>
                </a:solidFill>
                <a:latin typeface="Calibri" pitchFamily="34" charset="0"/>
              </a:rPr>
              <a:t> (D) = T</a:t>
            </a:r>
            <a:r>
              <a:rPr lang="en-US" altLang="ru-RU" sz="2200" i="1" baseline="-25000" dirty="0">
                <a:solidFill>
                  <a:srgbClr val="000000"/>
                </a:solidFill>
                <a:latin typeface="Calibri" pitchFamily="34" charset="0"/>
              </a:rPr>
              <a:t>a</a:t>
            </a:r>
            <a:r>
              <a:rPr lang="en-US" altLang="ru-RU" sz="2200" i="1" dirty="0">
                <a:solidFill>
                  <a:srgbClr val="000000"/>
                </a:solidFill>
                <a:latin typeface="Calibri" pitchFamily="34" charset="0"/>
              </a:rPr>
              <a:t> (d</a:t>
            </a:r>
            <a:r>
              <a:rPr lang="en-US" altLang="ru-RU" sz="2200" i="1" baseline="-25000" dirty="0">
                <a:solidFill>
                  <a:srgbClr val="000000"/>
                </a:solidFill>
                <a:latin typeface="Calibri" pitchFamily="34" charset="0"/>
              </a:rPr>
              <a:t>1</a:t>
            </a:r>
            <a:r>
              <a:rPr lang="en-US" altLang="ru-RU" sz="2200" i="1" dirty="0">
                <a:solidFill>
                  <a:srgbClr val="000000"/>
                </a:solidFill>
                <a:latin typeface="Calibri" pitchFamily="34" charset="0"/>
              </a:rPr>
              <a:t>,…,</a:t>
            </a:r>
            <a:r>
              <a:rPr lang="en-US" altLang="ru-RU" sz="2200" i="1" dirty="0" err="1">
                <a:solidFill>
                  <a:srgbClr val="000000"/>
                </a:solidFill>
                <a:latin typeface="Calibri" pitchFamily="34" charset="0"/>
              </a:rPr>
              <a:t>d</a:t>
            </a:r>
            <a:r>
              <a:rPr lang="en-US" altLang="ru-RU" sz="2200" i="1" baseline="-25000" dirty="0" err="1">
                <a:solidFill>
                  <a:srgbClr val="000000"/>
                </a:solidFill>
                <a:latin typeface="Calibri" pitchFamily="34" charset="0"/>
              </a:rPr>
              <a:t>n</a:t>
            </a:r>
            <a:r>
              <a:rPr lang="en-US" altLang="ru-RU" sz="2200" i="1" dirty="0">
                <a:solidFill>
                  <a:srgbClr val="000000"/>
                </a:solidFill>
                <a:latin typeface="Calibri" pitchFamily="34" charset="0"/>
              </a:rPr>
              <a:t>) = T</a:t>
            </a:r>
            <a:r>
              <a:rPr lang="en-US" altLang="ru-RU" sz="2200" i="1" baseline="-25000" dirty="0">
                <a:solidFill>
                  <a:srgbClr val="000000"/>
                </a:solidFill>
                <a:latin typeface="Calibri" pitchFamily="34" charset="0"/>
              </a:rPr>
              <a:t>a</a:t>
            </a:r>
            <a:r>
              <a:rPr lang="en-US" altLang="ru-RU" sz="2200" i="1" dirty="0">
                <a:solidFill>
                  <a:srgbClr val="000000"/>
                </a:solidFill>
                <a:latin typeface="Calibri" pitchFamily="34" charset="0"/>
              </a:rPr>
              <a:t> (P</a:t>
            </a:r>
            <a:r>
              <a:rPr lang="en-US" altLang="ru-RU" sz="2200" i="1" baseline="-25000" dirty="0">
                <a:solidFill>
                  <a:srgbClr val="000000"/>
                </a:solidFill>
                <a:latin typeface="Calibri" pitchFamily="34" charset="0"/>
              </a:rPr>
              <a:t>1</a:t>
            </a:r>
            <a:r>
              <a:rPr lang="en-US" altLang="ru-RU" sz="2200" i="1" dirty="0">
                <a:solidFill>
                  <a:srgbClr val="000000"/>
                </a:solidFill>
                <a:latin typeface="Calibri" pitchFamily="34" charset="0"/>
              </a:rPr>
              <a:t>,…,P</a:t>
            </a:r>
            <a:r>
              <a:rPr lang="en-US" altLang="ru-RU" sz="2200" i="1" baseline="-25000" dirty="0">
                <a:solidFill>
                  <a:srgbClr val="000000"/>
                </a:solidFill>
                <a:latin typeface="Calibri" pitchFamily="34" charset="0"/>
              </a:rPr>
              <a:t>m</a:t>
            </a:r>
            <a:r>
              <a:rPr lang="en-US" altLang="ru-RU" sz="2200" i="1" dirty="0">
                <a:solidFill>
                  <a:srgbClr val="000000"/>
                </a:solidFill>
                <a:latin typeface="Calibri" pitchFamily="34" charset="0"/>
              </a:rPr>
              <a:t>), m </a:t>
            </a:r>
            <a:r>
              <a:rPr lang="ru-RU" altLang="ru-RU" sz="2200" i="1" dirty="0">
                <a:solidFill>
                  <a:srgbClr val="000000"/>
                </a:solidFill>
                <a:latin typeface="Symbol" pitchFamily="18" charset="2"/>
              </a:rPr>
              <a:t></a:t>
            </a:r>
            <a:r>
              <a:rPr lang="en-US" altLang="ru-RU" sz="2200" i="1" dirty="0">
                <a:solidFill>
                  <a:srgbClr val="000000"/>
                </a:solidFill>
                <a:latin typeface="Calibri" pitchFamily="34" charset="0"/>
              </a:rPr>
              <a:t> n</a:t>
            </a: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b="1" dirty="0">
                <a:solidFill>
                  <a:srgbClr val="000000"/>
                </a:solidFill>
                <a:latin typeface="Calibri" pitchFamily="34" charset="0"/>
              </a:rPr>
              <a:t>Пример:</a:t>
            </a:r>
          </a:p>
          <a:p>
            <a:pPr marL="341313" indent="-341313">
              <a:spcBef>
                <a:spcPts val="6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а) Вычисление </a:t>
            </a:r>
            <a:r>
              <a:rPr lang="ru-RU" altLang="ru-RU" sz="2200" i="1" dirty="0" err="1">
                <a:solidFill>
                  <a:srgbClr val="000000"/>
                </a:solidFill>
                <a:latin typeface="Calibri" pitchFamily="34" charset="0"/>
              </a:rPr>
              <a:t>x</a:t>
            </a:r>
            <a:r>
              <a:rPr lang="ru-RU" altLang="ru-RU" sz="2200" i="1" baseline="30000" dirty="0" err="1">
                <a:solidFill>
                  <a:srgbClr val="000000"/>
                </a:solidFill>
                <a:latin typeface="Calibri" pitchFamily="34" charset="0"/>
              </a:rPr>
              <a:t>k</a:t>
            </a:r>
            <a:r>
              <a:rPr lang="ru-RU" altLang="ru-RU" sz="2200" dirty="0">
                <a:solidFill>
                  <a:srgbClr val="000000"/>
                </a:solidFill>
                <a:latin typeface="Calibri" pitchFamily="34" charset="0"/>
              </a:rPr>
              <a:t> последовательным умножением </a:t>
            </a:r>
            <a:r>
              <a:rPr lang="ru-RU" altLang="ru-RU" sz="2200" dirty="0">
                <a:solidFill>
                  <a:srgbClr val="000000"/>
                </a:solidFill>
                <a:latin typeface="Symbol" pitchFamily="18" charset="2"/>
              </a:rPr>
              <a:t></a:t>
            </a:r>
            <a:r>
              <a:rPr lang="ru-RU" altLang="ru-RU" sz="2200" dirty="0">
                <a:solidFill>
                  <a:srgbClr val="000000"/>
                </a:solidFill>
                <a:latin typeface="Calibri" pitchFamily="34" charset="0"/>
              </a:rPr>
              <a:t> </a:t>
            </a:r>
            <a:r>
              <a:rPr lang="en-US" altLang="ru-RU" sz="2200" dirty="0">
                <a:solidFill>
                  <a:srgbClr val="000000"/>
                </a:solidFill>
                <a:latin typeface="Calibri" pitchFamily="34" charset="0"/>
              </a:rPr>
              <a:t>T</a:t>
            </a:r>
            <a:r>
              <a:rPr lang="ru-RU" altLang="ru-RU" sz="2200" i="1" baseline="-25000" dirty="0">
                <a:solidFill>
                  <a:srgbClr val="000000"/>
                </a:solidFill>
                <a:latin typeface="Calibri" pitchFamily="34" charset="0"/>
              </a:rPr>
              <a:t>a</a:t>
            </a:r>
            <a:r>
              <a:rPr lang="ru-RU" altLang="ru-RU" sz="2200" i="1" dirty="0">
                <a:solidFill>
                  <a:srgbClr val="000000"/>
                </a:solidFill>
                <a:latin typeface="Calibri" pitchFamily="34" charset="0"/>
              </a:rPr>
              <a:t>(x, k) = </a:t>
            </a:r>
            <a:r>
              <a:rPr lang="en-US" altLang="ru-RU" sz="2200" i="1" dirty="0">
                <a:solidFill>
                  <a:srgbClr val="000000"/>
                </a:solidFill>
                <a:latin typeface="Calibri" pitchFamily="34" charset="0"/>
              </a:rPr>
              <a:t>T</a:t>
            </a:r>
            <a:r>
              <a:rPr lang="ru-RU" altLang="ru-RU" sz="2200" i="1" baseline="-25000" dirty="0">
                <a:solidFill>
                  <a:srgbClr val="000000"/>
                </a:solidFill>
                <a:latin typeface="Calibri" pitchFamily="34" charset="0"/>
              </a:rPr>
              <a:t>a</a:t>
            </a:r>
            <a:r>
              <a:rPr lang="ru-RU" altLang="ru-RU" sz="2200" i="1" dirty="0">
                <a:solidFill>
                  <a:srgbClr val="000000"/>
                </a:solidFill>
                <a:latin typeface="Calibri" pitchFamily="34" charset="0"/>
              </a:rPr>
              <a:t> (k).</a:t>
            </a:r>
          </a:p>
          <a:p>
            <a:pPr marL="341313" indent="-341313">
              <a:spcBef>
                <a:spcPts val="6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б) Вычисление </a:t>
            </a:r>
            <a:r>
              <a:rPr lang="ru-RU" altLang="ru-RU" sz="2200" i="1" dirty="0" err="1">
                <a:solidFill>
                  <a:srgbClr val="000000"/>
                </a:solidFill>
                <a:latin typeface="Calibri" pitchFamily="34" charset="0"/>
              </a:rPr>
              <a:t>e</a:t>
            </a:r>
            <a:r>
              <a:rPr lang="ru-RU" altLang="ru-RU" sz="2200" i="1" baseline="30000" dirty="0" err="1">
                <a:solidFill>
                  <a:srgbClr val="000000"/>
                </a:solidFill>
                <a:latin typeface="Calibri" pitchFamily="34" charset="0"/>
              </a:rPr>
              <a:t>x</a:t>
            </a:r>
            <a:r>
              <a:rPr lang="ru-RU" altLang="ru-RU" sz="2200" i="1" dirty="0">
                <a:solidFill>
                  <a:srgbClr val="000000"/>
                </a:solidFill>
                <a:latin typeface="Calibri" pitchFamily="34" charset="0"/>
              </a:rPr>
              <a:t>=</a:t>
            </a:r>
            <a:r>
              <a:rPr lang="ru-RU" altLang="ru-RU" sz="2200" i="1" dirty="0">
                <a:solidFill>
                  <a:srgbClr val="000000"/>
                </a:solidFill>
                <a:latin typeface="Symbol" pitchFamily="18" charset="2"/>
              </a:rPr>
              <a:t></a:t>
            </a:r>
            <a:r>
              <a:rPr lang="ru-RU" altLang="ru-RU" sz="2200" i="1" dirty="0">
                <a:solidFill>
                  <a:srgbClr val="000000"/>
                </a:solidFill>
                <a:latin typeface="Calibri" pitchFamily="34" charset="0"/>
              </a:rPr>
              <a:t>(</a:t>
            </a:r>
            <a:r>
              <a:rPr lang="ru-RU" altLang="ru-RU" sz="2200" i="1" dirty="0" err="1">
                <a:solidFill>
                  <a:srgbClr val="000000"/>
                </a:solidFill>
                <a:latin typeface="Calibri" pitchFamily="34" charset="0"/>
              </a:rPr>
              <a:t>x</a:t>
            </a:r>
            <a:r>
              <a:rPr lang="ru-RU" altLang="ru-RU" sz="2200" i="1" baseline="30000" dirty="0" err="1">
                <a:solidFill>
                  <a:srgbClr val="000000"/>
                </a:solidFill>
                <a:latin typeface="Calibri" pitchFamily="34" charset="0"/>
              </a:rPr>
              <a:t>n</a:t>
            </a:r>
            <a:r>
              <a:rPr lang="ru-RU" altLang="ru-RU" sz="2200" i="1" dirty="0">
                <a:solidFill>
                  <a:srgbClr val="000000"/>
                </a:solidFill>
                <a:latin typeface="Calibri" pitchFamily="34" charset="0"/>
              </a:rPr>
              <a:t>/n!),</a:t>
            </a:r>
            <a:r>
              <a:rPr lang="ru-RU" altLang="ru-RU" sz="2200" dirty="0">
                <a:solidFill>
                  <a:srgbClr val="000000"/>
                </a:solidFill>
                <a:latin typeface="Calibri" pitchFamily="34" charset="0"/>
              </a:rPr>
              <a:t> с точностью до </a:t>
            </a:r>
            <a:r>
              <a:rPr lang="ru-RU" altLang="ru-RU" sz="2200" i="1" dirty="0">
                <a:solidFill>
                  <a:srgbClr val="000000"/>
                </a:solidFill>
                <a:latin typeface="Symbol" pitchFamily="18" charset="2"/>
              </a:rPr>
              <a:t></a:t>
            </a:r>
            <a:r>
              <a:rPr lang="ru-RU" altLang="ru-RU" sz="2200" dirty="0">
                <a:solidFill>
                  <a:srgbClr val="000000"/>
                </a:solidFill>
                <a:latin typeface="Calibri" pitchFamily="34" charset="0"/>
              </a:rPr>
              <a:t> </a:t>
            </a:r>
            <a:r>
              <a:rPr lang="ru-RU" altLang="ru-RU" sz="2200" dirty="0">
                <a:solidFill>
                  <a:srgbClr val="000000"/>
                </a:solidFill>
                <a:latin typeface="Symbol" pitchFamily="18" charset="2"/>
              </a:rPr>
              <a:t></a:t>
            </a:r>
            <a:r>
              <a:rPr lang="ru-RU" altLang="ru-RU" sz="2200" dirty="0">
                <a:solidFill>
                  <a:srgbClr val="000000"/>
                </a:solidFill>
                <a:latin typeface="Calibri" pitchFamily="34" charset="0"/>
              </a:rPr>
              <a:t> </a:t>
            </a:r>
            <a:r>
              <a:rPr lang="en-US" altLang="ru-RU" sz="2200" dirty="0">
                <a:solidFill>
                  <a:srgbClr val="000000"/>
                </a:solidFill>
                <a:latin typeface="Calibri" pitchFamily="34" charset="0"/>
              </a:rPr>
              <a:t>T</a:t>
            </a:r>
            <a:r>
              <a:rPr lang="ru-RU" altLang="ru-RU" sz="2200" i="1" baseline="-25000" dirty="0">
                <a:solidFill>
                  <a:srgbClr val="000000"/>
                </a:solidFill>
                <a:latin typeface="Calibri" pitchFamily="34" charset="0"/>
              </a:rPr>
              <a:t>a</a:t>
            </a:r>
            <a:r>
              <a:rPr lang="ru-RU" altLang="ru-RU" sz="2200" i="1" dirty="0">
                <a:solidFill>
                  <a:srgbClr val="000000"/>
                </a:solidFill>
                <a:latin typeface="Calibri" pitchFamily="34" charset="0"/>
              </a:rPr>
              <a:t> = </a:t>
            </a:r>
            <a:r>
              <a:rPr lang="en-US" altLang="ru-RU" sz="2200" i="1" dirty="0">
                <a:solidFill>
                  <a:srgbClr val="000000"/>
                </a:solidFill>
                <a:latin typeface="Calibri" pitchFamily="34" charset="0"/>
              </a:rPr>
              <a:t>T</a:t>
            </a:r>
            <a:r>
              <a:rPr lang="ru-RU" altLang="ru-RU" sz="2200" i="1" baseline="-25000" dirty="0">
                <a:solidFill>
                  <a:srgbClr val="000000"/>
                </a:solidFill>
                <a:latin typeface="Calibri" pitchFamily="34" charset="0"/>
              </a:rPr>
              <a:t>a</a:t>
            </a:r>
            <a:r>
              <a:rPr lang="ru-RU" altLang="ru-RU" sz="2200" i="1" dirty="0">
                <a:solidFill>
                  <a:srgbClr val="000000"/>
                </a:solidFill>
                <a:latin typeface="Calibri" pitchFamily="34" charset="0"/>
              </a:rPr>
              <a:t> (x, </a:t>
            </a:r>
            <a:r>
              <a:rPr lang="ru-RU" altLang="ru-RU" sz="2200" i="1" dirty="0">
                <a:solidFill>
                  <a:srgbClr val="000000"/>
                </a:solidFill>
                <a:latin typeface="Symbol" pitchFamily="18" charset="2"/>
              </a:rPr>
              <a:t></a:t>
            </a:r>
            <a:r>
              <a:rPr lang="ru-RU" altLang="ru-RU" sz="2200" i="1" dirty="0">
                <a:solidFill>
                  <a:srgbClr val="000000"/>
                </a:solidFill>
                <a:latin typeface="Calibri" pitchFamily="34" charset="0"/>
              </a:rPr>
              <a:t>)</a:t>
            </a: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ru-RU" sz="2400" dirty="0">
              <a:solidFill>
                <a:srgbClr val="000000"/>
              </a:solidFill>
              <a:latin typeface="Calibri" pitchFamily="34" charset="0"/>
            </a:endParaRPr>
          </a:p>
          <a:p>
            <a:pPr marL="341313" indent="-341313">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ru-RU" sz="2400" dirty="0">
              <a:solidFill>
                <a:srgbClr val="000000"/>
              </a:solidFill>
              <a:latin typeface="Calibri" pitchFamily="34" charset="0"/>
            </a:endParaRPr>
          </a:p>
        </p:txBody>
      </p:sp>
      <p:sp>
        <p:nvSpPr>
          <p:cNvPr id="90115" name="Text Box 2"/>
          <p:cNvSpPr txBox="1">
            <a:spLocks noChangeArrowheads="1"/>
          </p:cNvSpPr>
          <p:nvPr/>
        </p:nvSpPr>
        <p:spPr bwMode="auto">
          <a:xfrm>
            <a:off x="1992313" y="1"/>
            <a:ext cx="8229600" cy="1052513"/>
          </a:xfrm>
          <a:prstGeom prst="rect">
            <a:avLst/>
          </a:prstGeom>
          <a:solidFill>
            <a:srgbClr val="C6D9F1"/>
          </a:solidFill>
          <a:ln w="9525">
            <a:noFill/>
            <a:round/>
            <a:headEnd/>
            <a:tailEnd/>
          </a:ln>
        </p:spPr>
        <p:txBody>
          <a:bodyPr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u-RU" altLang="ru-RU" sz="2800" b="1">
              <a:solidFill>
                <a:srgbClr val="C00000"/>
              </a:solidFill>
              <a:latin typeface="Calibri" pitchFamily="34" charset="0"/>
            </a:endParaRPr>
          </a:p>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ru-RU" sz="2800" b="1">
                <a:latin typeface="Calibri" pitchFamily="34" charset="0"/>
              </a:rPr>
              <a:t>Классификация алгоритмов по виду функции трудоёмкости</a:t>
            </a:r>
            <a:br>
              <a:rPr lang="ru-RU" altLang="ru-RU" sz="3200" b="1">
                <a:solidFill>
                  <a:srgbClr val="C00000"/>
                </a:solidFill>
                <a:latin typeface="Calibri" pitchFamily="34" charset="0"/>
              </a:rPr>
            </a:br>
            <a:endParaRPr lang="ru-RU" altLang="ru-RU" sz="3200" b="1">
              <a:solidFill>
                <a:srgbClr val="C00000"/>
              </a:solidFill>
              <a:latin typeface="Calibri" pitchFamily="34" charset="0"/>
            </a:endParaRPr>
          </a:p>
        </p:txBody>
      </p:sp>
    </p:spTree>
    <p:extLst>
      <p:ext uri="{BB962C8B-B14F-4D97-AF65-F5344CB8AC3E}">
        <p14:creationId xmlns:p14="http://schemas.microsoft.com/office/powerpoint/2010/main" val="7054110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1"/>
          <p:cNvSpPr txBox="1">
            <a:spLocks noChangeArrowheads="1"/>
          </p:cNvSpPr>
          <p:nvPr/>
        </p:nvSpPr>
        <p:spPr bwMode="auto">
          <a:xfrm>
            <a:off x="1524000" y="1"/>
            <a:ext cx="9144000" cy="8069263"/>
          </a:xfrm>
          <a:prstGeom prst="rect">
            <a:avLst/>
          </a:prstGeom>
          <a:noFill/>
          <a:ln w="9525">
            <a:noFill/>
            <a:round/>
            <a:headEnd/>
            <a:tailEnd/>
          </a:ln>
        </p:spPr>
        <p:txBody>
          <a:bodyPr/>
          <a:lstStyle/>
          <a:p>
            <a:pPr marL="341313" indent="-341313">
              <a:spcBef>
                <a:spcPts val="7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b="1" i="1" dirty="0">
                <a:solidFill>
                  <a:srgbClr val="000000"/>
                </a:solidFill>
                <a:latin typeface="Calibri" pitchFamily="34" charset="0"/>
              </a:rPr>
              <a:t>3. Количественно-параметрические</a:t>
            </a: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	Функция трудоемкости зависит как от количества данных на входе, так и от значений входных данных, в этом случае:</a:t>
            </a: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	</a:t>
            </a:r>
            <a:r>
              <a:rPr lang="en-US" altLang="ru-RU" sz="2200" dirty="0">
                <a:solidFill>
                  <a:srgbClr val="000000"/>
                </a:solidFill>
                <a:latin typeface="Calibri" pitchFamily="34" charset="0"/>
              </a:rPr>
              <a:t>T</a:t>
            </a:r>
            <a:r>
              <a:rPr lang="en-US" altLang="ru-RU" sz="2200" baseline="-25000" dirty="0">
                <a:solidFill>
                  <a:srgbClr val="000000"/>
                </a:solidFill>
                <a:latin typeface="Calibri" pitchFamily="34" charset="0"/>
              </a:rPr>
              <a:t>a</a:t>
            </a:r>
            <a:r>
              <a:rPr lang="en-US" altLang="ru-RU" sz="2200" dirty="0">
                <a:solidFill>
                  <a:srgbClr val="000000"/>
                </a:solidFill>
                <a:latin typeface="Calibri" pitchFamily="34" charset="0"/>
              </a:rPr>
              <a:t> (D) = T</a:t>
            </a:r>
            <a:r>
              <a:rPr lang="en-US" altLang="ru-RU" sz="2200" baseline="-25000" dirty="0">
                <a:solidFill>
                  <a:srgbClr val="000000"/>
                </a:solidFill>
                <a:latin typeface="Calibri" pitchFamily="34" charset="0"/>
              </a:rPr>
              <a:t>a</a:t>
            </a:r>
            <a:r>
              <a:rPr lang="en-US" altLang="ru-RU" sz="2200" dirty="0">
                <a:solidFill>
                  <a:srgbClr val="000000"/>
                </a:solidFill>
                <a:latin typeface="Calibri" pitchFamily="34" charset="0"/>
              </a:rPr>
              <a:t> (|D|, d</a:t>
            </a:r>
            <a:r>
              <a:rPr lang="en-US" altLang="ru-RU" sz="2200" baseline="-25000" dirty="0">
                <a:solidFill>
                  <a:srgbClr val="000000"/>
                </a:solidFill>
                <a:latin typeface="Calibri" pitchFamily="34" charset="0"/>
              </a:rPr>
              <a:t>1</a:t>
            </a:r>
            <a:r>
              <a:rPr lang="en-US" altLang="ru-RU" sz="2200" dirty="0">
                <a:solidFill>
                  <a:srgbClr val="000000"/>
                </a:solidFill>
                <a:latin typeface="Calibri" pitchFamily="34" charset="0"/>
              </a:rPr>
              <a:t>,…,</a:t>
            </a:r>
            <a:r>
              <a:rPr lang="en-US" altLang="ru-RU" sz="2200" dirty="0" err="1">
                <a:solidFill>
                  <a:srgbClr val="000000"/>
                </a:solidFill>
                <a:latin typeface="Calibri" pitchFamily="34" charset="0"/>
              </a:rPr>
              <a:t>d</a:t>
            </a:r>
            <a:r>
              <a:rPr lang="en-US" altLang="ru-RU" sz="2200" baseline="-25000" dirty="0" err="1">
                <a:solidFill>
                  <a:srgbClr val="000000"/>
                </a:solidFill>
                <a:latin typeface="Calibri" pitchFamily="34" charset="0"/>
              </a:rPr>
              <a:t>m</a:t>
            </a:r>
            <a:r>
              <a:rPr lang="en-US" altLang="ru-RU" sz="2200" dirty="0">
                <a:solidFill>
                  <a:srgbClr val="000000"/>
                </a:solidFill>
                <a:latin typeface="Calibri" pitchFamily="34" charset="0"/>
              </a:rPr>
              <a:t>) = T</a:t>
            </a:r>
            <a:r>
              <a:rPr lang="en-US" altLang="ru-RU" sz="2200" baseline="-25000" dirty="0">
                <a:solidFill>
                  <a:srgbClr val="000000"/>
                </a:solidFill>
                <a:latin typeface="Calibri" pitchFamily="34" charset="0"/>
              </a:rPr>
              <a:t>a</a:t>
            </a:r>
            <a:r>
              <a:rPr lang="en-US" altLang="ru-RU" sz="2200" dirty="0">
                <a:solidFill>
                  <a:srgbClr val="000000"/>
                </a:solidFill>
                <a:latin typeface="Calibri" pitchFamily="34" charset="0"/>
              </a:rPr>
              <a:t> (N, P</a:t>
            </a:r>
            <a:r>
              <a:rPr lang="en-US" altLang="ru-RU" sz="2200" baseline="-25000" dirty="0">
                <a:solidFill>
                  <a:srgbClr val="000000"/>
                </a:solidFill>
                <a:latin typeface="Calibri" pitchFamily="34" charset="0"/>
              </a:rPr>
              <a:t>1</a:t>
            </a:r>
            <a:r>
              <a:rPr lang="en-US" altLang="ru-RU" sz="2200" dirty="0">
                <a:solidFill>
                  <a:srgbClr val="000000"/>
                </a:solidFill>
                <a:latin typeface="Calibri" pitchFamily="34" charset="0"/>
              </a:rPr>
              <a:t>,…,P</a:t>
            </a:r>
            <a:r>
              <a:rPr lang="en-US" altLang="ru-RU" sz="2200" baseline="-25000" dirty="0">
                <a:solidFill>
                  <a:srgbClr val="000000"/>
                </a:solidFill>
                <a:latin typeface="Calibri" pitchFamily="34" charset="0"/>
              </a:rPr>
              <a:t>m</a:t>
            </a:r>
            <a:r>
              <a:rPr lang="en-US" altLang="ru-RU" sz="2200" dirty="0">
                <a:solidFill>
                  <a:srgbClr val="000000"/>
                </a:solidFill>
                <a:latin typeface="Calibri" pitchFamily="34" charset="0"/>
              </a:rPr>
              <a:t>)</a:t>
            </a:r>
            <a:endParaRPr lang="ru-RU" altLang="ru-RU" sz="2200" dirty="0">
              <a:solidFill>
                <a:srgbClr val="000000"/>
              </a:solidFill>
              <a:latin typeface="Calibri" pitchFamily="34" charset="0"/>
            </a:endParaRP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b="1" dirty="0">
                <a:solidFill>
                  <a:srgbClr val="000000"/>
                </a:solidFill>
                <a:latin typeface="Calibri" pitchFamily="34" charset="0"/>
              </a:rPr>
              <a:t>Пример</a:t>
            </a:r>
            <a:r>
              <a:rPr lang="ru-RU" altLang="ru-RU" sz="2200" dirty="0">
                <a:solidFill>
                  <a:srgbClr val="000000"/>
                </a:solidFill>
                <a:latin typeface="Calibri" pitchFamily="34" charset="0"/>
              </a:rPr>
              <a:t>: </a:t>
            </a:r>
            <a:r>
              <a:rPr lang="ru-RU" sz="2200" dirty="0">
                <a:solidFill>
                  <a:srgbClr val="000000"/>
                </a:solidFill>
                <a:latin typeface="Calibri" pitchFamily="34" charset="0"/>
              </a:rPr>
              <a:t>алгоритмы численных методов, в которых </a:t>
            </a:r>
            <a:r>
              <a:rPr lang="ru-RU" sz="2200" dirty="0" err="1">
                <a:solidFill>
                  <a:srgbClr val="000000"/>
                </a:solidFill>
                <a:latin typeface="Calibri" pitchFamily="34" charset="0"/>
              </a:rPr>
              <a:t>параметрически</a:t>
            </a:r>
            <a:r>
              <a:rPr lang="ru-RU" sz="2200" dirty="0">
                <a:solidFill>
                  <a:srgbClr val="000000"/>
                </a:solidFill>
                <a:latin typeface="Calibri" pitchFamily="34" charset="0"/>
              </a:rPr>
              <a:t>-зависимый внешний цикл по точности включает в себя количественно-зависимый фрагмент по размерности.</a:t>
            </a:r>
            <a:endParaRPr lang="en-US" altLang="ru-RU" sz="2200" dirty="0">
              <a:solidFill>
                <a:srgbClr val="000000"/>
              </a:solidFill>
              <a:latin typeface="Calibri" pitchFamily="34" charset="0"/>
            </a:endParaRPr>
          </a:p>
          <a:p>
            <a:pPr marL="341313" indent="-341313">
              <a:spcBef>
                <a:spcPts val="700"/>
              </a:spcBef>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ru-RU" sz="2200" b="1" i="1" dirty="0">
                <a:solidFill>
                  <a:srgbClr val="000000"/>
                </a:solidFill>
                <a:latin typeface="Calibri" pitchFamily="34" charset="0"/>
              </a:rPr>
              <a:t>3.1</a:t>
            </a:r>
            <a:r>
              <a:rPr lang="ru-RU" altLang="ru-RU" sz="2200" b="1" i="1" dirty="0">
                <a:solidFill>
                  <a:srgbClr val="000000"/>
                </a:solidFill>
                <a:latin typeface="Calibri" pitchFamily="34" charset="0"/>
              </a:rPr>
              <a:t>. </a:t>
            </a:r>
            <a:r>
              <a:rPr lang="ru-RU" altLang="ru-RU" sz="2200" b="1" i="1" dirty="0" err="1">
                <a:solidFill>
                  <a:srgbClr val="000000"/>
                </a:solidFill>
                <a:latin typeface="Calibri" pitchFamily="34" charset="0"/>
              </a:rPr>
              <a:t>Порядково</a:t>
            </a:r>
            <a:r>
              <a:rPr lang="ru-RU" altLang="ru-RU" sz="2200" b="1" i="1" dirty="0">
                <a:solidFill>
                  <a:srgbClr val="000000"/>
                </a:solidFill>
                <a:latin typeface="Calibri" pitchFamily="34" charset="0"/>
              </a:rPr>
              <a:t> - зависимые</a:t>
            </a: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	Количество операций зависит от порядка расположения исходных объектов.</a:t>
            </a: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	Пусть множество D состоит из элементов (d</a:t>
            </a:r>
            <a:r>
              <a:rPr lang="ru-RU" altLang="ru-RU" sz="2200" baseline="-25000" dirty="0">
                <a:solidFill>
                  <a:srgbClr val="000000"/>
                </a:solidFill>
                <a:latin typeface="Calibri" pitchFamily="34" charset="0"/>
              </a:rPr>
              <a:t>1</a:t>
            </a:r>
            <a:r>
              <a:rPr lang="ru-RU" altLang="ru-RU" sz="2200" dirty="0">
                <a:solidFill>
                  <a:srgbClr val="000000"/>
                </a:solidFill>
                <a:latin typeface="Calibri" pitchFamily="34" charset="0"/>
              </a:rPr>
              <a:t>,…,</a:t>
            </a:r>
            <a:r>
              <a:rPr lang="ru-RU" altLang="ru-RU" sz="2200" dirty="0" err="1">
                <a:solidFill>
                  <a:srgbClr val="000000"/>
                </a:solidFill>
                <a:latin typeface="Calibri" pitchFamily="34" charset="0"/>
              </a:rPr>
              <a:t>d</a:t>
            </a:r>
            <a:r>
              <a:rPr lang="ru-RU" altLang="ru-RU" sz="2200" baseline="-25000" dirty="0" err="1">
                <a:solidFill>
                  <a:srgbClr val="000000"/>
                </a:solidFill>
                <a:latin typeface="Calibri" pitchFamily="34" charset="0"/>
              </a:rPr>
              <a:t>n</a:t>
            </a:r>
            <a:r>
              <a:rPr lang="ru-RU" altLang="ru-RU" sz="2200" dirty="0">
                <a:solidFill>
                  <a:srgbClr val="000000"/>
                </a:solidFill>
                <a:latin typeface="Calibri" pitchFamily="34" charset="0"/>
              </a:rPr>
              <a:t>), и |D|=</a:t>
            </a:r>
            <a:r>
              <a:rPr lang="en-US" altLang="ru-RU" sz="2200" dirty="0">
                <a:solidFill>
                  <a:srgbClr val="000000"/>
                </a:solidFill>
                <a:latin typeface="Calibri" pitchFamily="34" charset="0"/>
              </a:rPr>
              <a:t>N</a:t>
            </a:r>
            <a:r>
              <a:rPr lang="ru-RU" altLang="ru-RU" sz="2200" dirty="0">
                <a:solidFill>
                  <a:srgbClr val="000000"/>
                </a:solidFill>
                <a:latin typeface="Calibri" pitchFamily="34" charset="0"/>
              </a:rPr>
              <a:t>. Определим D</a:t>
            </a:r>
            <a:r>
              <a:rPr lang="en-US" altLang="ru-RU" sz="2200" baseline="-25000" dirty="0">
                <a:solidFill>
                  <a:srgbClr val="000000"/>
                </a:solidFill>
                <a:latin typeface="Calibri" pitchFamily="34" charset="0"/>
              </a:rPr>
              <a:t>p </a:t>
            </a:r>
            <a:r>
              <a:rPr lang="ru-RU" altLang="ru-RU" sz="2200" dirty="0">
                <a:solidFill>
                  <a:srgbClr val="000000"/>
                </a:solidFill>
                <a:latin typeface="Calibri" pitchFamily="34" charset="0"/>
              </a:rPr>
              <a:t>= {(d</a:t>
            </a:r>
            <a:r>
              <a:rPr lang="ru-RU" altLang="ru-RU" sz="2200" baseline="-25000" dirty="0">
                <a:solidFill>
                  <a:srgbClr val="000000"/>
                </a:solidFill>
                <a:latin typeface="Calibri" pitchFamily="34" charset="0"/>
              </a:rPr>
              <a:t>1</a:t>
            </a:r>
            <a:r>
              <a:rPr lang="ru-RU" altLang="ru-RU" sz="2200" dirty="0">
                <a:solidFill>
                  <a:srgbClr val="000000"/>
                </a:solidFill>
                <a:latin typeface="Calibri" pitchFamily="34" charset="0"/>
              </a:rPr>
              <a:t>,…,</a:t>
            </a:r>
            <a:r>
              <a:rPr lang="ru-RU" altLang="ru-RU" sz="2200" dirty="0" err="1">
                <a:solidFill>
                  <a:srgbClr val="000000"/>
                </a:solidFill>
                <a:latin typeface="Calibri" pitchFamily="34" charset="0"/>
              </a:rPr>
              <a:t>d</a:t>
            </a:r>
            <a:r>
              <a:rPr lang="ru-RU" altLang="ru-RU" sz="2200" baseline="-25000" dirty="0" err="1">
                <a:solidFill>
                  <a:srgbClr val="000000"/>
                </a:solidFill>
                <a:latin typeface="Calibri" pitchFamily="34" charset="0"/>
              </a:rPr>
              <a:t>n</a:t>
            </a:r>
            <a:r>
              <a:rPr lang="ru-RU" altLang="ru-RU" sz="2200" dirty="0">
                <a:solidFill>
                  <a:srgbClr val="000000"/>
                </a:solidFill>
                <a:latin typeface="Calibri" pitchFamily="34" charset="0"/>
              </a:rPr>
              <a:t>)}-множество всех упорядоченных N-</a:t>
            </a:r>
            <a:r>
              <a:rPr lang="ru-RU" altLang="ru-RU" sz="2200" dirty="0" err="1">
                <a:solidFill>
                  <a:srgbClr val="000000"/>
                </a:solidFill>
                <a:latin typeface="Calibri" pitchFamily="34" charset="0"/>
              </a:rPr>
              <a:t>ок</a:t>
            </a:r>
            <a:r>
              <a:rPr lang="ru-RU" altLang="ru-RU" sz="2200" dirty="0">
                <a:solidFill>
                  <a:srgbClr val="000000"/>
                </a:solidFill>
                <a:latin typeface="Calibri" pitchFamily="34" charset="0"/>
              </a:rPr>
              <a:t> из d</a:t>
            </a:r>
            <a:r>
              <a:rPr lang="ru-RU" altLang="ru-RU" sz="2200" baseline="-25000" dirty="0">
                <a:solidFill>
                  <a:srgbClr val="000000"/>
                </a:solidFill>
                <a:latin typeface="Calibri" pitchFamily="34" charset="0"/>
              </a:rPr>
              <a:t>1</a:t>
            </a:r>
            <a:r>
              <a:rPr lang="ru-RU" altLang="ru-RU" sz="2200" dirty="0">
                <a:solidFill>
                  <a:srgbClr val="000000"/>
                </a:solidFill>
                <a:latin typeface="Calibri" pitchFamily="34" charset="0"/>
              </a:rPr>
              <a:t>,…,</a:t>
            </a:r>
            <a:r>
              <a:rPr lang="ru-RU" altLang="ru-RU" sz="2200" dirty="0" err="1">
                <a:solidFill>
                  <a:srgbClr val="000000"/>
                </a:solidFill>
                <a:latin typeface="Calibri" pitchFamily="34" charset="0"/>
              </a:rPr>
              <a:t>d</a:t>
            </a:r>
            <a:r>
              <a:rPr lang="ru-RU" altLang="ru-RU" sz="2200" baseline="-25000" dirty="0" err="1">
                <a:solidFill>
                  <a:srgbClr val="000000"/>
                </a:solidFill>
                <a:latin typeface="Calibri" pitchFamily="34" charset="0"/>
              </a:rPr>
              <a:t>n</a:t>
            </a:r>
            <a:r>
              <a:rPr lang="ru-RU" altLang="ru-RU" sz="2200" dirty="0">
                <a:solidFill>
                  <a:srgbClr val="000000"/>
                </a:solidFill>
                <a:latin typeface="Calibri" pitchFamily="34" charset="0"/>
              </a:rPr>
              <a:t>, отметим, что |D</a:t>
            </a:r>
            <a:r>
              <a:rPr lang="en-US" altLang="ru-RU" sz="2200" baseline="-25000" dirty="0">
                <a:solidFill>
                  <a:srgbClr val="000000"/>
                </a:solidFill>
                <a:latin typeface="Calibri" pitchFamily="34" charset="0"/>
              </a:rPr>
              <a:t>p</a:t>
            </a:r>
            <a:r>
              <a:rPr lang="ru-RU" altLang="ru-RU" sz="2200" dirty="0">
                <a:solidFill>
                  <a:srgbClr val="000000"/>
                </a:solidFill>
                <a:latin typeface="Calibri" pitchFamily="34" charset="0"/>
              </a:rPr>
              <a:t>|=n!.</a:t>
            </a: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dirty="0">
                <a:solidFill>
                  <a:srgbClr val="000000"/>
                </a:solidFill>
                <a:latin typeface="Calibri" pitchFamily="34" charset="0"/>
              </a:rPr>
              <a:t>	Если </a:t>
            </a:r>
            <a:r>
              <a:rPr lang="en-US" altLang="ru-RU" sz="2200" dirty="0">
                <a:solidFill>
                  <a:srgbClr val="000000"/>
                </a:solidFill>
                <a:latin typeface="Calibri" pitchFamily="34" charset="0"/>
              </a:rPr>
              <a:t>T</a:t>
            </a:r>
            <a:r>
              <a:rPr lang="ru-RU" altLang="ru-RU" sz="2200" baseline="-25000" dirty="0">
                <a:solidFill>
                  <a:srgbClr val="000000"/>
                </a:solidFill>
                <a:latin typeface="Calibri" pitchFamily="34" charset="0"/>
              </a:rPr>
              <a:t>a</a:t>
            </a:r>
            <a:r>
              <a:rPr lang="ru-RU" altLang="ru-RU" sz="2200" dirty="0">
                <a:solidFill>
                  <a:srgbClr val="000000"/>
                </a:solidFill>
                <a:latin typeface="Calibri" pitchFamily="34" charset="0"/>
              </a:rPr>
              <a:t> (</a:t>
            </a:r>
            <a:r>
              <a:rPr lang="en-US" altLang="ru-RU" sz="2200" baseline="-25000" dirty="0" err="1">
                <a:solidFill>
                  <a:srgbClr val="000000"/>
                </a:solidFill>
                <a:latin typeface="Calibri" pitchFamily="34" charset="0"/>
              </a:rPr>
              <a:t>i</a:t>
            </a:r>
            <a:r>
              <a:rPr lang="ru-RU" altLang="ru-RU" sz="2200" dirty="0">
                <a:solidFill>
                  <a:srgbClr val="000000"/>
                </a:solidFill>
                <a:latin typeface="Calibri" pitchFamily="34" charset="0"/>
              </a:rPr>
              <a:t>D</a:t>
            </a:r>
            <a:r>
              <a:rPr lang="en-US" altLang="ru-RU" sz="2200" baseline="-25000" dirty="0">
                <a:solidFill>
                  <a:srgbClr val="000000"/>
                </a:solidFill>
                <a:latin typeface="Calibri" pitchFamily="34" charset="0"/>
              </a:rPr>
              <a:t>p</a:t>
            </a:r>
            <a:r>
              <a:rPr lang="ru-RU" altLang="ru-RU" sz="2200" dirty="0">
                <a:solidFill>
                  <a:srgbClr val="000000"/>
                </a:solidFill>
                <a:latin typeface="Calibri" pitchFamily="34" charset="0"/>
              </a:rPr>
              <a:t>) </a:t>
            </a:r>
            <a:r>
              <a:rPr lang="ru-RU" altLang="ru-RU" sz="2200" dirty="0">
                <a:solidFill>
                  <a:srgbClr val="000000"/>
                </a:solidFill>
                <a:latin typeface="Symbol" pitchFamily="18" charset="2"/>
              </a:rPr>
              <a:t></a:t>
            </a:r>
            <a:r>
              <a:rPr lang="ru-RU" altLang="ru-RU" sz="2200" dirty="0">
                <a:solidFill>
                  <a:srgbClr val="000000"/>
                </a:solidFill>
                <a:latin typeface="Calibri" pitchFamily="34" charset="0"/>
              </a:rPr>
              <a:t> </a:t>
            </a:r>
            <a:r>
              <a:rPr lang="en-US" altLang="ru-RU" sz="2200" dirty="0">
                <a:solidFill>
                  <a:srgbClr val="000000"/>
                </a:solidFill>
                <a:latin typeface="Calibri" pitchFamily="34" charset="0"/>
              </a:rPr>
              <a:t>T</a:t>
            </a:r>
            <a:r>
              <a:rPr lang="ru-RU" altLang="ru-RU" sz="2200" baseline="-25000" dirty="0">
                <a:solidFill>
                  <a:srgbClr val="000000"/>
                </a:solidFill>
                <a:latin typeface="Calibri" pitchFamily="34" charset="0"/>
              </a:rPr>
              <a:t>a</a:t>
            </a:r>
            <a:r>
              <a:rPr lang="ru-RU" altLang="ru-RU" sz="2200" dirty="0">
                <a:solidFill>
                  <a:srgbClr val="000000"/>
                </a:solidFill>
                <a:latin typeface="Calibri" pitchFamily="34" charset="0"/>
              </a:rPr>
              <a:t> (</a:t>
            </a:r>
            <a:r>
              <a:rPr lang="en-US" altLang="ru-RU" sz="2200" baseline="-25000" dirty="0">
                <a:solidFill>
                  <a:srgbClr val="000000"/>
                </a:solidFill>
                <a:latin typeface="Calibri" pitchFamily="34" charset="0"/>
              </a:rPr>
              <a:t>j</a:t>
            </a:r>
            <a:r>
              <a:rPr lang="ru-RU" altLang="ru-RU" sz="2200" dirty="0">
                <a:solidFill>
                  <a:srgbClr val="000000"/>
                </a:solidFill>
                <a:latin typeface="Calibri" pitchFamily="34" charset="0"/>
              </a:rPr>
              <a:t>D</a:t>
            </a:r>
            <a:r>
              <a:rPr lang="en-US" altLang="ru-RU" sz="2200" baseline="-25000" dirty="0">
                <a:solidFill>
                  <a:srgbClr val="000000"/>
                </a:solidFill>
                <a:latin typeface="Calibri" pitchFamily="34" charset="0"/>
              </a:rPr>
              <a:t>p</a:t>
            </a:r>
            <a:r>
              <a:rPr lang="ru-RU" altLang="ru-RU" sz="2200" dirty="0">
                <a:solidFill>
                  <a:srgbClr val="000000"/>
                </a:solidFill>
                <a:latin typeface="Calibri" pitchFamily="34" charset="0"/>
              </a:rPr>
              <a:t>), где	</a:t>
            </a:r>
            <a:r>
              <a:rPr lang="en-US" altLang="ru-RU" sz="2200" baseline="-25000" dirty="0" err="1">
                <a:solidFill>
                  <a:srgbClr val="000000"/>
                </a:solidFill>
                <a:latin typeface="Calibri" pitchFamily="34" charset="0"/>
              </a:rPr>
              <a:t>i</a:t>
            </a:r>
            <a:r>
              <a:rPr lang="ru-RU" altLang="ru-RU" sz="2200" dirty="0">
                <a:solidFill>
                  <a:srgbClr val="000000"/>
                </a:solidFill>
                <a:latin typeface="Calibri" pitchFamily="34" charset="0"/>
              </a:rPr>
              <a:t>D</a:t>
            </a:r>
            <a:r>
              <a:rPr lang="en-US" altLang="ru-RU" sz="2200" baseline="-25000" dirty="0">
                <a:solidFill>
                  <a:srgbClr val="000000"/>
                </a:solidFill>
                <a:latin typeface="Calibri" pitchFamily="34" charset="0"/>
              </a:rPr>
              <a:t>p</a:t>
            </a:r>
            <a:r>
              <a:rPr lang="ru-RU" altLang="ru-RU" sz="2200" dirty="0">
                <a:solidFill>
                  <a:srgbClr val="000000"/>
                </a:solidFill>
                <a:latin typeface="Calibri" pitchFamily="34" charset="0"/>
              </a:rPr>
              <a:t>, </a:t>
            </a:r>
            <a:r>
              <a:rPr lang="en-US" altLang="ru-RU" sz="2200" baseline="-25000" dirty="0">
                <a:solidFill>
                  <a:srgbClr val="000000"/>
                </a:solidFill>
                <a:latin typeface="Calibri" pitchFamily="34" charset="0"/>
              </a:rPr>
              <a:t>j</a:t>
            </a:r>
            <a:r>
              <a:rPr lang="ru-RU" altLang="ru-RU" sz="2200" dirty="0">
                <a:solidFill>
                  <a:srgbClr val="000000"/>
                </a:solidFill>
                <a:latin typeface="Calibri" pitchFamily="34" charset="0"/>
              </a:rPr>
              <a:t>D</a:t>
            </a:r>
            <a:r>
              <a:rPr lang="en-US" altLang="ru-RU" sz="2200" baseline="-25000" dirty="0">
                <a:solidFill>
                  <a:srgbClr val="000000"/>
                </a:solidFill>
                <a:latin typeface="Calibri" pitchFamily="34" charset="0"/>
              </a:rPr>
              <a:t>p</a:t>
            </a:r>
            <a:r>
              <a:rPr lang="en-US" altLang="ru-RU" sz="2200" dirty="0">
                <a:solidFill>
                  <a:srgbClr val="000000"/>
                </a:solidFill>
                <a:latin typeface="Calibri" pitchFamily="34" charset="0"/>
              </a:rPr>
              <a:t> </a:t>
            </a:r>
            <a:r>
              <a:rPr lang="ru-RU" altLang="ru-RU" sz="2200" dirty="0">
                <a:solidFill>
                  <a:srgbClr val="000000"/>
                </a:solidFill>
                <a:latin typeface="Symbol" pitchFamily="18" charset="2"/>
              </a:rPr>
              <a:t></a:t>
            </a:r>
            <a:r>
              <a:rPr lang="ru-RU" altLang="ru-RU" sz="2200" dirty="0">
                <a:solidFill>
                  <a:srgbClr val="000000"/>
                </a:solidFill>
                <a:latin typeface="Calibri" pitchFamily="34" charset="0"/>
              </a:rPr>
              <a:t> D</a:t>
            </a:r>
            <a:r>
              <a:rPr lang="en-US" altLang="ru-RU" sz="2200" baseline="-25000" dirty="0">
                <a:solidFill>
                  <a:srgbClr val="000000"/>
                </a:solidFill>
                <a:latin typeface="Calibri" pitchFamily="34" charset="0"/>
              </a:rPr>
              <a:t>p</a:t>
            </a:r>
            <a:r>
              <a:rPr lang="ru-RU" altLang="ru-RU" sz="2200" dirty="0">
                <a:solidFill>
                  <a:srgbClr val="000000"/>
                </a:solidFill>
                <a:latin typeface="Calibri" pitchFamily="34" charset="0"/>
              </a:rPr>
              <a:t>, то алгоритм будем называть </a:t>
            </a:r>
            <a:r>
              <a:rPr lang="ru-RU" altLang="ru-RU" sz="2200" dirty="0" err="1">
                <a:solidFill>
                  <a:srgbClr val="000000"/>
                </a:solidFill>
                <a:latin typeface="Calibri" pitchFamily="34" charset="0"/>
              </a:rPr>
              <a:t>порядково</a:t>
            </a:r>
            <a:r>
              <a:rPr lang="ru-RU" altLang="ru-RU" sz="2200" dirty="0">
                <a:solidFill>
                  <a:srgbClr val="000000"/>
                </a:solidFill>
                <a:latin typeface="Calibri" pitchFamily="34" charset="0"/>
              </a:rPr>
              <a:t>-зависимым по трудоемкости.</a:t>
            </a:r>
          </a:p>
          <a:p>
            <a:pPr marL="341313" indent="-341313">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ru-RU" sz="2200" b="1" dirty="0">
                <a:solidFill>
                  <a:srgbClr val="000000"/>
                </a:solidFill>
                <a:latin typeface="Calibri" pitchFamily="34" charset="0"/>
              </a:rPr>
              <a:t>Пример</a:t>
            </a:r>
            <a:r>
              <a:rPr lang="ru-RU" altLang="ru-RU" sz="2200" dirty="0">
                <a:solidFill>
                  <a:srgbClr val="000000"/>
                </a:solidFill>
                <a:latin typeface="Calibri" pitchFamily="34" charset="0"/>
              </a:rPr>
              <a:t>:</a:t>
            </a:r>
            <a:r>
              <a:rPr lang="ru-RU" sz="2200" b="1" dirty="0"/>
              <a:t> </a:t>
            </a:r>
            <a:r>
              <a:rPr lang="ru-RU" sz="2200" dirty="0"/>
              <a:t>ряд алгоритмов сортировки, алгоритмы поиска минимума и максимума в массиве.</a:t>
            </a:r>
            <a:endParaRPr lang="ru-RU" altLang="ru-RU" sz="2200" dirty="0">
              <a:solidFill>
                <a:srgbClr val="000000"/>
              </a:solidFill>
              <a:latin typeface="Calibri" pitchFamily="34" charset="0"/>
            </a:endParaRPr>
          </a:p>
          <a:p>
            <a:pPr marL="341313" indent="-341313">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ru-RU" sz="3200" dirty="0">
              <a:solidFill>
                <a:srgbClr val="000000"/>
              </a:solidFill>
              <a:latin typeface="Calibri" pitchFamily="34" charset="0"/>
            </a:endParaRPr>
          </a:p>
          <a:p>
            <a:pPr marL="341313" indent="-341313">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ru-RU" sz="3200" dirty="0">
              <a:solidFill>
                <a:srgbClr val="000000"/>
              </a:solidFill>
              <a:latin typeface="Calibri" pitchFamily="34" charset="0"/>
            </a:endParaRPr>
          </a:p>
        </p:txBody>
      </p:sp>
    </p:spTree>
    <p:extLst>
      <p:ext uri="{BB962C8B-B14F-4D97-AF65-F5344CB8AC3E}">
        <p14:creationId xmlns:p14="http://schemas.microsoft.com/office/powerpoint/2010/main" val="87110514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Заголовок 1"/>
          <p:cNvSpPr>
            <a:spLocks noGrp="1"/>
          </p:cNvSpPr>
          <p:nvPr>
            <p:ph type="title"/>
          </p:nvPr>
        </p:nvSpPr>
        <p:spPr>
          <a:xfrm>
            <a:off x="1981201" y="1"/>
            <a:ext cx="8228013" cy="549275"/>
          </a:xfrm>
          <a:solidFill>
            <a:srgbClr val="C6D9F1"/>
          </a:solidFill>
        </p:spPr>
        <p:txBody>
          <a:bodyPr>
            <a:normAutofit fontScale="90000"/>
          </a:bodyPr>
          <a:lstStyle/>
          <a:p>
            <a:br>
              <a:rPr lang="ru-RU" altLang="ru-RU" sz="3200" b="1"/>
            </a:br>
            <a:r>
              <a:rPr lang="ru-RU" altLang="ru-RU" sz="2800" b="1"/>
              <a:t>Асимптотический анализ алгоритмов</a:t>
            </a:r>
            <a:br>
              <a:rPr lang="ru-RU" altLang="ru-RU" b="1">
                <a:solidFill>
                  <a:schemeClr val="tx1"/>
                </a:solidFill>
              </a:rPr>
            </a:br>
            <a:endParaRPr lang="ru-RU" altLang="ru-RU"/>
          </a:p>
        </p:txBody>
      </p:sp>
      <p:sp>
        <p:nvSpPr>
          <p:cNvPr id="3" name="Содержимое 2"/>
          <p:cNvSpPr>
            <a:spLocks noGrp="1"/>
          </p:cNvSpPr>
          <p:nvPr>
            <p:ph idx="1"/>
          </p:nvPr>
        </p:nvSpPr>
        <p:spPr>
          <a:xfrm>
            <a:off x="1774825" y="549276"/>
            <a:ext cx="8713788" cy="6048375"/>
          </a:xfrm>
        </p:spPr>
        <p:txBody>
          <a:bodyPr/>
          <a:lstStyle/>
          <a:p>
            <a:pPr indent="0">
              <a:buNone/>
              <a:defRPr/>
            </a:pPr>
            <a:r>
              <a:rPr lang="ru-RU" sz="2400" dirty="0"/>
              <a:t>Часто работать непосредственно с функцией трудоемкости сложно, т. к. они обладают такими свойствами:</a:t>
            </a:r>
          </a:p>
          <a:p>
            <a:pPr>
              <a:defRPr/>
            </a:pPr>
            <a:r>
              <a:rPr lang="ru-RU" sz="2400" dirty="0"/>
              <a:t>являются слишком волнистыми, когда сильно влияние исходных данных на функцию трудоемкости;</a:t>
            </a:r>
          </a:p>
          <a:p>
            <a:pPr>
              <a:defRPr/>
            </a:pPr>
            <a:r>
              <a:rPr lang="ru-RU" sz="2400" dirty="0"/>
              <a:t>требуют слишком много информации для точного определения количества инструкций RAM-машины, а потому реально их определить только для простых алгоритмов;</a:t>
            </a:r>
          </a:p>
          <a:p>
            <a:pPr>
              <a:defRPr/>
            </a:pPr>
            <a:r>
              <a:rPr lang="ru-RU" sz="2400" dirty="0"/>
              <a:t>при изменении хотя бы одной операции, необходимо по новой пересчитывать коэффициенты;</a:t>
            </a:r>
          </a:p>
          <a:p>
            <a:pPr>
              <a:defRPr/>
            </a:pPr>
            <a:r>
              <a:rPr lang="ru-RU" sz="2400" dirty="0"/>
              <a:t>при достаточно больших </a:t>
            </a:r>
            <a:r>
              <a:rPr lang="en-US" sz="2400" dirty="0"/>
              <a:t>n </a:t>
            </a:r>
            <a:r>
              <a:rPr lang="ru-RU" sz="2400" dirty="0"/>
              <a:t>коэффициенты перестают играть существенную роль.</a:t>
            </a:r>
            <a:r>
              <a:rPr lang="ru-RU" sz="2400" b="1" dirty="0"/>
              <a:t> </a:t>
            </a:r>
            <a:endParaRPr lang="ru-RU" sz="2400" dirty="0"/>
          </a:p>
          <a:p>
            <a:pPr indent="0">
              <a:buNone/>
              <a:defRPr/>
            </a:pPr>
            <a:r>
              <a:rPr lang="ru-RU" sz="2400" dirty="0"/>
              <a:t>Цель асимптотического анализа – сравнение затрат ресурсов системы различными алгоритмами, предназначенными для решения одной и той же задачи при больших объемах входных данных(</a:t>
            </a:r>
            <a:r>
              <a:rPr lang="ru-RU" sz="2400" dirty="0" err="1"/>
              <a:t>n</a:t>
            </a:r>
            <a:r>
              <a:rPr lang="ru-RU" sz="2400" dirty="0"/>
              <a:t>→∞).</a:t>
            </a:r>
          </a:p>
          <a:p>
            <a:pPr indent="0">
              <a:buNone/>
              <a:defRPr/>
            </a:pPr>
            <a:endParaRPr lang="ru-RU" dirty="0"/>
          </a:p>
        </p:txBody>
      </p:sp>
    </p:spTree>
    <p:extLst>
      <p:ext uri="{BB962C8B-B14F-4D97-AF65-F5344CB8AC3E}">
        <p14:creationId xmlns:p14="http://schemas.microsoft.com/office/powerpoint/2010/main" val="3054347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1"/>
          <p:cNvSpPr txBox="1">
            <a:spLocks noChangeArrowheads="1"/>
          </p:cNvSpPr>
          <p:nvPr/>
        </p:nvSpPr>
        <p:spPr bwMode="auto">
          <a:xfrm>
            <a:off x="1981200" y="0"/>
            <a:ext cx="8229600" cy="571500"/>
          </a:xfrm>
          <a:prstGeom prst="rect">
            <a:avLst/>
          </a:prstGeom>
          <a:solidFill>
            <a:srgbClr val="C6D9F1"/>
          </a:solidFill>
          <a:ln w="9525">
            <a:noFill/>
            <a:round/>
            <a:headEnd/>
            <a:tailEnd/>
          </a:ln>
        </p:spPr>
        <p:txBody>
          <a:bodyPr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ru-RU" sz="2800" b="1"/>
              <a:t>Основные оценки сложности</a:t>
            </a:r>
            <a:endParaRPr lang="ru-RU" altLang="ru-RU" sz="2800" b="1">
              <a:latin typeface="Calibri" pitchFamily="34" charset="0"/>
            </a:endParaRPr>
          </a:p>
        </p:txBody>
      </p:sp>
      <p:sp>
        <p:nvSpPr>
          <p:cNvPr id="77830" name="Rectangle 7"/>
          <p:cNvSpPr>
            <a:spLocks noChangeArrowheads="1"/>
          </p:cNvSpPr>
          <p:nvPr/>
        </p:nvSpPr>
        <p:spPr bwMode="auto">
          <a:xfrm>
            <a:off x="1992314" y="554039"/>
            <a:ext cx="4319587" cy="6219825"/>
          </a:xfrm>
          <a:prstGeom prst="rect">
            <a:avLst/>
          </a:prstGeom>
          <a:noFill/>
          <a:ln w="9525">
            <a:noFill/>
            <a:round/>
            <a:headEnd/>
            <a:tailEnd/>
          </a:ln>
        </p:spPr>
        <p:txBody>
          <a:bodyPr lIns="90000" tIns="46800" rIns="90000" bIns="46800" anchor="ctr">
            <a:spAutoFit/>
          </a:bodyPr>
          <a:lstStyle/>
          <a:p>
            <a:pPr indent="450850" algn="just">
              <a:buFontTx/>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sz="2400" b="1" dirty="0">
                <a:solidFill>
                  <a:srgbClr val="000000"/>
                </a:solidFill>
                <a:latin typeface="+mj-lt"/>
                <a:cs typeface="Times New Roman" pitchFamily="18" charset="0"/>
              </a:rPr>
              <a:t>Оценка </a:t>
            </a:r>
            <a:r>
              <a:rPr lang="ru-RU" sz="2400" b="1" dirty="0">
                <a:solidFill>
                  <a:srgbClr val="000000"/>
                </a:solidFill>
                <a:latin typeface="+mj-lt"/>
                <a:cs typeface="Times New Roman" pitchFamily="18" charset="0"/>
                <a:sym typeface="Symbol"/>
              </a:rPr>
              <a:t>(</a:t>
            </a:r>
            <a:r>
              <a:rPr lang="en-US" sz="2400" b="1" dirty="0">
                <a:solidFill>
                  <a:srgbClr val="000000"/>
                </a:solidFill>
                <a:latin typeface="+mj-lt"/>
                <a:cs typeface="Times New Roman" pitchFamily="18" charset="0"/>
                <a:sym typeface="Symbol"/>
              </a:rPr>
              <a:t>g(n))</a:t>
            </a:r>
            <a:r>
              <a:rPr lang="ru-RU" sz="2400" b="1" dirty="0">
                <a:solidFill>
                  <a:srgbClr val="000000"/>
                </a:solidFill>
                <a:latin typeface="+mj-lt"/>
                <a:cs typeface="Times New Roman" pitchFamily="18" charset="0"/>
              </a:rPr>
              <a:t> (</a:t>
            </a:r>
            <a:r>
              <a:rPr lang="ru-RU" sz="2400" b="1" dirty="0" err="1">
                <a:solidFill>
                  <a:srgbClr val="000000"/>
                </a:solidFill>
                <a:latin typeface="+mj-lt"/>
                <a:cs typeface="Times New Roman" pitchFamily="18" charset="0"/>
              </a:rPr>
              <a:t>тетта</a:t>
            </a:r>
            <a:r>
              <a:rPr lang="ru-RU" sz="2400" b="1" dirty="0">
                <a:solidFill>
                  <a:srgbClr val="000000"/>
                </a:solidFill>
                <a:latin typeface="+mj-lt"/>
                <a:cs typeface="Times New Roman" pitchFamily="18" charset="0"/>
              </a:rPr>
              <a:t>) - </a:t>
            </a:r>
            <a:r>
              <a:rPr lang="ru-RU" sz="2400" b="1" dirty="0">
                <a:latin typeface="+mj-lt"/>
              </a:rPr>
              <a:t>функции, растущие с той же скоростью, что и </a:t>
            </a:r>
            <a:r>
              <a:rPr lang="ru-RU" sz="2400" b="1" dirty="0" err="1">
                <a:latin typeface="+mj-lt"/>
              </a:rPr>
              <a:t>g</a:t>
            </a:r>
            <a:r>
              <a:rPr lang="ru-RU" sz="2400" b="1" dirty="0">
                <a:latin typeface="+mj-lt"/>
                <a:cs typeface="Times New Roman" pitchFamily="18" charset="0"/>
              </a:rPr>
              <a:t>.</a:t>
            </a:r>
            <a:endParaRPr lang="en-US" sz="2400" b="1" dirty="0">
              <a:latin typeface="+mj-lt"/>
              <a:cs typeface="Times New Roman" pitchFamily="18" charset="0"/>
            </a:endParaRPr>
          </a:p>
          <a:p>
            <a:pPr indent="450850" algn="jus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ru-RU" dirty="0">
                <a:latin typeface="Arial" pitchFamily="34" charset="0"/>
                <a:cs typeface="Arial" pitchFamily="34" charset="0"/>
              </a:rPr>
              <a:t>Пусть </a:t>
            </a:r>
            <a:r>
              <a:rPr lang="en-US" dirty="0">
                <a:latin typeface="Arial" pitchFamily="34" charset="0"/>
                <a:cs typeface="Arial" pitchFamily="34" charset="0"/>
              </a:rPr>
              <a:t>T</a:t>
            </a:r>
            <a:r>
              <a:rPr lang="ru-RU" i="1" dirty="0">
                <a:latin typeface="Arial" pitchFamily="34" charset="0"/>
                <a:cs typeface="Arial" pitchFamily="34" charset="0"/>
              </a:rPr>
              <a:t>(</a:t>
            </a:r>
            <a:r>
              <a:rPr lang="en-US" i="1" dirty="0">
                <a:latin typeface="Arial" pitchFamily="34" charset="0"/>
                <a:cs typeface="Arial" pitchFamily="34" charset="0"/>
              </a:rPr>
              <a:t>n</a:t>
            </a:r>
            <a:r>
              <a:rPr lang="ru-RU" i="1" dirty="0">
                <a:latin typeface="Arial" pitchFamily="34" charset="0"/>
                <a:cs typeface="Arial" pitchFamily="34" charset="0"/>
              </a:rPr>
              <a:t>)</a:t>
            </a:r>
            <a:r>
              <a:rPr lang="ru-RU" dirty="0">
                <a:latin typeface="Arial" pitchFamily="34" charset="0"/>
                <a:cs typeface="Arial" pitchFamily="34" charset="0"/>
              </a:rPr>
              <a:t> и </a:t>
            </a:r>
            <a:r>
              <a:rPr lang="en-US" i="1" dirty="0">
                <a:latin typeface="Arial" pitchFamily="34" charset="0"/>
                <a:cs typeface="Arial" pitchFamily="34" charset="0"/>
              </a:rPr>
              <a:t>g</a:t>
            </a:r>
            <a:r>
              <a:rPr lang="ru-RU" i="1" dirty="0">
                <a:latin typeface="Arial" pitchFamily="34" charset="0"/>
                <a:cs typeface="Arial" pitchFamily="34" charset="0"/>
              </a:rPr>
              <a:t>(</a:t>
            </a:r>
            <a:r>
              <a:rPr lang="en-US" i="1" dirty="0">
                <a:latin typeface="Arial" pitchFamily="34" charset="0"/>
                <a:cs typeface="Arial" pitchFamily="34" charset="0"/>
              </a:rPr>
              <a:t>n</a:t>
            </a:r>
            <a:r>
              <a:rPr lang="ru-RU" i="1" dirty="0">
                <a:latin typeface="Arial" pitchFamily="34" charset="0"/>
                <a:cs typeface="Arial" pitchFamily="34" charset="0"/>
              </a:rPr>
              <a:t>)</a:t>
            </a:r>
            <a:r>
              <a:rPr lang="ru-RU" dirty="0">
                <a:latin typeface="Arial" pitchFamily="34" charset="0"/>
                <a:cs typeface="Arial" pitchFamily="34" charset="0"/>
              </a:rPr>
              <a:t> – положительные функции положительного аргумента, </a:t>
            </a:r>
            <a:r>
              <a:rPr lang="en-US" i="1" dirty="0">
                <a:latin typeface="Arial" pitchFamily="34" charset="0"/>
                <a:cs typeface="Arial" pitchFamily="34" charset="0"/>
              </a:rPr>
              <a:t>n</a:t>
            </a:r>
            <a:r>
              <a:rPr lang="ru-RU" i="1" dirty="0">
                <a:latin typeface="Arial" pitchFamily="34" charset="0"/>
                <a:cs typeface="Arial" pitchFamily="34" charset="0"/>
              </a:rPr>
              <a:t> ≥ 1.</a:t>
            </a:r>
            <a:endParaRPr lang="ru-RU" b="1" dirty="0">
              <a:latin typeface="Arial" pitchFamily="34" charset="0"/>
              <a:cs typeface="Arial" pitchFamily="34" charset="0"/>
            </a:endParaRPr>
          </a:p>
          <a:p>
            <a:pPr>
              <a:defRPr/>
            </a:pPr>
            <a:r>
              <a:rPr lang="ru-RU" dirty="0">
                <a:latin typeface="Arial" pitchFamily="34" charset="0"/>
                <a:cs typeface="Arial" pitchFamily="34" charset="0"/>
              </a:rPr>
              <a:t>Говорят, что время работы алгоритма T(</a:t>
            </a:r>
            <a:r>
              <a:rPr lang="ru-RU" dirty="0" err="1">
                <a:latin typeface="Arial" pitchFamily="34" charset="0"/>
                <a:cs typeface="Arial" pitchFamily="34" charset="0"/>
              </a:rPr>
              <a:t>n</a:t>
            </a:r>
            <a:r>
              <a:rPr lang="ru-RU" dirty="0">
                <a:latin typeface="Arial" pitchFamily="34" charset="0"/>
                <a:cs typeface="Arial" pitchFamily="34" charset="0"/>
              </a:rPr>
              <a:t>) имеет порядок роста </a:t>
            </a:r>
            <a:r>
              <a:rPr lang="ru-RU" dirty="0" err="1">
                <a:latin typeface="Arial" pitchFamily="34" charset="0"/>
                <a:cs typeface="Arial" pitchFamily="34" charset="0"/>
              </a:rPr>
              <a:t>g</a:t>
            </a:r>
            <a:r>
              <a:rPr lang="ru-RU" dirty="0">
                <a:latin typeface="Arial" pitchFamily="34" charset="0"/>
                <a:cs typeface="Arial" pitchFamily="34" charset="0"/>
              </a:rPr>
              <a:t>(</a:t>
            </a:r>
            <a:r>
              <a:rPr lang="ru-RU" dirty="0" err="1">
                <a:latin typeface="Arial" pitchFamily="34" charset="0"/>
                <a:cs typeface="Arial" pitchFamily="34" charset="0"/>
              </a:rPr>
              <a:t>n</a:t>
            </a:r>
            <a:r>
              <a:rPr lang="ru-RU" dirty="0">
                <a:latin typeface="Arial" pitchFamily="34" charset="0"/>
                <a:cs typeface="Arial" pitchFamily="34" charset="0"/>
              </a:rPr>
              <a:t>), если существуют натуральное число n</a:t>
            </a:r>
            <a:r>
              <a:rPr lang="ru-RU" baseline="-25000" dirty="0">
                <a:latin typeface="Arial" pitchFamily="34" charset="0"/>
                <a:cs typeface="Arial" pitchFamily="34" charset="0"/>
              </a:rPr>
              <a:t>0</a:t>
            </a:r>
            <a:r>
              <a:rPr lang="ru-RU" dirty="0">
                <a:latin typeface="Arial" pitchFamily="34" charset="0"/>
                <a:cs typeface="Arial" pitchFamily="34" charset="0"/>
              </a:rPr>
              <a:t> и положительные константы c</a:t>
            </a:r>
            <a:r>
              <a:rPr lang="ru-RU" baseline="-25000" dirty="0">
                <a:latin typeface="Arial" pitchFamily="34" charset="0"/>
                <a:cs typeface="Arial" pitchFamily="34" charset="0"/>
              </a:rPr>
              <a:t>1</a:t>
            </a:r>
            <a:r>
              <a:rPr lang="ru-RU" dirty="0">
                <a:latin typeface="Arial" pitchFamily="34" charset="0"/>
                <a:cs typeface="Arial" pitchFamily="34" charset="0"/>
              </a:rPr>
              <a:t> и c</a:t>
            </a:r>
            <a:r>
              <a:rPr lang="ru-RU" baseline="-25000" dirty="0">
                <a:latin typeface="Arial" pitchFamily="34" charset="0"/>
                <a:cs typeface="Arial" pitchFamily="34" charset="0"/>
              </a:rPr>
              <a:t>2</a:t>
            </a:r>
            <a:r>
              <a:rPr lang="ru-RU" dirty="0">
                <a:latin typeface="Arial" pitchFamily="34" charset="0"/>
                <a:cs typeface="Arial" pitchFamily="34" charset="0"/>
              </a:rPr>
              <a:t> (0 &lt; c</a:t>
            </a:r>
            <a:r>
              <a:rPr lang="ru-RU" baseline="-25000" dirty="0">
                <a:latin typeface="Arial" pitchFamily="34" charset="0"/>
                <a:cs typeface="Arial" pitchFamily="34" charset="0"/>
              </a:rPr>
              <a:t>1</a:t>
            </a:r>
            <a:r>
              <a:rPr lang="ru-RU" dirty="0">
                <a:latin typeface="Arial" pitchFamily="34" charset="0"/>
                <a:cs typeface="Arial" pitchFamily="34" charset="0"/>
              </a:rPr>
              <a:t> ≤ c</a:t>
            </a:r>
            <a:r>
              <a:rPr lang="ru-RU" baseline="-25000" dirty="0">
                <a:latin typeface="Arial" pitchFamily="34" charset="0"/>
                <a:cs typeface="Arial" pitchFamily="34" charset="0"/>
              </a:rPr>
              <a:t>2</a:t>
            </a:r>
            <a:r>
              <a:rPr lang="ru-RU" dirty="0">
                <a:latin typeface="Arial" pitchFamily="34" charset="0"/>
                <a:cs typeface="Arial" pitchFamily="34" charset="0"/>
              </a:rPr>
              <a:t>), такие, что для любого натурального </a:t>
            </a:r>
            <a:r>
              <a:rPr lang="ru-RU" dirty="0" err="1">
                <a:latin typeface="Arial" pitchFamily="34" charset="0"/>
                <a:cs typeface="Arial" pitchFamily="34" charset="0"/>
              </a:rPr>
              <a:t>n</a:t>
            </a:r>
            <a:r>
              <a:rPr lang="ru-RU" dirty="0">
                <a:latin typeface="Arial" pitchFamily="34" charset="0"/>
                <a:cs typeface="Arial" pitchFamily="34" charset="0"/>
              </a:rPr>
              <a:t> начиная с n</a:t>
            </a:r>
            <a:r>
              <a:rPr lang="ru-RU" baseline="-25000" dirty="0">
                <a:latin typeface="Arial" pitchFamily="34" charset="0"/>
                <a:cs typeface="Arial" pitchFamily="34" charset="0"/>
              </a:rPr>
              <a:t>0</a:t>
            </a:r>
            <a:r>
              <a:rPr lang="ru-RU" dirty="0">
                <a:latin typeface="Arial" pitchFamily="34" charset="0"/>
                <a:cs typeface="Arial" pitchFamily="34" charset="0"/>
              </a:rPr>
              <a:t> выполняется неравенство :</a:t>
            </a:r>
          </a:p>
          <a:p>
            <a:pPr>
              <a:defRPr/>
            </a:pPr>
            <a:r>
              <a:rPr lang="ru-RU" dirty="0">
                <a:latin typeface="Arial" pitchFamily="34" charset="0"/>
                <a:cs typeface="Arial" pitchFamily="34" charset="0"/>
              </a:rPr>
              <a:t>c</a:t>
            </a:r>
            <a:r>
              <a:rPr lang="ru-RU" baseline="-25000" dirty="0">
                <a:latin typeface="Arial" pitchFamily="34" charset="0"/>
                <a:cs typeface="Arial" pitchFamily="34" charset="0"/>
              </a:rPr>
              <a:t>1</a:t>
            </a:r>
            <a:r>
              <a:rPr lang="ru-RU" dirty="0">
                <a:latin typeface="Arial" pitchFamily="34" charset="0"/>
                <a:cs typeface="Arial" pitchFamily="34" charset="0"/>
              </a:rPr>
              <a:t> ∙ </a:t>
            </a:r>
            <a:r>
              <a:rPr lang="ru-RU" dirty="0" err="1">
                <a:latin typeface="Arial" pitchFamily="34" charset="0"/>
                <a:cs typeface="Arial" pitchFamily="34" charset="0"/>
              </a:rPr>
              <a:t>g</a:t>
            </a:r>
            <a:r>
              <a:rPr lang="ru-RU" dirty="0">
                <a:latin typeface="Arial" pitchFamily="34" charset="0"/>
                <a:cs typeface="Arial" pitchFamily="34" charset="0"/>
              </a:rPr>
              <a:t>(</a:t>
            </a:r>
            <a:r>
              <a:rPr lang="ru-RU" dirty="0" err="1">
                <a:latin typeface="Arial" pitchFamily="34" charset="0"/>
                <a:cs typeface="Arial" pitchFamily="34" charset="0"/>
              </a:rPr>
              <a:t>n</a:t>
            </a:r>
            <a:r>
              <a:rPr lang="ru-RU" dirty="0">
                <a:latin typeface="Arial" pitchFamily="34" charset="0"/>
                <a:cs typeface="Arial" pitchFamily="34" charset="0"/>
              </a:rPr>
              <a:t>) ≤ T(</a:t>
            </a:r>
            <a:r>
              <a:rPr lang="ru-RU" dirty="0" err="1">
                <a:latin typeface="Arial" pitchFamily="34" charset="0"/>
                <a:cs typeface="Arial" pitchFamily="34" charset="0"/>
              </a:rPr>
              <a:t>n</a:t>
            </a:r>
            <a:r>
              <a:rPr lang="ru-RU" dirty="0">
                <a:latin typeface="Arial" pitchFamily="34" charset="0"/>
                <a:cs typeface="Arial" pitchFamily="34" charset="0"/>
              </a:rPr>
              <a:t>) ≤ c</a:t>
            </a:r>
            <a:r>
              <a:rPr lang="ru-RU" baseline="-25000" dirty="0">
                <a:latin typeface="Arial" pitchFamily="34" charset="0"/>
                <a:cs typeface="Arial" pitchFamily="34" charset="0"/>
              </a:rPr>
              <a:t>2</a:t>
            </a:r>
            <a:r>
              <a:rPr lang="ru-RU" dirty="0">
                <a:latin typeface="Arial" pitchFamily="34" charset="0"/>
                <a:cs typeface="Arial" pitchFamily="34" charset="0"/>
              </a:rPr>
              <a:t> ∙</a:t>
            </a:r>
            <a:r>
              <a:rPr lang="ru-RU" dirty="0" err="1">
                <a:latin typeface="Arial" pitchFamily="34" charset="0"/>
                <a:cs typeface="Arial" pitchFamily="34" charset="0"/>
              </a:rPr>
              <a:t>g</a:t>
            </a:r>
            <a:r>
              <a:rPr lang="ru-RU" dirty="0">
                <a:latin typeface="Arial" pitchFamily="34" charset="0"/>
                <a:cs typeface="Arial" pitchFamily="34" charset="0"/>
              </a:rPr>
              <a:t>(</a:t>
            </a:r>
            <a:r>
              <a:rPr lang="ru-RU" dirty="0" err="1">
                <a:latin typeface="Arial" pitchFamily="34" charset="0"/>
                <a:cs typeface="Arial" pitchFamily="34" charset="0"/>
              </a:rPr>
              <a:t>n</a:t>
            </a:r>
            <a:r>
              <a:rPr lang="ru-RU" dirty="0">
                <a:latin typeface="Arial" pitchFamily="34" charset="0"/>
                <a:cs typeface="Arial" pitchFamily="34" charset="0"/>
              </a:rPr>
              <a:t>).</a:t>
            </a:r>
          </a:p>
          <a:p>
            <a:pPr>
              <a:defRPr/>
            </a:pPr>
            <a:r>
              <a:rPr lang="ru-RU" dirty="0">
                <a:latin typeface="Arial" pitchFamily="34" charset="0"/>
                <a:cs typeface="Arial" pitchFamily="34" charset="0"/>
              </a:rPr>
              <a:t>Обозначение: T(</a:t>
            </a:r>
            <a:r>
              <a:rPr lang="ru-RU" dirty="0" err="1">
                <a:latin typeface="Arial" pitchFamily="34" charset="0"/>
                <a:cs typeface="Arial" pitchFamily="34" charset="0"/>
              </a:rPr>
              <a:t>n</a:t>
            </a:r>
            <a:r>
              <a:rPr lang="ru-RU" dirty="0">
                <a:latin typeface="Arial" pitchFamily="34" charset="0"/>
                <a:cs typeface="Arial" pitchFamily="34" charset="0"/>
              </a:rPr>
              <a:t>) = Θ(</a:t>
            </a:r>
            <a:r>
              <a:rPr lang="ru-RU" dirty="0" err="1">
                <a:latin typeface="Arial" pitchFamily="34" charset="0"/>
                <a:cs typeface="Arial" pitchFamily="34" charset="0"/>
              </a:rPr>
              <a:t>g</a:t>
            </a:r>
            <a:r>
              <a:rPr lang="ru-RU" dirty="0">
                <a:latin typeface="Arial" pitchFamily="34" charset="0"/>
                <a:cs typeface="Arial" pitchFamily="34" charset="0"/>
              </a:rPr>
              <a:t>(</a:t>
            </a:r>
            <a:r>
              <a:rPr lang="ru-RU" dirty="0" err="1">
                <a:latin typeface="Arial" pitchFamily="34" charset="0"/>
                <a:cs typeface="Arial" pitchFamily="34" charset="0"/>
              </a:rPr>
              <a:t>n</a:t>
            </a:r>
            <a:r>
              <a:rPr lang="ru-RU" dirty="0">
                <a:latin typeface="Arial" pitchFamily="34" charset="0"/>
                <a:cs typeface="Arial" pitchFamily="34" charset="0"/>
              </a:rPr>
              <a:t>)). </a:t>
            </a:r>
          </a:p>
          <a:p>
            <a:pPr>
              <a:defRPr/>
            </a:pPr>
            <a:r>
              <a:rPr lang="ru-RU" dirty="0">
                <a:latin typeface="Arial" pitchFamily="34" charset="0"/>
                <a:cs typeface="Arial" pitchFamily="34" charset="0"/>
              </a:rPr>
              <a:t>Читается как «</a:t>
            </a:r>
            <a:r>
              <a:rPr lang="ru-RU" dirty="0" err="1">
                <a:latin typeface="Arial" pitchFamily="34" charset="0"/>
                <a:cs typeface="Arial" pitchFamily="34" charset="0"/>
              </a:rPr>
              <a:t>Тэта</a:t>
            </a:r>
            <a:r>
              <a:rPr lang="ru-RU" dirty="0">
                <a:latin typeface="Arial" pitchFamily="34" charset="0"/>
                <a:cs typeface="Arial" pitchFamily="34" charset="0"/>
              </a:rPr>
              <a:t> большое от </a:t>
            </a:r>
            <a:r>
              <a:rPr lang="ru-RU" dirty="0" err="1">
                <a:latin typeface="Arial" pitchFamily="34" charset="0"/>
                <a:cs typeface="Arial" pitchFamily="34" charset="0"/>
              </a:rPr>
              <a:t>g</a:t>
            </a:r>
            <a:r>
              <a:rPr lang="ru-RU" dirty="0">
                <a:latin typeface="Arial" pitchFamily="34" charset="0"/>
                <a:cs typeface="Arial" pitchFamily="34" charset="0"/>
              </a:rPr>
              <a:t> </a:t>
            </a:r>
            <a:r>
              <a:rPr lang="ru-RU" dirty="0" err="1">
                <a:latin typeface="Arial" pitchFamily="34" charset="0"/>
                <a:cs typeface="Arial" pitchFamily="34" charset="0"/>
              </a:rPr>
              <a:t>от</a:t>
            </a:r>
            <a:r>
              <a:rPr lang="ru-RU" dirty="0">
                <a:latin typeface="Arial" pitchFamily="34" charset="0"/>
                <a:cs typeface="Arial" pitchFamily="34" charset="0"/>
              </a:rPr>
              <a:t> </a:t>
            </a:r>
            <a:r>
              <a:rPr lang="ru-RU" dirty="0" err="1">
                <a:latin typeface="Arial" pitchFamily="34" charset="0"/>
                <a:cs typeface="Arial" pitchFamily="34" charset="0"/>
              </a:rPr>
              <a:t>n</a:t>
            </a:r>
            <a:r>
              <a:rPr lang="ru-RU" dirty="0">
                <a:latin typeface="Arial" pitchFamily="34" charset="0"/>
                <a:cs typeface="Arial" pitchFamily="34" charset="0"/>
              </a:rPr>
              <a:t>».</a:t>
            </a:r>
          </a:p>
          <a:p>
            <a:pPr>
              <a:defRPr/>
            </a:pPr>
            <a:r>
              <a:rPr lang="en-US" i="1" dirty="0">
                <a:latin typeface="Arial" pitchFamily="34" charset="0"/>
                <a:cs typeface="Arial" pitchFamily="34" charset="0"/>
              </a:rPr>
              <a:t>T</a:t>
            </a:r>
            <a:r>
              <a:rPr lang="ru-RU" i="1" dirty="0">
                <a:latin typeface="Arial" pitchFamily="34" charset="0"/>
                <a:cs typeface="Arial" pitchFamily="34" charset="0"/>
              </a:rPr>
              <a:t>(</a:t>
            </a:r>
            <a:r>
              <a:rPr lang="en-US" i="1" dirty="0">
                <a:latin typeface="Arial" pitchFamily="34" charset="0"/>
                <a:cs typeface="Arial" pitchFamily="34" charset="0"/>
              </a:rPr>
              <a:t>n</a:t>
            </a:r>
            <a:r>
              <a:rPr lang="ru-RU" i="1" dirty="0">
                <a:latin typeface="Arial" pitchFamily="34" charset="0"/>
                <a:cs typeface="Arial" pitchFamily="34" charset="0"/>
              </a:rPr>
              <a:t>) = </a:t>
            </a:r>
            <a:r>
              <a:rPr lang="ru-RU" i="1" dirty="0">
                <a:latin typeface="Arial" pitchFamily="34" charset="0"/>
                <a:cs typeface="Arial" pitchFamily="34" charset="0"/>
                <a:sym typeface="Symbol"/>
              </a:rPr>
              <a:t></a:t>
            </a:r>
            <a:r>
              <a:rPr lang="ru-RU" i="1" dirty="0">
                <a:latin typeface="Arial" pitchFamily="34" charset="0"/>
                <a:cs typeface="Arial" pitchFamily="34" charset="0"/>
              </a:rPr>
              <a:t> (</a:t>
            </a:r>
            <a:r>
              <a:rPr lang="en-US" i="1" dirty="0">
                <a:latin typeface="Arial" pitchFamily="34" charset="0"/>
                <a:cs typeface="Arial" pitchFamily="34" charset="0"/>
              </a:rPr>
              <a:t>g</a:t>
            </a:r>
            <a:r>
              <a:rPr lang="ru-RU" i="1" dirty="0">
                <a:latin typeface="Arial" pitchFamily="34" charset="0"/>
                <a:cs typeface="Arial" pitchFamily="34" charset="0"/>
              </a:rPr>
              <a:t>(</a:t>
            </a:r>
            <a:r>
              <a:rPr lang="en-US" i="1" dirty="0">
                <a:latin typeface="Arial" pitchFamily="34" charset="0"/>
                <a:cs typeface="Arial" pitchFamily="34" charset="0"/>
              </a:rPr>
              <a:t>n</a:t>
            </a:r>
            <a:r>
              <a:rPr lang="ru-RU" i="1" dirty="0">
                <a:latin typeface="Arial" pitchFamily="34" charset="0"/>
                <a:cs typeface="Arial" pitchFamily="34" charset="0"/>
              </a:rPr>
              <a:t>)),</a:t>
            </a:r>
            <a:r>
              <a:rPr lang="ru-RU" dirty="0">
                <a:latin typeface="Arial" pitchFamily="34" charset="0"/>
                <a:cs typeface="Arial" pitchFamily="34" charset="0"/>
              </a:rPr>
              <a:t> если </a:t>
            </a:r>
            <a:r>
              <a:rPr lang="ru-RU" dirty="0">
                <a:latin typeface="Arial" pitchFamily="34" charset="0"/>
                <a:cs typeface="Arial" pitchFamily="34" charset="0"/>
                <a:sym typeface="Symbol"/>
              </a:rPr>
              <a:t></a:t>
            </a:r>
            <a:r>
              <a:rPr lang="ru-RU" dirty="0">
                <a:latin typeface="Arial" pitchFamily="34" charset="0"/>
                <a:cs typeface="Arial" pitchFamily="34" charset="0"/>
              </a:rPr>
              <a:t> с</a:t>
            </a:r>
            <a:r>
              <a:rPr lang="ru-RU" baseline="-25000" dirty="0">
                <a:latin typeface="Arial" pitchFamily="34" charset="0"/>
                <a:cs typeface="Arial" pitchFamily="34" charset="0"/>
              </a:rPr>
              <a:t>1  </a:t>
            </a:r>
            <a:r>
              <a:rPr lang="ru-RU" dirty="0">
                <a:latin typeface="Arial" pitchFamily="34" charset="0"/>
                <a:cs typeface="Arial" pitchFamily="34" charset="0"/>
              </a:rPr>
              <a:t>&gt;0, с</a:t>
            </a:r>
            <a:r>
              <a:rPr lang="ru-RU" baseline="-25000" dirty="0">
                <a:latin typeface="Arial" pitchFamily="34" charset="0"/>
                <a:cs typeface="Arial" pitchFamily="34" charset="0"/>
              </a:rPr>
              <a:t>2  </a:t>
            </a:r>
            <a:r>
              <a:rPr lang="ru-RU" dirty="0">
                <a:latin typeface="Arial" pitchFamily="34" charset="0"/>
                <a:cs typeface="Arial" pitchFamily="34" charset="0"/>
              </a:rPr>
              <a:t>&gt;0, </a:t>
            </a:r>
            <a:r>
              <a:rPr lang="en-US" dirty="0">
                <a:latin typeface="Arial" pitchFamily="34" charset="0"/>
                <a:cs typeface="Arial" pitchFamily="34" charset="0"/>
              </a:rPr>
              <a:t>n</a:t>
            </a:r>
            <a:r>
              <a:rPr lang="ru-RU" baseline="-25000" dirty="0">
                <a:latin typeface="Arial" pitchFamily="34" charset="0"/>
                <a:cs typeface="Arial" pitchFamily="34" charset="0"/>
              </a:rPr>
              <a:t>0 </a:t>
            </a:r>
            <a:r>
              <a:rPr lang="ru-RU" dirty="0">
                <a:latin typeface="Arial" pitchFamily="34" charset="0"/>
                <a:cs typeface="Arial" pitchFamily="34" charset="0"/>
              </a:rPr>
              <a:t>&gt;0</a:t>
            </a:r>
            <a:r>
              <a:rPr lang="ru-RU" baseline="-25000" dirty="0">
                <a:latin typeface="Arial" pitchFamily="34" charset="0"/>
                <a:cs typeface="Arial" pitchFamily="34" charset="0"/>
              </a:rPr>
              <a:t> </a:t>
            </a:r>
            <a:r>
              <a:rPr lang="ru-RU" dirty="0">
                <a:latin typeface="Arial" pitchFamily="34" charset="0"/>
                <a:cs typeface="Arial" pitchFamily="34" charset="0"/>
              </a:rPr>
              <a:t>такие, что: </a:t>
            </a:r>
            <a:r>
              <a:rPr lang="ru-RU" i="1" dirty="0">
                <a:latin typeface="Arial" pitchFamily="34" charset="0"/>
                <a:cs typeface="Arial" pitchFamily="34" charset="0"/>
              </a:rPr>
              <a:t>с</a:t>
            </a:r>
            <a:r>
              <a:rPr lang="ru-RU" i="1" baseline="-25000" dirty="0">
                <a:latin typeface="Arial" pitchFamily="34" charset="0"/>
                <a:cs typeface="Arial" pitchFamily="34" charset="0"/>
              </a:rPr>
              <a:t>1 </a:t>
            </a:r>
            <a:r>
              <a:rPr lang="en-US" i="1" dirty="0">
                <a:latin typeface="Arial" pitchFamily="34" charset="0"/>
                <a:cs typeface="Arial" pitchFamily="34" charset="0"/>
              </a:rPr>
              <a:t>g</a:t>
            </a:r>
            <a:r>
              <a:rPr lang="ru-RU" i="1" dirty="0">
                <a:latin typeface="Arial" pitchFamily="34" charset="0"/>
                <a:cs typeface="Arial" pitchFamily="34" charset="0"/>
              </a:rPr>
              <a:t>(</a:t>
            </a:r>
            <a:r>
              <a:rPr lang="en-US" i="1" dirty="0">
                <a:latin typeface="Arial" pitchFamily="34" charset="0"/>
                <a:cs typeface="Arial" pitchFamily="34" charset="0"/>
              </a:rPr>
              <a:t>n</a:t>
            </a:r>
            <a:r>
              <a:rPr lang="ru-RU" i="1" dirty="0">
                <a:latin typeface="Arial" pitchFamily="34" charset="0"/>
                <a:cs typeface="Arial" pitchFamily="34" charset="0"/>
              </a:rPr>
              <a:t>) </a:t>
            </a:r>
            <a:r>
              <a:rPr lang="ru-RU" i="1" dirty="0">
                <a:latin typeface="Arial" pitchFamily="34" charset="0"/>
                <a:cs typeface="Arial" pitchFamily="34" charset="0"/>
                <a:sym typeface="Symbol"/>
              </a:rPr>
              <a:t></a:t>
            </a:r>
            <a:r>
              <a:rPr lang="ru-RU" i="1" dirty="0">
                <a:latin typeface="Arial" pitchFamily="34" charset="0"/>
                <a:cs typeface="Arial" pitchFamily="34" charset="0"/>
              </a:rPr>
              <a:t> </a:t>
            </a:r>
            <a:r>
              <a:rPr lang="en-US" i="1" dirty="0">
                <a:latin typeface="Arial" pitchFamily="34" charset="0"/>
                <a:cs typeface="Arial" pitchFamily="34" charset="0"/>
              </a:rPr>
              <a:t>T</a:t>
            </a:r>
            <a:r>
              <a:rPr lang="ru-RU" i="1" dirty="0">
                <a:latin typeface="Arial" pitchFamily="34" charset="0"/>
                <a:cs typeface="Arial" pitchFamily="34" charset="0"/>
              </a:rPr>
              <a:t>(</a:t>
            </a:r>
            <a:r>
              <a:rPr lang="en-US" i="1" dirty="0">
                <a:latin typeface="Arial" pitchFamily="34" charset="0"/>
                <a:cs typeface="Arial" pitchFamily="34" charset="0"/>
              </a:rPr>
              <a:t>n</a:t>
            </a:r>
            <a:r>
              <a:rPr lang="ru-RU" i="1" dirty="0">
                <a:latin typeface="Arial" pitchFamily="34" charset="0"/>
                <a:cs typeface="Arial" pitchFamily="34" charset="0"/>
              </a:rPr>
              <a:t>) </a:t>
            </a:r>
            <a:r>
              <a:rPr lang="ru-RU" i="1" dirty="0">
                <a:latin typeface="Arial" pitchFamily="34" charset="0"/>
                <a:cs typeface="Arial" pitchFamily="34" charset="0"/>
                <a:sym typeface="Symbol"/>
              </a:rPr>
              <a:t></a:t>
            </a:r>
            <a:r>
              <a:rPr lang="ru-RU" i="1" dirty="0">
                <a:latin typeface="Arial" pitchFamily="34" charset="0"/>
                <a:cs typeface="Arial" pitchFamily="34" charset="0"/>
              </a:rPr>
              <a:t> </a:t>
            </a:r>
            <a:r>
              <a:rPr lang="en-US" i="1" dirty="0">
                <a:latin typeface="Arial" pitchFamily="34" charset="0"/>
                <a:cs typeface="Arial" pitchFamily="34" charset="0"/>
              </a:rPr>
              <a:t>c</a:t>
            </a:r>
            <a:r>
              <a:rPr lang="ru-RU" i="1" baseline="-25000" dirty="0">
                <a:latin typeface="Arial" pitchFamily="34" charset="0"/>
                <a:cs typeface="Arial" pitchFamily="34" charset="0"/>
              </a:rPr>
              <a:t>2 </a:t>
            </a:r>
            <a:r>
              <a:rPr lang="en-US" i="1" dirty="0">
                <a:latin typeface="Arial" pitchFamily="34" charset="0"/>
                <a:cs typeface="Arial" pitchFamily="34" charset="0"/>
              </a:rPr>
              <a:t>g</a:t>
            </a:r>
            <a:r>
              <a:rPr lang="ru-RU" i="1" dirty="0">
                <a:latin typeface="Arial" pitchFamily="34" charset="0"/>
                <a:cs typeface="Arial" pitchFamily="34" charset="0"/>
              </a:rPr>
              <a:t>(</a:t>
            </a:r>
            <a:r>
              <a:rPr lang="en-US" i="1" dirty="0">
                <a:latin typeface="Arial" pitchFamily="34" charset="0"/>
                <a:cs typeface="Arial" pitchFamily="34" charset="0"/>
              </a:rPr>
              <a:t>n</a:t>
            </a:r>
            <a:r>
              <a:rPr lang="ru-RU" i="1" dirty="0">
                <a:latin typeface="Arial" pitchFamily="34" charset="0"/>
                <a:cs typeface="Arial" pitchFamily="34" charset="0"/>
              </a:rPr>
              <a:t>), для </a:t>
            </a:r>
            <a:r>
              <a:rPr lang="ru-RU" i="1" dirty="0">
                <a:latin typeface="Arial" pitchFamily="34" charset="0"/>
                <a:cs typeface="Arial" pitchFamily="34" charset="0"/>
                <a:sym typeface="Symbol"/>
              </a:rPr>
              <a:t></a:t>
            </a:r>
            <a:r>
              <a:rPr lang="ru-RU" i="1" dirty="0">
                <a:latin typeface="Arial" pitchFamily="34" charset="0"/>
                <a:cs typeface="Arial" pitchFamily="34" charset="0"/>
              </a:rPr>
              <a:t> </a:t>
            </a:r>
            <a:r>
              <a:rPr lang="ru-RU" i="1" dirty="0" err="1">
                <a:latin typeface="Arial" pitchFamily="34" charset="0"/>
                <a:cs typeface="Arial" pitchFamily="34" charset="0"/>
              </a:rPr>
              <a:t>n</a:t>
            </a:r>
            <a:r>
              <a:rPr lang="ru-RU" i="1" dirty="0">
                <a:latin typeface="Arial" pitchFamily="34" charset="0"/>
                <a:cs typeface="Arial" pitchFamily="34" charset="0"/>
              </a:rPr>
              <a:t> &gt; </a:t>
            </a:r>
            <a:r>
              <a:rPr lang="en-US" i="1" dirty="0">
                <a:latin typeface="Arial" pitchFamily="34" charset="0"/>
                <a:cs typeface="Arial" pitchFamily="34" charset="0"/>
              </a:rPr>
              <a:t>n</a:t>
            </a:r>
            <a:r>
              <a:rPr lang="ru-RU" i="1" baseline="-25000" dirty="0">
                <a:latin typeface="Arial" pitchFamily="34" charset="0"/>
                <a:cs typeface="Arial" pitchFamily="34" charset="0"/>
              </a:rPr>
              <a:t>0.</a:t>
            </a:r>
            <a:endParaRPr lang="ru-RU" dirty="0">
              <a:latin typeface="Arial" pitchFamily="34" charset="0"/>
              <a:cs typeface="Arial" pitchFamily="34" charset="0"/>
            </a:endParaRPr>
          </a:p>
          <a:p>
            <a:pPr>
              <a:defRPr/>
            </a:pPr>
            <a:endParaRPr lang="en-US" sz="2000" dirty="0"/>
          </a:p>
        </p:txBody>
      </p:sp>
      <p:pic>
        <p:nvPicPr>
          <p:cNvPr id="93188" name="Picture 8"/>
          <p:cNvPicPr>
            <a:picLocks noChangeAspect="1" noChangeArrowheads="1"/>
          </p:cNvPicPr>
          <p:nvPr/>
        </p:nvPicPr>
        <p:blipFill>
          <a:blip r:embed="rId3" cstate="print"/>
          <a:srcRect/>
          <a:stretch>
            <a:fillRect/>
          </a:stretch>
        </p:blipFill>
        <p:spPr bwMode="auto">
          <a:xfrm>
            <a:off x="6383339" y="692151"/>
            <a:ext cx="3965575" cy="2881313"/>
          </a:xfrm>
          <a:prstGeom prst="rect">
            <a:avLst/>
          </a:prstGeom>
          <a:noFill/>
          <a:ln w="9525">
            <a:noFill/>
            <a:miter lim="800000"/>
            <a:headEnd/>
            <a:tailEnd/>
          </a:ln>
        </p:spPr>
      </p:pic>
      <p:sp>
        <p:nvSpPr>
          <p:cNvPr id="93189" name="Прямоугольник 9"/>
          <p:cNvSpPr>
            <a:spLocks noChangeArrowheads="1"/>
          </p:cNvSpPr>
          <p:nvPr/>
        </p:nvSpPr>
        <p:spPr bwMode="auto">
          <a:xfrm>
            <a:off x="6311900" y="3573464"/>
            <a:ext cx="4356100" cy="3139321"/>
          </a:xfrm>
          <a:prstGeom prst="rect">
            <a:avLst/>
          </a:prstGeom>
          <a:noFill/>
          <a:ln w="9525">
            <a:noFill/>
            <a:miter lim="800000"/>
            <a:headEnd/>
            <a:tailEnd/>
          </a:ln>
        </p:spPr>
        <p:txBody>
          <a:bodyPr>
            <a:spAutoFit/>
          </a:bodyPr>
          <a:lstStyle/>
          <a:p>
            <a:r>
              <a:rPr lang="ru-RU" dirty="0">
                <a:cs typeface="Arial" charset="0"/>
              </a:rPr>
              <a:t>Обычно говорят, что функция </a:t>
            </a:r>
            <a:r>
              <a:rPr lang="en-US" i="1" dirty="0">
                <a:cs typeface="Arial" charset="0"/>
              </a:rPr>
              <a:t>g</a:t>
            </a:r>
            <a:r>
              <a:rPr lang="ru-RU" i="1" dirty="0">
                <a:cs typeface="Arial" charset="0"/>
              </a:rPr>
              <a:t>(</a:t>
            </a:r>
            <a:r>
              <a:rPr lang="en-US" i="1" dirty="0">
                <a:cs typeface="Arial" charset="0"/>
              </a:rPr>
              <a:t>n</a:t>
            </a:r>
            <a:r>
              <a:rPr lang="ru-RU" i="1" dirty="0">
                <a:cs typeface="Arial" charset="0"/>
              </a:rPr>
              <a:t>)</a:t>
            </a:r>
            <a:r>
              <a:rPr lang="ru-RU" dirty="0">
                <a:cs typeface="Arial" charset="0"/>
              </a:rPr>
              <a:t> является </a:t>
            </a:r>
            <a:r>
              <a:rPr lang="ru-RU" i="1" dirty="0">
                <a:cs typeface="Arial" charset="0"/>
              </a:rPr>
              <a:t>асимптотически точной оценкой </a:t>
            </a:r>
            <a:r>
              <a:rPr lang="ru-RU" dirty="0">
                <a:cs typeface="Arial" charset="0"/>
              </a:rPr>
              <a:t>функции </a:t>
            </a:r>
            <a:r>
              <a:rPr lang="en-US" i="1" dirty="0">
                <a:cs typeface="Arial" charset="0"/>
              </a:rPr>
              <a:t>T</a:t>
            </a:r>
            <a:r>
              <a:rPr lang="ru-RU" i="1" dirty="0">
                <a:cs typeface="Arial" charset="0"/>
              </a:rPr>
              <a:t>(</a:t>
            </a:r>
            <a:r>
              <a:rPr lang="en-US" i="1" dirty="0">
                <a:cs typeface="Arial" charset="0"/>
              </a:rPr>
              <a:t>n</a:t>
            </a:r>
            <a:r>
              <a:rPr lang="ru-RU" i="1" dirty="0">
                <a:cs typeface="Arial" charset="0"/>
              </a:rPr>
              <a:t>),</a:t>
            </a:r>
            <a:r>
              <a:rPr lang="ru-RU" dirty="0">
                <a:cs typeface="Arial" charset="0"/>
              </a:rPr>
              <a:t> т.к. по определению функция </a:t>
            </a:r>
            <a:r>
              <a:rPr lang="en-US" dirty="0">
                <a:cs typeface="Arial" charset="0"/>
              </a:rPr>
              <a:t>T</a:t>
            </a:r>
            <a:r>
              <a:rPr lang="ru-RU" i="1" dirty="0">
                <a:cs typeface="Arial" charset="0"/>
              </a:rPr>
              <a:t>(</a:t>
            </a:r>
            <a:r>
              <a:rPr lang="en-US" i="1" dirty="0">
                <a:cs typeface="Arial" charset="0"/>
              </a:rPr>
              <a:t>n</a:t>
            </a:r>
            <a:r>
              <a:rPr lang="ru-RU" i="1" dirty="0">
                <a:cs typeface="Arial" charset="0"/>
              </a:rPr>
              <a:t>)</a:t>
            </a:r>
            <a:r>
              <a:rPr lang="ru-RU" dirty="0">
                <a:cs typeface="Arial" charset="0"/>
              </a:rPr>
              <a:t> не отличается от функции </a:t>
            </a:r>
            <a:r>
              <a:rPr lang="en-US" i="1" dirty="0">
                <a:cs typeface="Arial" charset="0"/>
              </a:rPr>
              <a:t>g</a:t>
            </a:r>
            <a:r>
              <a:rPr lang="ru-RU" i="1" dirty="0">
                <a:cs typeface="Arial" charset="0"/>
              </a:rPr>
              <a:t>(</a:t>
            </a:r>
            <a:r>
              <a:rPr lang="en-US" i="1" dirty="0">
                <a:cs typeface="Arial" charset="0"/>
              </a:rPr>
              <a:t>n</a:t>
            </a:r>
            <a:r>
              <a:rPr lang="ru-RU" i="1" dirty="0">
                <a:cs typeface="Arial" charset="0"/>
              </a:rPr>
              <a:t>)</a:t>
            </a:r>
            <a:r>
              <a:rPr lang="ru-RU" dirty="0">
                <a:cs typeface="Arial" charset="0"/>
              </a:rPr>
              <a:t> с точностью до постоянного множителя. </a:t>
            </a:r>
          </a:p>
          <a:p>
            <a:r>
              <a:rPr lang="ru-RU" b="1" dirty="0">
                <a:cs typeface="Arial" charset="0"/>
              </a:rPr>
              <a:t>Отношение симметрично: </a:t>
            </a:r>
          </a:p>
          <a:p>
            <a:r>
              <a:rPr lang="en-US" dirty="0">
                <a:cs typeface="Arial" charset="0"/>
              </a:rPr>
              <a:t>T</a:t>
            </a:r>
            <a:r>
              <a:rPr lang="ru-RU" i="1" dirty="0">
                <a:cs typeface="Arial" charset="0"/>
              </a:rPr>
              <a:t>(</a:t>
            </a:r>
            <a:r>
              <a:rPr lang="en-US" i="1" dirty="0">
                <a:cs typeface="Arial" charset="0"/>
              </a:rPr>
              <a:t>n</a:t>
            </a:r>
            <a:r>
              <a:rPr lang="ru-RU" i="1" dirty="0">
                <a:cs typeface="Arial" charset="0"/>
              </a:rPr>
              <a:t>) = </a:t>
            </a:r>
            <a:r>
              <a:rPr lang="ru-RU" i="1" dirty="0">
                <a:cs typeface="Arial" charset="0"/>
                <a:sym typeface="Symbol" pitchFamily="18" charset="2"/>
              </a:rPr>
              <a:t></a:t>
            </a:r>
            <a:r>
              <a:rPr lang="ru-RU" i="1" dirty="0">
                <a:cs typeface="Arial" charset="0"/>
              </a:rPr>
              <a:t> (</a:t>
            </a:r>
            <a:r>
              <a:rPr lang="en-US" i="1" dirty="0">
                <a:cs typeface="Arial" charset="0"/>
              </a:rPr>
              <a:t>g</a:t>
            </a:r>
            <a:r>
              <a:rPr lang="ru-RU" i="1" dirty="0">
                <a:cs typeface="Arial" charset="0"/>
              </a:rPr>
              <a:t>(</a:t>
            </a:r>
            <a:r>
              <a:rPr lang="en-US" i="1" dirty="0">
                <a:cs typeface="Arial" charset="0"/>
              </a:rPr>
              <a:t>n</a:t>
            </a:r>
            <a:r>
              <a:rPr lang="ru-RU" i="1" dirty="0">
                <a:cs typeface="Arial" charset="0"/>
              </a:rPr>
              <a:t>))</a:t>
            </a:r>
            <a:r>
              <a:rPr lang="ru-RU" dirty="0">
                <a:cs typeface="Arial" charset="0"/>
              </a:rPr>
              <a:t> следует, что </a:t>
            </a:r>
          </a:p>
          <a:p>
            <a:r>
              <a:rPr lang="en-US" i="1" dirty="0">
                <a:cs typeface="Arial" charset="0"/>
              </a:rPr>
              <a:t>g</a:t>
            </a:r>
            <a:r>
              <a:rPr lang="ru-RU" i="1" dirty="0">
                <a:cs typeface="Arial" charset="0"/>
              </a:rPr>
              <a:t>(</a:t>
            </a:r>
            <a:r>
              <a:rPr lang="en-US" i="1" dirty="0">
                <a:cs typeface="Arial" charset="0"/>
              </a:rPr>
              <a:t>n</a:t>
            </a:r>
            <a:r>
              <a:rPr lang="ru-RU" i="1" dirty="0">
                <a:cs typeface="Arial" charset="0"/>
              </a:rPr>
              <a:t>) = </a:t>
            </a:r>
            <a:r>
              <a:rPr lang="ru-RU" i="1" dirty="0">
                <a:cs typeface="Arial" charset="0"/>
                <a:sym typeface="Symbol" pitchFamily="18" charset="2"/>
              </a:rPr>
              <a:t></a:t>
            </a:r>
            <a:r>
              <a:rPr lang="ru-RU" i="1" dirty="0">
                <a:cs typeface="Arial" charset="0"/>
              </a:rPr>
              <a:t> (</a:t>
            </a:r>
            <a:r>
              <a:rPr lang="en-US" i="1" dirty="0">
                <a:cs typeface="Arial" charset="0"/>
              </a:rPr>
              <a:t>T</a:t>
            </a:r>
            <a:r>
              <a:rPr lang="ru-RU" i="1" dirty="0">
                <a:cs typeface="Arial" charset="0"/>
              </a:rPr>
              <a:t>(</a:t>
            </a:r>
            <a:r>
              <a:rPr lang="en-US" i="1" dirty="0">
                <a:cs typeface="Arial" charset="0"/>
              </a:rPr>
              <a:t>n</a:t>
            </a:r>
            <a:r>
              <a:rPr lang="ru-RU" i="1" dirty="0">
                <a:cs typeface="Arial" charset="0"/>
              </a:rPr>
              <a:t>)), но из </a:t>
            </a:r>
            <a:r>
              <a:rPr lang="en-US" dirty="0">
                <a:cs typeface="Arial" charset="0"/>
              </a:rPr>
              <a:t>T</a:t>
            </a:r>
            <a:r>
              <a:rPr lang="ru-RU" i="1" baseline="-25000" dirty="0">
                <a:cs typeface="Arial" charset="0"/>
              </a:rPr>
              <a:t>1</a:t>
            </a:r>
            <a:r>
              <a:rPr lang="ru-RU" i="1" dirty="0">
                <a:cs typeface="Arial" charset="0"/>
              </a:rPr>
              <a:t>(</a:t>
            </a:r>
            <a:r>
              <a:rPr lang="en-US" i="1" dirty="0">
                <a:cs typeface="Arial" charset="0"/>
              </a:rPr>
              <a:t>n</a:t>
            </a:r>
            <a:r>
              <a:rPr lang="ru-RU" i="1" dirty="0">
                <a:cs typeface="Arial" charset="0"/>
              </a:rPr>
              <a:t>)= </a:t>
            </a:r>
            <a:r>
              <a:rPr lang="ru-RU" i="1" dirty="0">
                <a:cs typeface="Arial" charset="0"/>
                <a:sym typeface="Symbol" pitchFamily="18" charset="2"/>
              </a:rPr>
              <a:t></a:t>
            </a:r>
            <a:r>
              <a:rPr lang="ru-RU" i="1" dirty="0">
                <a:cs typeface="Arial" charset="0"/>
              </a:rPr>
              <a:t> (</a:t>
            </a:r>
            <a:r>
              <a:rPr lang="en-US" i="1" dirty="0">
                <a:cs typeface="Arial" charset="0"/>
              </a:rPr>
              <a:t>g</a:t>
            </a:r>
            <a:r>
              <a:rPr lang="ru-RU" i="1" dirty="0">
                <a:cs typeface="Arial" charset="0"/>
              </a:rPr>
              <a:t>(</a:t>
            </a:r>
            <a:r>
              <a:rPr lang="en-US" i="1" dirty="0">
                <a:cs typeface="Arial" charset="0"/>
              </a:rPr>
              <a:t>n</a:t>
            </a:r>
            <a:r>
              <a:rPr lang="ru-RU" i="1" dirty="0">
                <a:cs typeface="Arial" charset="0"/>
              </a:rPr>
              <a:t>)) </a:t>
            </a:r>
            <a:r>
              <a:rPr lang="ru-RU" dirty="0">
                <a:cs typeface="Arial" charset="0"/>
              </a:rPr>
              <a:t>и</a:t>
            </a:r>
            <a:r>
              <a:rPr lang="ru-RU" i="1" dirty="0">
                <a:cs typeface="Arial" charset="0"/>
              </a:rPr>
              <a:t> </a:t>
            </a:r>
            <a:r>
              <a:rPr lang="en-US" i="1" dirty="0">
                <a:cs typeface="Arial" charset="0"/>
              </a:rPr>
              <a:t>T</a:t>
            </a:r>
            <a:r>
              <a:rPr lang="ru-RU" i="1" baseline="-25000" dirty="0">
                <a:cs typeface="Arial" charset="0"/>
              </a:rPr>
              <a:t>2</a:t>
            </a:r>
            <a:r>
              <a:rPr lang="ru-RU" i="1" dirty="0">
                <a:cs typeface="Arial" charset="0"/>
              </a:rPr>
              <a:t>(</a:t>
            </a:r>
            <a:r>
              <a:rPr lang="en-US" i="1" dirty="0">
                <a:cs typeface="Arial" charset="0"/>
              </a:rPr>
              <a:t>n</a:t>
            </a:r>
            <a:r>
              <a:rPr lang="ru-RU" i="1" dirty="0">
                <a:cs typeface="Arial" charset="0"/>
              </a:rPr>
              <a:t>)= </a:t>
            </a:r>
            <a:r>
              <a:rPr lang="ru-RU" i="1" dirty="0">
                <a:cs typeface="Arial" charset="0"/>
                <a:sym typeface="Symbol" pitchFamily="18" charset="2"/>
              </a:rPr>
              <a:t></a:t>
            </a:r>
            <a:r>
              <a:rPr lang="ru-RU" i="1" dirty="0">
                <a:cs typeface="Arial" charset="0"/>
              </a:rPr>
              <a:t> (</a:t>
            </a:r>
            <a:r>
              <a:rPr lang="en-US" i="1" dirty="0">
                <a:cs typeface="Arial" charset="0"/>
              </a:rPr>
              <a:t>g</a:t>
            </a:r>
            <a:r>
              <a:rPr lang="ru-RU" i="1" dirty="0">
                <a:cs typeface="Arial" charset="0"/>
              </a:rPr>
              <a:t>(</a:t>
            </a:r>
            <a:r>
              <a:rPr lang="en-US" i="1" dirty="0">
                <a:cs typeface="Arial" charset="0"/>
              </a:rPr>
              <a:t>n</a:t>
            </a:r>
            <a:r>
              <a:rPr lang="ru-RU" i="1" dirty="0">
                <a:cs typeface="Arial" charset="0"/>
              </a:rPr>
              <a:t>)) </a:t>
            </a:r>
            <a:r>
              <a:rPr lang="ru-RU" dirty="0">
                <a:cs typeface="Arial" charset="0"/>
              </a:rPr>
              <a:t>не следует, что</a:t>
            </a:r>
            <a:r>
              <a:rPr lang="ru-RU" i="1" dirty="0">
                <a:cs typeface="Arial" charset="0"/>
              </a:rPr>
              <a:t> </a:t>
            </a:r>
            <a:r>
              <a:rPr lang="en-US" i="1" dirty="0">
                <a:cs typeface="Arial" charset="0"/>
              </a:rPr>
              <a:t>T</a:t>
            </a:r>
            <a:r>
              <a:rPr lang="ru-RU" i="1" baseline="-25000" dirty="0">
                <a:cs typeface="Arial" charset="0"/>
              </a:rPr>
              <a:t>1</a:t>
            </a:r>
            <a:r>
              <a:rPr lang="ru-RU" i="1" dirty="0">
                <a:cs typeface="Arial" charset="0"/>
              </a:rPr>
              <a:t>(</a:t>
            </a:r>
            <a:r>
              <a:rPr lang="en-US" i="1" dirty="0">
                <a:cs typeface="Arial" charset="0"/>
              </a:rPr>
              <a:t>n</a:t>
            </a:r>
            <a:r>
              <a:rPr lang="ru-RU" i="1" dirty="0">
                <a:cs typeface="Arial" charset="0"/>
              </a:rPr>
              <a:t>)= </a:t>
            </a:r>
            <a:r>
              <a:rPr lang="en-US" i="1" dirty="0">
                <a:cs typeface="Arial" charset="0"/>
              </a:rPr>
              <a:t>T</a:t>
            </a:r>
            <a:r>
              <a:rPr lang="ru-RU" i="1" baseline="-25000" dirty="0">
                <a:cs typeface="Arial" charset="0"/>
              </a:rPr>
              <a:t>2</a:t>
            </a:r>
            <a:r>
              <a:rPr lang="ru-RU" i="1" dirty="0">
                <a:cs typeface="Arial" charset="0"/>
              </a:rPr>
              <a:t>(</a:t>
            </a:r>
            <a:r>
              <a:rPr lang="en-US" i="1" dirty="0">
                <a:cs typeface="Arial" charset="0"/>
              </a:rPr>
              <a:t>n</a:t>
            </a:r>
            <a:r>
              <a:rPr lang="ru-RU" i="1" dirty="0">
                <a:cs typeface="Arial" charset="0"/>
              </a:rPr>
              <a:t>).</a:t>
            </a:r>
            <a:endParaRPr lang="ru-RU" dirty="0">
              <a:cs typeface="Arial" charset="0"/>
            </a:endParaRPr>
          </a:p>
          <a:p>
            <a:endParaRPr lang="ru-RU" dirty="0"/>
          </a:p>
        </p:txBody>
      </p:sp>
    </p:spTree>
    <p:extLst>
      <p:ext uri="{BB962C8B-B14F-4D97-AF65-F5344CB8AC3E}">
        <p14:creationId xmlns:p14="http://schemas.microsoft.com/office/powerpoint/2010/main" val="43387147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Содержимое 5"/>
          <p:cNvSpPr>
            <a:spLocks noGrp="1"/>
          </p:cNvSpPr>
          <p:nvPr>
            <p:ph idx="1"/>
          </p:nvPr>
        </p:nvSpPr>
        <p:spPr>
          <a:xfrm>
            <a:off x="1774826" y="1"/>
            <a:ext cx="8893175" cy="4005263"/>
          </a:xfrm>
        </p:spPr>
        <p:txBody>
          <a:bodyPr/>
          <a:lstStyle/>
          <a:p>
            <a:pPr>
              <a:buFont typeface="Times New Roman" pitchFamily="18" charset="0"/>
              <a:buNone/>
            </a:pPr>
            <a:r>
              <a:rPr lang="ru-RU" altLang="ru-RU" sz="2400" b="1"/>
              <a:t>2. Оценка </a:t>
            </a:r>
            <a:r>
              <a:rPr lang="ru-RU" altLang="ru-RU" sz="2400" b="1" i="1"/>
              <a:t>О(</a:t>
            </a:r>
            <a:r>
              <a:rPr lang="en-US" altLang="ru-RU" sz="2400" b="1" i="1"/>
              <a:t>g(n))</a:t>
            </a:r>
            <a:r>
              <a:rPr lang="ru-RU" altLang="ru-RU" sz="2400" b="1"/>
              <a:t> (</a:t>
            </a:r>
            <a:r>
              <a:rPr lang="ru-RU" altLang="ru-RU" sz="2400" b="1" i="1"/>
              <a:t>О</a:t>
            </a:r>
            <a:r>
              <a:rPr lang="ru-RU" altLang="ru-RU" sz="2400" b="1"/>
              <a:t> большое) - функции, растущие медленнее чем g.</a:t>
            </a:r>
          </a:p>
          <a:p>
            <a:pPr>
              <a:buFont typeface="Times New Roman" pitchFamily="18" charset="0"/>
              <a:buNone/>
            </a:pPr>
            <a:r>
              <a:rPr lang="en-US" altLang="ru-RU" sz="2400"/>
              <a:t>	</a:t>
            </a:r>
            <a:r>
              <a:rPr lang="ru-RU" altLang="ru-RU" sz="1800">
                <a:latin typeface="Arial" charset="0"/>
                <a:cs typeface="Arial" charset="0"/>
              </a:rPr>
              <a:t>В отличие от оценки </a:t>
            </a:r>
            <a:r>
              <a:rPr lang="ru-RU" altLang="ru-RU" sz="1800" i="1">
                <a:latin typeface="Arial" charset="0"/>
                <a:cs typeface="Arial" charset="0"/>
                <a:sym typeface="Symbol" pitchFamily="18" charset="2"/>
              </a:rPr>
              <a:t></a:t>
            </a:r>
            <a:r>
              <a:rPr lang="ru-RU" altLang="ru-RU" sz="1800" i="1">
                <a:latin typeface="Arial" charset="0"/>
                <a:cs typeface="Arial" charset="0"/>
              </a:rPr>
              <a:t>,</a:t>
            </a:r>
            <a:r>
              <a:rPr lang="ru-RU" altLang="ru-RU" sz="1800">
                <a:latin typeface="Arial" charset="0"/>
                <a:cs typeface="Arial" charset="0"/>
              </a:rPr>
              <a:t> оценка </a:t>
            </a:r>
            <a:r>
              <a:rPr lang="ru-RU" altLang="ru-RU" sz="1800" i="1">
                <a:latin typeface="Arial" charset="0"/>
                <a:cs typeface="Arial" charset="0"/>
              </a:rPr>
              <a:t>О</a:t>
            </a:r>
            <a:r>
              <a:rPr lang="ru-RU" altLang="ru-RU" sz="1800">
                <a:latin typeface="Arial" charset="0"/>
                <a:cs typeface="Arial" charset="0"/>
              </a:rPr>
              <a:t> требует только, что бы функция</a:t>
            </a:r>
            <a:r>
              <a:rPr lang="en-US" altLang="ru-RU" sz="1800">
                <a:latin typeface="Arial" charset="0"/>
                <a:cs typeface="Arial" charset="0"/>
              </a:rPr>
              <a:t> T</a:t>
            </a:r>
            <a:r>
              <a:rPr lang="ru-RU" altLang="ru-RU" sz="1800" i="1">
                <a:latin typeface="Arial" charset="0"/>
                <a:cs typeface="Arial" charset="0"/>
              </a:rPr>
              <a:t>(n)</a:t>
            </a:r>
            <a:r>
              <a:rPr lang="ru-RU" altLang="ru-RU" sz="1800">
                <a:latin typeface="Arial" charset="0"/>
                <a:cs typeface="Arial" charset="0"/>
              </a:rPr>
              <a:t> не превышала </a:t>
            </a:r>
            <a:r>
              <a:rPr lang="ru-RU" altLang="ru-RU" sz="1800" i="1">
                <a:latin typeface="Arial" charset="0"/>
                <a:cs typeface="Arial" charset="0"/>
              </a:rPr>
              <a:t>g(n) </a:t>
            </a:r>
            <a:r>
              <a:rPr lang="ru-RU" altLang="ru-RU" sz="1800">
                <a:latin typeface="Arial" charset="0"/>
                <a:cs typeface="Arial" charset="0"/>
              </a:rPr>
              <a:t>начиная с некоторого </a:t>
            </a:r>
            <a:r>
              <a:rPr lang="en-US" altLang="ru-RU" sz="1800" i="1">
                <a:latin typeface="Arial" charset="0"/>
                <a:cs typeface="Arial" charset="0"/>
              </a:rPr>
              <a:t>n</a:t>
            </a:r>
            <a:r>
              <a:rPr lang="ru-RU" altLang="ru-RU" sz="1800" i="1">
                <a:latin typeface="Arial" charset="0"/>
                <a:cs typeface="Arial" charset="0"/>
              </a:rPr>
              <a:t> &gt; </a:t>
            </a:r>
            <a:r>
              <a:rPr lang="en-US" altLang="ru-RU" sz="1800" i="1">
                <a:latin typeface="Arial" charset="0"/>
                <a:cs typeface="Arial" charset="0"/>
              </a:rPr>
              <a:t>n</a:t>
            </a:r>
            <a:r>
              <a:rPr lang="ru-RU" altLang="ru-RU" sz="1800" i="1">
                <a:latin typeface="Arial" charset="0"/>
                <a:cs typeface="Arial" charset="0"/>
              </a:rPr>
              <a:t>0</a:t>
            </a:r>
            <a:r>
              <a:rPr lang="ru-RU" altLang="ru-RU" sz="1800">
                <a:latin typeface="Arial" charset="0"/>
                <a:cs typeface="Arial" charset="0"/>
              </a:rPr>
              <a:t>, с точностью до постоянного множителя: </a:t>
            </a:r>
            <a:r>
              <a:rPr lang="ru-RU" altLang="ru-RU" sz="1800" i="1">
                <a:latin typeface="Arial" charset="0"/>
                <a:cs typeface="Arial" charset="0"/>
                <a:sym typeface="Symbol" pitchFamily="18" charset="2"/>
              </a:rPr>
              <a:t>	</a:t>
            </a:r>
            <a:r>
              <a:rPr lang="ru-RU" sz="1800" i="1">
                <a:sym typeface="Symbol" pitchFamily="18" charset="2"/>
              </a:rPr>
              <a:t></a:t>
            </a:r>
            <a:r>
              <a:rPr lang="de-DE" sz="1800" i="1"/>
              <a:t> c &gt; 0, n</a:t>
            </a:r>
            <a:r>
              <a:rPr lang="de-DE" sz="1800" i="1" baseline="-25000"/>
              <a:t>0</a:t>
            </a:r>
            <a:r>
              <a:rPr lang="de-DE" sz="1800" i="1"/>
              <a:t> &gt; 0</a:t>
            </a:r>
            <a:r>
              <a:rPr lang="de-DE" sz="1800"/>
              <a:t> : </a:t>
            </a:r>
            <a:r>
              <a:rPr lang="de-DE" sz="1800" i="1"/>
              <a:t>0 </a:t>
            </a:r>
            <a:r>
              <a:rPr lang="ru-RU" sz="1800" i="1">
                <a:sym typeface="Symbol" pitchFamily="18" charset="2"/>
              </a:rPr>
              <a:t></a:t>
            </a:r>
            <a:r>
              <a:rPr lang="ru-RU" sz="1800" i="1"/>
              <a:t> </a:t>
            </a:r>
            <a:r>
              <a:rPr lang="de-DE" sz="1800" i="1"/>
              <a:t>T(n) </a:t>
            </a:r>
            <a:r>
              <a:rPr lang="ru-RU" sz="1800" i="1">
                <a:sym typeface="Symbol" pitchFamily="18" charset="2"/>
              </a:rPr>
              <a:t></a:t>
            </a:r>
            <a:r>
              <a:rPr lang="de-DE" sz="1800" i="1"/>
              <a:t> cg(n), </a:t>
            </a:r>
            <a:r>
              <a:rPr lang="ru-RU" sz="1800" i="1">
                <a:sym typeface="Symbol" pitchFamily="18" charset="2"/>
              </a:rPr>
              <a:t></a:t>
            </a:r>
            <a:r>
              <a:rPr lang="de-DE" sz="1800" i="1"/>
              <a:t>n </a:t>
            </a:r>
            <a:r>
              <a:rPr lang="ru-RU" sz="1800" i="1">
                <a:sym typeface="Symbol" pitchFamily="18" charset="2"/>
              </a:rPr>
              <a:t></a:t>
            </a:r>
            <a:r>
              <a:rPr lang="de-DE" sz="1800" i="1"/>
              <a:t> n</a:t>
            </a:r>
            <a:r>
              <a:rPr lang="de-DE" sz="1800" i="1" baseline="-25000"/>
              <a:t>0</a:t>
            </a:r>
            <a:endParaRPr lang="ru-RU" altLang="ru-RU" sz="1800">
              <a:latin typeface="Arial" charset="0"/>
              <a:cs typeface="Arial" charset="0"/>
            </a:endParaRPr>
          </a:p>
          <a:p>
            <a:pPr>
              <a:buFont typeface="Times New Roman" pitchFamily="18" charset="0"/>
              <a:buNone/>
            </a:pPr>
            <a:r>
              <a:rPr lang="ru-RU" altLang="ru-RU" sz="1800">
                <a:latin typeface="Arial" charset="0"/>
                <a:cs typeface="Arial" charset="0"/>
              </a:rPr>
              <a:t>	Вообще, запись </a:t>
            </a:r>
            <a:r>
              <a:rPr lang="ru-RU" altLang="ru-RU" sz="1800" i="1">
                <a:latin typeface="Arial" charset="0"/>
                <a:cs typeface="Arial" charset="0"/>
              </a:rPr>
              <a:t>O(</a:t>
            </a:r>
            <a:r>
              <a:rPr lang="en-US" altLang="ru-RU" sz="1800" i="1">
                <a:latin typeface="Arial" charset="0"/>
                <a:cs typeface="Arial" charset="0"/>
              </a:rPr>
              <a:t>g</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a:t>
            </a:r>
            <a:r>
              <a:rPr lang="ru-RU" altLang="ru-RU" sz="1800">
                <a:latin typeface="Arial" charset="0"/>
                <a:cs typeface="Arial" charset="0"/>
              </a:rPr>
              <a:t> обозначает класс функций, таких, что все они растут не быстрее, чем функция </a:t>
            </a:r>
            <a:r>
              <a:rPr lang="en-US" altLang="ru-RU" sz="1800" i="1">
                <a:latin typeface="Arial" charset="0"/>
                <a:cs typeface="Arial" charset="0"/>
              </a:rPr>
              <a:t>g</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a:t>
            </a:r>
            <a:r>
              <a:rPr lang="ru-RU" altLang="ru-RU" sz="1800">
                <a:latin typeface="Arial" charset="0"/>
                <a:cs typeface="Arial" charset="0"/>
              </a:rPr>
              <a:t> с точностью до постоянного множителя, поэтому иногда говорят, что </a:t>
            </a:r>
            <a:r>
              <a:rPr lang="en-US" altLang="ru-RU" sz="1800" i="1">
                <a:latin typeface="Arial" charset="0"/>
                <a:cs typeface="Arial" charset="0"/>
              </a:rPr>
              <a:t>g</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a:t>
            </a:r>
            <a:r>
              <a:rPr lang="ru-RU" altLang="ru-RU" sz="1800">
                <a:latin typeface="Arial" charset="0"/>
                <a:cs typeface="Arial" charset="0"/>
              </a:rPr>
              <a:t> мажорирует функцию </a:t>
            </a:r>
            <a:r>
              <a:rPr lang="en-US" altLang="ru-RU" sz="1800">
                <a:latin typeface="Arial" charset="0"/>
                <a:cs typeface="Arial" charset="0"/>
              </a:rPr>
              <a:t>T</a:t>
            </a:r>
            <a:r>
              <a:rPr lang="ru-RU" altLang="ru-RU" sz="1800" i="1">
                <a:latin typeface="Arial" charset="0"/>
                <a:cs typeface="Arial" charset="0"/>
              </a:rPr>
              <a:t>(n).</a:t>
            </a:r>
            <a:endParaRPr lang="ru-RU" altLang="ru-RU" sz="1800">
              <a:latin typeface="Arial" charset="0"/>
              <a:cs typeface="Arial" charset="0"/>
            </a:endParaRPr>
          </a:p>
          <a:p>
            <a:pPr>
              <a:buFont typeface="Times New Roman" pitchFamily="18" charset="0"/>
              <a:buNone/>
            </a:pPr>
            <a:r>
              <a:rPr lang="ru-RU" altLang="ru-RU" sz="1800">
                <a:latin typeface="Arial" charset="0"/>
                <a:cs typeface="Arial" charset="0"/>
              </a:rPr>
              <a:t>	Например, для всех функций: </a:t>
            </a:r>
            <a:r>
              <a:rPr lang="en-US" altLang="ru-RU" sz="1800" i="1">
                <a:latin typeface="Arial" charset="0"/>
                <a:cs typeface="Arial" charset="0"/>
              </a:rPr>
              <a:t>t</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)=1/</a:t>
            </a:r>
            <a:r>
              <a:rPr lang="en-US" altLang="ru-RU" sz="1800" i="1">
                <a:latin typeface="Arial" charset="0"/>
                <a:cs typeface="Arial" charset="0"/>
              </a:rPr>
              <a:t>n</a:t>
            </a:r>
            <a:r>
              <a:rPr lang="ru-RU" altLang="ru-RU" sz="1800" i="1">
                <a:latin typeface="Arial" charset="0"/>
                <a:cs typeface="Arial" charset="0"/>
              </a:rPr>
              <a:t>,   </a:t>
            </a:r>
            <a:r>
              <a:rPr lang="en-US" altLang="ru-RU" sz="1800" i="1">
                <a:latin typeface="Arial" charset="0"/>
                <a:cs typeface="Arial" charset="0"/>
              </a:rPr>
              <a:t>t</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 12,   </a:t>
            </a:r>
            <a:r>
              <a:rPr lang="en-US" altLang="ru-RU" sz="1800" i="1">
                <a:latin typeface="Arial" charset="0"/>
                <a:cs typeface="Arial" charset="0"/>
              </a:rPr>
              <a:t>t</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)=3*</a:t>
            </a:r>
            <a:r>
              <a:rPr lang="en-US" altLang="ru-RU" sz="1800" i="1">
                <a:latin typeface="Arial" charset="0"/>
                <a:cs typeface="Arial" charset="0"/>
              </a:rPr>
              <a:t>n</a:t>
            </a:r>
            <a:r>
              <a:rPr lang="ru-RU" altLang="ru-RU" sz="1800" i="1">
                <a:latin typeface="Arial" charset="0"/>
                <a:cs typeface="Arial" charset="0"/>
              </a:rPr>
              <a:t>+17,    </a:t>
            </a:r>
            <a:r>
              <a:rPr lang="en-US" altLang="ru-RU" sz="1800" i="1">
                <a:latin typeface="Arial" charset="0"/>
                <a:cs typeface="Arial" charset="0"/>
              </a:rPr>
              <a:t>t</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a:t>
            </a:r>
            <a:r>
              <a:rPr lang="en-US" altLang="ru-RU" sz="1800" i="1">
                <a:latin typeface="Arial" charset="0"/>
                <a:cs typeface="Arial" charset="0"/>
              </a:rPr>
              <a:t>ln</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 </a:t>
            </a:r>
            <a:r>
              <a:rPr lang="en-US" altLang="ru-RU" sz="1800" i="1">
                <a:latin typeface="Arial" charset="0"/>
                <a:cs typeface="Arial" charset="0"/>
              </a:rPr>
              <a:t>t</a:t>
            </a:r>
            <a:r>
              <a:rPr lang="ru-RU" altLang="ru-RU" sz="1800" i="1">
                <a:latin typeface="Arial" charset="0"/>
                <a:cs typeface="Arial" charset="0"/>
              </a:rPr>
              <a:t>(</a:t>
            </a:r>
            <a:r>
              <a:rPr lang="en-US" altLang="ru-RU" sz="1800" i="1">
                <a:latin typeface="Arial" charset="0"/>
                <a:cs typeface="Arial" charset="0"/>
              </a:rPr>
              <a:t>n</a:t>
            </a:r>
            <a:r>
              <a:rPr lang="ru-RU" altLang="ru-RU" sz="1800" i="1">
                <a:latin typeface="Arial" charset="0"/>
                <a:cs typeface="Arial" charset="0"/>
              </a:rPr>
              <a:t>)=6*</a:t>
            </a:r>
            <a:r>
              <a:rPr lang="en-US" altLang="ru-RU" sz="1800" i="1">
                <a:latin typeface="Arial" charset="0"/>
                <a:cs typeface="Arial" charset="0"/>
              </a:rPr>
              <a:t>n</a:t>
            </a:r>
            <a:r>
              <a:rPr lang="ru-RU" altLang="ru-RU" sz="1800" i="1" baseline="30000">
                <a:latin typeface="Arial" charset="0"/>
                <a:cs typeface="Arial" charset="0"/>
              </a:rPr>
              <a:t>2 </a:t>
            </a:r>
            <a:r>
              <a:rPr lang="ru-RU" altLang="ru-RU" sz="1800" i="1">
                <a:latin typeface="Arial" charset="0"/>
                <a:cs typeface="Arial" charset="0"/>
              </a:rPr>
              <a:t>+24*</a:t>
            </a:r>
            <a:r>
              <a:rPr lang="en-US" altLang="ru-RU" sz="1800" i="1">
                <a:latin typeface="Arial" charset="0"/>
                <a:cs typeface="Arial" charset="0"/>
              </a:rPr>
              <a:t>n</a:t>
            </a:r>
            <a:r>
              <a:rPr lang="ru-RU" altLang="ru-RU" sz="1800" i="1">
                <a:latin typeface="Arial" charset="0"/>
                <a:cs typeface="Arial" charset="0"/>
              </a:rPr>
              <a:t>+77 </a:t>
            </a:r>
            <a:r>
              <a:rPr lang="ru-RU" altLang="ru-RU" sz="1800">
                <a:latin typeface="Arial" charset="0"/>
                <a:cs typeface="Arial" charset="0"/>
              </a:rPr>
              <a:t>будет справедлива оценка </a:t>
            </a:r>
            <a:r>
              <a:rPr lang="ru-RU" altLang="ru-RU" sz="1800" i="1">
                <a:latin typeface="Arial" charset="0"/>
                <a:cs typeface="Arial" charset="0"/>
              </a:rPr>
              <a:t>О(</a:t>
            </a:r>
            <a:r>
              <a:rPr lang="en-US" altLang="ru-RU" sz="1800" i="1">
                <a:latin typeface="Arial" charset="0"/>
                <a:cs typeface="Arial" charset="0"/>
              </a:rPr>
              <a:t>n</a:t>
            </a:r>
            <a:r>
              <a:rPr lang="ru-RU" altLang="ru-RU" sz="1800" i="1" baseline="30000">
                <a:latin typeface="Arial" charset="0"/>
                <a:cs typeface="Arial" charset="0"/>
              </a:rPr>
              <a:t>2 </a:t>
            </a:r>
            <a:r>
              <a:rPr lang="ru-RU" altLang="ru-RU" sz="1800" i="1">
                <a:latin typeface="Arial" charset="0"/>
                <a:cs typeface="Arial" charset="0"/>
              </a:rPr>
              <a:t>).  Однако, у</a:t>
            </a:r>
            <a:r>
              <a:rPr lang="ru-RU" altLang="ru-RU" sz="1800">
                <a:latin typeface="Arial" charset="0"/>
                <a:cs typeface="Arial" charset="0"/>
              </a:rPr>
              <a:t>казывая оценку </a:t>
            </a:r>
            <a:r>
              <a:rPr lang="ru-RU" altLang="ru-RU" sz="1800" i="1">
                <a:latin typeface="Arial" charset="0"/>
                <a:cs typeface="Arial" charset="0"/>
              </a:rPr>
              <a:t>О</a:t>
            </a:r>
            <a:r>
              <a:rPr lang="ru-RU" altLang="ru-RU" sz="1800">
                <a:latin typeface="Arial" charset="0"/>
                <a:cs typeface="Arial" charset="0"/>
              </a:rPr>
              <a:t> есть смысл указывать наиболее «близкую» мажорирующую функцию.</a:t>
            </a:r>
          </a:p>
          <a:p>
            <a:pPr>
              <a:buFont typeface="Times New Roman" pitchFamily="18" charset="0"/>
              <a:buNone/>
            </a:pPr>
            <a:endParaRPr lang="ru-RU" altLang="ru-RU"/>
          </a:p>
        </p:txBody>
      </p:sp>
      <p:pic>
        <p:nvPicPr>
          <p:cNvPr id="94211" name="Picture 5"/>
          <p:cNvPicPr>
            <a:picLocks noChangeAspect="1" noChangeArrowheads="1"/>
          </p:cNvPicPr>
          <p:nvPr/>
        </p:nvPicPr>
        <p:blipFill>
          <a:blip r:embed="rId2" cstate="print"/>
          <a:srcRect/>
          <a:stretch>
            <a:fillRect/>
          </a:stretch>
        </p:blipFill>
        <p:spPr bwMode="auto">
          <a:xfrm>
            <a:off x="2135189" y="3933825"/>
            <a:ext cx="3584575" cy="2590800"/>
          </a:xfrm>
          <a:prstGeom prst="rect">
            <a:avLst/>
          </a:prstGeom>
          <a:noFill/>
          <a:ln w="9525">
            <a:noFill/>
            <a:miter lim="800000"/>
            <a:headEnd/>
            <a:tailEnd/>
          </a:ln>
        </p:spPr>
      </p:pic>
    </p:spTree>
    <p:extLst>
      <p:ext uri="{BB962C8B-B14F-4D97-AF65-F5344CB8AC3E}">
        <p14:creationId xmlns:p14="http://schemas.microsoft.com/office/powerpoint/2010/main" val="24722549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847851" y="260351"/>
            <a:ext cx="8228013" cy="1800225"/>
          </a:xfrm>
        </p:spPr>
        <p:txBody>
          <a:bodyPr/>
          <a:lstStyle/>
          <a:p>
            <a:pPr indent="0">
              <a:buNone/>
              <a:defRPr/>
            </a:pPr>
            <a:r>
              <a:rPr lang="ru-RU" sz="2000" dirty="0">
                <a:latin typeface="Times New Roman" pitchFamily="18" charset="0"/>
                <a:cs typeface="Times New Roman" pitchFamily="18" charset="0"/>
              </a:rPr>
              <a:t>Отыскивая асимптотическую оценку для суммы, можно отбрасывать члены меньшего порядка, которые при больших </a:t>
            </a:r>
            <a:r>
              <a:rPr lang="ru-RU" sz="2000" dirty="0" err="1">
                <a:latin typeface="Times New Roman" pitchFamily="18" charset="0"/>
                <a:cs typeface="Times New Roman" pitchFamily="18" charset="0"/>
              </a:rPr>
              <a:t>n</a:t>
            </a:r>
            <a:r>
              <a:rPr lang="ru-RU" sz="2000" dirty="0">
                <a:latin typeface="Times New Roman" pitchFamily="18" charset="0"/>
                <a:cs typeface="Times New Roman" pitchFamily="18" charset="0"/>
              </a:rPr>
              <a:t> становятся малыми по сравнению с основным слагаемым. Коэффициент при старшем члене роли не играет так как он может повлиять только на выбор констант </a:t>
            </a:r>
            <a:r>
              <a:rPr lang="ru-RU" sz="2000" dirty="0" err="1">
                <a:latin typeface="Times New Roman" pitchFamily="18" charset="0"/>
                <a:cs typeface="Times New Roman" pitchFamily="18" charset="0"/>
              </a:rPr>
              <a:t>c</a:t>
            </a:r>
            <a:r>
              <a:rPr lang="ru-RU" sz="2000" dirty="0">
                <a:latin typeface="Times New Roman" pitchFamily="18" charset="0"/>
                <a:cs typeface="Times New Roman" pitchFamily="18" charset="0"/>
              </a:rPr>
              <a:t>.</a:t>
            </a:r>
          </a:p>
          <a:p>
            <a:pPr>
              <a:defRPr/>
            </a:pPr>
            <a:endParaRPr lang="ru-RU" dirty="0"/>
          </a:p>
        </p:txBody>
      </p:sp>
      <p:pic>
        <p:nvPicPr>
          <p:cNvPr id="95235" name="Picture 2"/>
          <p:cNvPicPr>
            <a:picLocks noChangeAspect="1" noChangeArrowheads="1"/>
          </p:cNvPicPr>
          <p:nvPr/>
        </p:nvPicPr>
        <p:blipFill>
          <a:blip r:embed="rId2" cstate="print"/>
          <a:srcRect/>
          <a:stretch>
            <a:fillRect/>
          </a:stretch>
        </p:blipFill>
        <p:spPr bwMode="auto">
          <a:xfrm>
            <a:off x="1992314" y="1844675"/>
            <a:ext cx="8358187" cy="2844800"/>
          </a:xfrm>
          <a:prstGeom prst="rect">
            <a:avLst/>
          </a:prstGeom>
          <a:noFill/>
          <a:ln w="9525">
            <a:noFill/>
            <a:miter lim="800000"/>
            <a:headEnd/>
            <a:tailEnd/>
          </a:ln>
        </p:spPr>
      </p:pic>
    </p:spTree>
    <p:extLst>
      <p:ext uri="{BB962C8B-B14F-4D97-AF65-F5344CB8AC3E}">
        <p14:creationId xmlns:p14="http://schemas.microsoft.com/office/powerpoint/2010/main" val="37512245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Содержимое 2"/>
          <p:cNvSpPr>
            <a:spLocks noGrp="1"/>
          </p:cNvSpPr>
          <p:nvPr>
            <p:ph idx="1"/>
          </p:nvPr>
        </p:nvSpPr>
        <p:spPr>
          <a:xfrm>
            <a:off x="1703389" y="260350"/>
            <a:ext cx="8785225" cy="6408738"/>
          </a:xfrm>
        </p:spPr>
        <p:txBody>
          <a:bodyPr/>
          <a:lstStyle/>
          <a:p>
            <a:pPr>
              <a:buFont typeface="Times New Roman" pitchFamily="18" charset="0"/>
              <a:buNone/>
            </a:pPr>
            <a:r>
              <a:rPr lang="ru-RU" altLang="ru-RU" sz="2400" b="1"/>
              <a:t>3. Оценка </a:t>
            </a:r>
            <a:r>
              <a:rPr lang="ru-RU" altLang="ru-RU" sz="2400" b="1" i="1">
                <a:sym typeface="Symbol" pitchFamily="18" charset="2"/>
              </a:rPr>
              <a:t></a:t>
            </a:r>
            <a:r>
              <a:rPr lang="ru-RU" altLang="ru-RU" sz="2400" b="1"/>
              <a:t> (Омега) - функции, растущие быстрее чем g.</a:t>
            </a:r>
          </a:p>
          <a:p>
            <a:pPr>
              <a:buFont typeface="Times New Roman" pitchFamily="18" charset="0"/>
              <a:buNone/>
            </a:pPr>
            <a:r>
              <a:rPr lang="ru-RU" altLang="ru-RU" sz="2400"/>
              <a:t>	В отличие от оценки </a:t>
            </a:r>
            <a:r>
              <a:rPr lang="ru-RU" altLang="ru-RU" sz="2400" i="1"/>
              <a:t>О</a:t>
            </a:r>
            <a:r>
              <a:rPr lang="ru-RU" altLang="ru-RU" sz="2400"/>
              <a:t>, оценка </a:t>
            </a:r>
            <a:r>
              <a:rPr lang="ru-RU" altLang="ru-RU" sz="2400" i="1">
                <a:sym typeface="Symbol" pitchFamily="18" charset="2"/>
              </a:rPr>
              <a:t></a:t>
            </a:r>
            <a:r>
              <a:rPr lang="ru-RU" altLang="ru-RU" sz="2400"/>
              <a:t> является оценкой снизу – т.е. определяет класс функций, которые растут не медленнее, чем </a:t>
            </a:r>
            <a:r>
              <a:rPr lang="en-US" altLang="ru-RU" sz="2400" i="1"/>
              <a:t>g</a:t>
            </a:r>
            <a:r>
              <a:rPr lang="ru-RU" altLang="ru-RU" sz="2400" i="1"/>
              <a:t>(</a:t>
            </a:r>
            <a:r>
              <a:rPr lang="en-US" altLang="ru-RU" sz="2400" i="1"/>
              <a:t>n</a:t>
            </a:r>
            <a:r>
              <a:rPr lang="ru-RU" altLang="ru-RU" sz="2400" i="1"/>
              <a:t>)</a:t>
            </a:r>
            <a:r>
              <a:rPr lang="ru-RU" altLang="ru-RU" sz="2400"/>
              <a:t> с точностью до постоянного множителя:</a:t>
            </a:r>
            <a:endParaRPr lang="en-US" altLang="ru-RU" sz="2400"/>
          </a:p>
          <a:p>
            <a:pPr>
              <a:buFont typeface="Times New Roman" pitchFamily="18" charset="0"/>
              <a:buNone/>
            </a:pPr>
            <a:r>
              <a:rPr lang="ru-RU" sz="2400" i="1">
                <a:sym typeface="Symbol" pitchFamily="18" charset="2"/>
              </a:rPr>
              <a:t></a:t>
            </a:r>
            <a:r>
              <a:rPr lang="ru-RU" sz="2400" i="1"/>
              <a:t> c &gt; 0, n</a:t>
            </a:r>
            <a:r>
              <a:rPr lang="ru-RU" sz="2400" i="1" baseline="-25000"/>
              <a:t>0</a:t>
            </a:r>
            <a:r>
              <a:rPr lang="ru-RU" sz="2400" i="1"/>
              <a:t> &gt;0 : 0 </a:t>
            </a:r>
            <a:r>
              <a:rPr lang="ru-RU" sz="2400" i="1">
                <a:sym typeface="Symbol" pitchFamily="18" charset="2"/>
              </a:rPr>
              <a:t></a:t>
            </a:r>
            <a:r>
              <a:rPr lang="ru-RU" sz="2400" i="1"/>
              <a:t> c g(n) </a:t>
            </a:r>
            <a:r>
              <a:rPr lang="ru-RU" sz="2400" i="1">
                <a:sym typeface="Symbol" pitchFamily="18" charset="2"/>
              </a:rPr>
              <a:t></a:t>
            </a:r>
            <a:r>
              <a:rPr lang="ru-RU" sz="2400" i="1"/>
              <a:t> </a:t>
            </a:r>
            <a:r>
              <a:rPr lang="en-US" sz="2400" i="1"/>
              <a:t>t</a:t>
            </a:r>
            <a:r>
              <a:rPr lang="ru-RU" sz="2400" i="1"/>
              <a:t>(n) </a:t>
            </a:r>
            <a:r>
              <a:rPr lang="ru-RU" sz="2400" i="1">
                <a:sym typeface="Symbol" pitchFamily="18" charset="2"/>
              </a:rPr>
              <a:t></a:t>
            </a:r>
            <a:r>
              <a:rPr lang="de-DE" sz="2400" i="1"/>
              <a:t>n </a:t>
            </a:r>
            <a:r>
              <a:rPr lang="ru-RU" sz="2400" i="1">
                <a:sym typeface="Symbol" pitchFamily="18" charset="2"/>
              </a:rPr>
              <a:t></a:t>
            </a:r>
            <a:r>
              <a:rPr lang="de-DE" sz="2400" i="1"/>
              <a:t> n</a:t>
            </a:r>
            <a:r>
              <a:rPr lang="de-DE" sz="2400" i="1" baseline="-25000"/>
              <a:t>0</a:t>
            </a:r>
            <a:endParaRPr lang="ru-RU" sz="2400"/>
          </a:p>
          <a:p>
            <a:pPr>
              <a:buFont typeface="Times New Roman" pitchFamily="18" charset="0"/>
              <a:buNone/>
            </a:pPr>
            <a:endParaRPr lang="ru-RU" altLang="ru-RU" sz="2400"/>
          </a:p>
          <a:p>
            <a:pPr>
              <a:buFont typeface="Times New Roman" pitchFamily="18" charset="0"/>
              <a:buNone/>
            </a:pPr>
            <a:endParaRPr lang="ru-RU" altLang="ru-RU" sz="2400"/>
          </a:p>
        </p:txBody>
      </p:sp>
      <p:sp>
        <p:nvSpPr>
          <p:cNvPr id="96259" name="TextBox 7"/>
          <p:cNvSpPr txBox="1">
            <a:spLocks noChangeArrowheads="1"/>
          </p:cNvSpPr>
          <p:nvPr/>
        </p:nvSpPr>
        <p:spPr bwMode="auto">
          <a:xfrm>
            <a:off x="5880101" y="2852739"/>
            <a:ext cx="4321175" cy="2555875"/>
          </a:xfrm>
          <a:prstGeom prst="rect">
            <a:avLst/>
          </a:prstGeom>
          <a:noFill/>
          <a:ln w="9525">
            <a:noFill/>
            <a:miter lim="800000"/>
            <a:headEnd/>
            <a:tailEnd/>
          </a:ln>
        </p:spPr>
        <p:txBody>
          <a:bodyPr>
            <a:spAutoFit/>
          </a:bodyPr>
          <a:lstStyle/>
          <a:p>
            <a:r>
              <a:rPr lang="ru-RU" altLang="ru-RU" sz="2000" b="1"/>
              <a:t>Пример: </a:t>
            </a:r>
          </a:p>
          <a:p>
            <a:r>
              <a:rPr lang="ru-RU" altLang="ru-RU" sz="2000">
                <a:latin typeface="Times New Roman" pitchFamily="18" charset="0"/>
                <a:cs typeface="Times New Roman" pitchFamily="18" charset="0"/>
              </a:rPr>
              <a:t>запись </a:t>
            </a:r>
            <a:r>
              <a:rPr lang="ru-RU" altLang="ru-RU" sz="2000" i="1">
                <a:latin typeface="Times New Roman" pitchFamily="18" charset="0"/>
                <a:cs typeface="Times New Roman" pitchFamily="18" charset="0"/>
                <a:sym typeface="Symbol" pitchFamily="18" charset="2"/>
              </a:rPr>
              <a:t></a:t>
            </a:r>
            <a:r>
              <a:rPr lang="ru-RU" altLang="ru-RU" sz="2000" i="1">
                <a:latin typeface="Times New Roman" pitchFamily="18" charset="0"/>
                <a:cs typeface="Times New Roman" pitchFamily="18" charset="0"/>
              </a:rPr>
              <a:t>(n*</a:t>
            </a:r>
            <a:r>
              <a:rPr lang="en-US" altLang="ru-RU" sz="2000" i="1">
                <a:latin typeface="Times New Roman" pitchFamily="18" charset="0"/>
                <a:cs typeface="Times New Roman" pitchFamily="18" charset="0"/>
              </a:rPr>
              <a:t>Ln</a:t>
            </a:r>
            <a:r>
              <a:rPr lang="ru-RU" altLang="ru-RU" sz="2000" i="1">
                <a:latin typeface="Times New Roman" pitchFamily="18" charset="0"/>
                <a:cs typeface="Times New Roman" pitchFamily="18" charset="0"/>
              </a:rPr>
              <a:t>(n))</a:t>
            </a:r>
            <a:r>
              <a:rPr lang="ru-RU" altLang="ru-RU" sz="2000">
                <a:latin typeface="Times New Roman" pitchFamily="18" charset="0"/>
                <a:cs typeface="Times New Roman" pitchFamily="18" charset="0"/>
              </a:rPr>
              <a:t> обозначает класс функций, которые растут не медленнее, чем </a:t>
            </a:r>
            <a:r>
              <a:rPr lang="en-US" altLang="ru-RU" sz="2000" i="1">
                <a:latin typeface="Times New Roman" pitchFamily="18" charset="0"/>
                <a:cs typeface="Times New Roman" pitchFamily="18" charset="0"/>
              </a:rPr>
              <a:t>g</a:t>
            </a:r>
            <a:r>
              <a:rPr lang="ru-RU" altLang="ru-RU" sz="2000" i="1">
                <a:latin typeface="Times New Roman" pitchFamily="18" charset="0"/>
                <a:cs typeface="Times New Roman" pitchFamily="18" charset="0"/>
              </a:rPr>
              <a:t>(</a:t>
            </a:r>
            <a:r>
              <a:rPr lang="en-US" altLang="ru-RU" sz="2000" i="1">
                <a:latin typeface="Times New Roman" pitchFamily="18" charset="0"/>
                <a:cs typeface="Times New Roman" pitchFamily="18" charset="0"/>
              </a:rPr>
              <a:t>n</a:t>
            </a:r>
            <a:r>
              <a:rPr lang="ru-RU" altLang="ru-RU" sz="2000" i="1">
                <a:latin typeface="Times New Roman" pitchFamily="18" charset="0"/>
                <a:cs typeface="Times New Roman" pitchFamily="18" charset="0"/>
              </a:rPr>
              <a:t>) = n*</a:t>
            </a:r>
            <a:r>
              <a:rPr lang="en-US" altLang="ru-RU" sz="2000" i="1">
                <a:latin typeface="Times New Roman" pitchFamily="18" charset="0"/>
                <a:cs typeface="Times New Roman" pitchFamily="18" charset="0"/>
              </a:rPr>
              <a:t>Ln</a:t>
            </a:r>
            <a:r>
              <a:rPr lang="ru-RU" altLang="ru-RU" sz="2000" i="1">
                <a:latin typeface="Times New Roman" pitchFamily="18" charset="0"/>
                <a:cs typeface="Times New Roman" pitchFamily="18" charset="0"/>
              </a:rPr>
              <a:t>(n),</a:t>
            </a:r>
            <a:r>
              <a:rPr lang="ru-RU" altLang="ru-RU" sz="2000">
                <a:latin typeface="Times New Roman" pitchFamily="18" charset="0"/>
                <a:cs typeface="Times New Roman" pitchFamily="18" charset="0"/>
              </a:rPr>
              <a:t> в этот класс попадают все полиномы со степенью большей единицы, равно как и все степенные функции с основанием большим единицы.</a:t>
            </a:r>
          </a:p>
        </p:txBody>
      </p:sp>
      <p:pic>
        <p:nvPicPr>
          <p:cNvPr id="96260" name="Рисунок 5"/>
          <p:cNvPicPr>
            <a:picLocks noChangeAspect="1"/>
          </p:cNvPicPr>
          <p:nvPr/>
        </p:nvPicPr>
        <p:blipFill>
          <a:blip r:embed="rId2" cstate="print"/>
          <a:srcRect/>
          <a:stretch>
            <a:fillRect/>
          </a:stretch>
        </p:blipFill>
        <p:spPr bwMode="auto">
          <a:xfrm>
            <a:off x="2063751" y="2924175"/>
            <a:ext cx="3427413" cy="3024188"/>
          </a:xfrm>
          <a:prstGeom prst="rect">
            <a:avLst/>
          </a:prstGeom>
          <a:noFill/>
          <a:ln w="9525">
            <a:noFill/>
            <a:miter lim="800000"/>
            <a:headEnd/>
            <a:tailEnd/>
          </a:ln>
        </p:spPr>
      </p:pic>
    </p:spTree>
    <p:extLst>
      <p:ext uri="{BB962C8B-B14F-4D97-AF65-F5344CB8AC3E}">
        <p14:creationId xmlns:p14="http://schemas.microsoft.com/office/powerpoint/2010/main" val="3866350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Заголовок 2"/>
          <p:cNvSpPr>
            <a:spLocks noGrp="1"/>
          </p:cNvSpPr>
          <p:nvPr>
            <p:ph type="title"/>
          </p:nvPr>
        </p:nvSpPr>
        <p:spPr>
          <a:xfrm>
            <a:off x="1981201" y="128589"/>
            <a:ext cx="8228013" cy="636587"/>
          </a:xfrm>
          <a:solidFill>
            <a:srgbClr val="C6D9F1"/>
          </a:solidFill>
        </p:spPr>
        <p:txBody>
          <a:bodyPr/>
          <a:lstStyle/>
          <a:p>
            <a:r>
              <a:rPr lang="ru-RU" altLang="ru-RU" sz="3200" b="1"/>
              <a:t>Свойства асимптотических оценок</a:t>
            </a:r>
          </a:p>
        </p:txBody>
      </p:sp>
      <p:pic>
        <p:nvPicPr>
          <p:cNvPr id="97283" name="Picture 4"/>
          <p:cNvPicPr>
            <a:picLocks noChangeAspect="1" noChangeArrowheads="1"/>
          </p:cNvPicPr>
          <p:nvPr/>
        </p:nvPicPr>
        <p:blipFill>
          <a:blip r:embed="rId2" cstate="print"/>
          <a:srcRect/>
          <a:stretch>
            <a:fillRect/>
          </a:stretch>
        </p:blipFill>
        <p:spPr bwMode="auto">
          <a:xfrm>
            <a:off x="1563688" y="1412876"/>
            <a:ext cx="9104312" cy="2879725"/>
          </a:xfrm>
          <a:prstGeom prst="rect">
            <a:avLst/>
          </a:prstGeom>
          <a:noFill/>
          <a:ln w="9525">
            <a:noFill/>
            <a:miter lim="800000"/>
            <a:headEnd/>
            <a:tailEnd/>
          </a:ln>
        </p:spPr>
      </p:pic>
    </p:spTree>
    <p:extLst>
      <p:ext uri="{BB962C8B-B14F-4D97-AF65-F5344CB8AC3E}">
        <p14:creationId xmlns:p14="http://schemas.microsoft.com/office/powerpoint/2010/main" val="4110531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ChangeArrowheads="1"/>
          </p:cNvSpPr>
          <p:nvPr/>
        </p:nvSpPr>
        <p:spPr bwMode="auto">
          <a:xfrm>
            <a:off x="4730819" y="74712"/>
            <a:ext cx="2730363" cy="307777"/>
          </a:xfrm>
          <a:prstGeom prst="rect">
            <a:avLst/>
          </a:prstGeom>
          <a:noFill/>
          <a:ln w="9525">
            <a:noFill/>
            <a:miter lim="800000"/>
            <a:headEnd/>
            <a:tailEnd/>
          </a:ln>
        </p:spPr>
        <p:txBody>
          <a:bodyPr wrap="none" anchor="ctr">
            <a:spAutoFit/>
          </a:bodyPr>
          <a:lstStyle/>
          <a:p>
            <a:pPr indent="450850" algn="just" eaLnBrk="0" hangingPunct="0"/>
            <a:r>
              <a:rPr lang="ru-RU" altLang="ru-RU" sz="1400" b="1">
                <a:cs typeface="Times New Roman" pitchFamily="18" charset="0"/>
              </a:rPr>
              <a:t>Сравнение скорости роста.</a:t>
            </a:r>
            <a:endParaRPr lang="ru-RU" altLang="ru-RU"/>
          </a:p>
        </p:txBody>
      </p:sp>
      <p:sp>
        <p:nvSpPr>
          <p:cNvPr id="98307" name="Заголовок 3"/>
          <p:cNvSpPr>
            <a:spLocks noGrp="1"/>
          </p:cNvSpPr>
          <p:nvPr>
            <p:ph type="title"/>
          </p:nvPr>
        </p:nvSpPr>
        <p:spPr>
          <a:xfrm>
            <a:off x="1981201" y="128589"/>
            <a:ext cx="8228013" cy="636587"/>
          </a:xfrm>
          <a:solidFill>
            <a:srgbClr val="C6D9F1"/>
          </a:solidFill>
        </p:spPr>
        <p:txBody>
          <a:bodyPr/>
          <a:lstStyle/>
          <a:p>
            <a:r>
              <a:rPr lang="ru-RU" altLang="ru-RU" sz="3200" b="1"/>
              <a:t>Сравнение скорости роста</a:t>
            </a:r>
            <a:endParaRPr lang="ru-RU" altLang="ru-RU" sz="3200"/>
          </a:p>
        </p:txBody>
      </p:sp>
      <p:sp>
        <p:nvSpPr>
          <p:cNvPr id="98308" name="Содержимое 4"/>
          <p:cNvSpPr>
            <a:spLocks noGrp="1"/>
          </p:cNvSpPr>
          <p:nvPr>
            <p:ph idx="1"/>
          </p:nvPr>
        </p:nvSpPr>
        <p:spPr>
          <a:xfrm>
            <a:off x="1774825" y="765176"/>
            <a:ext cx="8713788" cy="2735263"/>
          </a:xfrm>
        </p:spPr>
        <p:txBody>
          <a:bodyPr>
            <a:normAutofit/>
          </a:bodyPr>
          <a:lstStyle/>
          <a:p>
            <a:pPr>
              <a:buFont typeface="Times New Roman" pitchFamily="18" charset="0"/>
              <a:buNone/>
            </a:pPr>
            <a:r>
              <a:rPr lang="ru-RU" altLang="ru-RU" sz="2400" dirty="0">
                <a:solidFill>
                  <a:srgbClr val="C00000"/>
                </a:solidFill>
              </a:rPr>
              <a:t>     Чем меньше степень роста функции трудоемкости, тем больше размер задачи, которую можно решить на компьютере.</a:t>
            </a:r>
          </a:p>
          <a:p>
            <a:pPr>
              <a:buFont typeface="Times New Roman" pitchFamily="18" charset="0"/>
              <a:buNone/>
            </a:pPr>
            <a:r>
              <a:rPr lang="ru-RU" altLang="ru-RU" sz="2400" dirty="0"/>
              <a:t>	Предположим, что имеются 4 программы, временная сложность которых 			и два компьютера: на первом можно использовать 1000 единиц машинного времени для решения задачи, на втором в 10 раз больше.</a:t>
            </a:r>
            <a:endParaRPr lang="ru-RU" altLang="ru-RU" sz="2400" dirty="0">
              <a:solidFill>
                <a:srgbClr val="C00000"/>
              </a:solidFill>
            </a:endParaRPr>
          </a:p>
        </p:txBody>
      </p:sp>
      <p:pic>
        <p:nvPicPr>
          <p:cNvPr id="98309" name="Рисунок 5"/>
          <p:cNvPicPr>
            <a:picLocks noChangeAspect="1"/>
          </p:cNvPicPr>
          <p:nvPr/>
        </p:nvPicPr>
        <p:blipFill>
          <a:blip r:embed="rId2" cstate="print"/>
          <a:srcRect/>
          <a:stretch>
            <a:fillRect/>
          </a:stretch>
        </p:blipFill>
        <p:spPr bwMode="auto">
          <a:xfrm>
            <a:off x="4730819" y="2250374"/>
            <a:ext cx="2182813" cy="360362"/>
          </a:xfrm>
          <a:prstGeom prst="rect">
            <a:avLst/>
          </a:prstGeom>
          <a:noFill/>
          <a:ln w="9525">
            <a:noFill/>
            <a:miter lim="800000"/>
            <a:headEnd/>
            <a:tailEnd/>
          </a:ln>
        </p:spPr>
      </p:pic>
      <p:pic>
        <p:nvPicPr>
          <p:cNvPr id="98310" name="Рисунок 6"/>
          <p:cNvPicPr>
            <a:picLocks noChangeAspect="1"/>
          </p:cNvPicPr>
          <p:nvPr/>
        </p:nvPicPr>
        <p:blipFill>
          <a:blip r:embed="rId3" cstate="print"/>
          <a:srcRect/>
          <a:stretch>
            <a:fillRect/>
          </a:stretch>
        </p:blipFill>
        <p:spPr bwMode="auto">
          <a:xfrm>
            <a:off x="1847851" y="3860800"/>
            <a:ext cx="8545513" cy="1836738"/>
          </a:xfrm>
          <a:prstGeom prst="rect">
            <a:avLst/>
          </a:prstGeom>
          <a:noFill/>
          <a:ln w="9525">
            <a:noFill/>
            <a:miter lim="800000"/>
            <a:headEnd/>
            <a:tailEnd/>
          </a:ln>
        </p:spPr>
      </p:pic>
    </p:spTree>
    <p:extLst>
      <p:ext uri="{BB962C8B-B14F-4D97-AF65-F5344CB8AC3E}">
        <p14:creationId xmlns:p14="http://schemas.microsoft.com/office/powerpoint/2010/main" val="325008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Заголовок 1"/>
          <p:cNvSpPr>
            <a:spLocks noGrp="1"/>
          </p:cNvSpPr>
          <p:nvPr>
            <p:ph type="title"/>
          </p:nvPr>
        </p:nvSpPr>
        <p:spPr>
          <a:xfrm>
            <a:off x="1919289" y="128589"/>
            <a:ext cx="8497887" cy="492125"/>
          </a:xfrm>
          <a:solidFill>
            <a:srgbClr val="C6D9F1"/>
          </a:solidFill>
        </p:spPr>
        <p:txBody>
          <a:bodyPr>
            <a:normAutofit fontScale="90000"/>
          </a:bodyPr>
          <a:lstStyle/>
          <a:p>
            <a:r>
              <a:rPr lang="ru-RU" altLang="ru-RU" sz="3200" b="1"/>
              <a:t>Классы сложности.</a:t>
            </a:r>
            <a:endParaRPr lang="ru-RU" altLang="ru-RU" sz="3200"/>
          </a:p>
        </p:txBody>
      </p:sp>
      <p:pic>
        <p:nvPicPr>
          <p:cNvPr id="99331" name="Picture 2"/>
          <p:cNvPicPr>
            <a:picLocks noGrp="1" noChangeAspect="1" noChangeArrowheads="1"/>
          </p:cNvPicPr>
          <p:nvPr>
            <p:ph idx="1"/>
          </p:nvPr>
        </p:nvPicPr>
        <p:blipFill>
          <a:blip r:embed="rId2" cstate="print"/>
          <a:srcRect/>
          <a:stretch>
            <a:fillRect/>
          </a:stretch>
        </p:blipFill>
        <p:spPr>
          <a:xfrm>
            <a:off x="1919289" y="620713"/>
            <a:ext cx="8497887" cy="5975350"/>
          </a:xfrm>
          <a:noFill/>
        </p:spPr>
      </p:pic>
    </p:spTree>
    <p:extLst>
      <p:ext uri="{BB962C8B-B14F-4D97-AF65-F5344CB8AC3E}">
        <p14:creationId xmlns:p14="http://schemas.microsoft.com/office/powerpoint/2010/main" val="3568295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p:cNvPicPr>
            <a:picLocks noGrp="1" noChangeAspect="1" noChangeArrowheads="1"/>
          </p:cNvPicPr>
          <p:nvPr>
            <p:ph idx="1"/>
          </p:nvPr>
        </p:nvPicPr>
        <p:blipFill>
          <a:blip r:embed="rId2" cstate="print"/>
          <a:srcRect/>
          <a:stretch>
            <a:fillRect/>
          </a:stretch>
        </p:blipFill>
        <p:spPr>
          <a:xfrm>
            <a:off x="1758950" y="333375"/>
            <a:ext cx="8909050" cy="5830888"/>
          </a:xfrm>
          <a:noFill/>
        </p:spPr>
      </p:pic>
    </p:spTree>
    <p:extLst>
      <p:ext uri="{BB962C8B-B14F-4D97-AF65-F5344CB8AC3E}">
        <p14:creationId xmlns:p14="http://schemas.microsoft.com/office/powerpoint/2010/main" val="28357363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3"/>
          <p:cNvPicPr>
            <a:picLocks noChangeAspect="1" noChangeArrowheads="1"/>
          </p:cNvPicPr>
          <p:nvPr/>
        </p:nvPicPr>
        <p:blipFill>
          <a:blip r:embed="rId2" cstate="print"/>
          <a:srcRect/>
          <a:stretch>
            <a:fillRect/>
          </a:stretch>
        </p:blipFill>
        <p:spPr bwMode="auto">
          <a:xfrm>
            <a:off x="1524001" y="1341438"/>
            <a:ext cx="9121775" cy="3922712"/>
          </a:xfrm>
          <a:prstGeom prst="rect">
            <a:avLst/>
          </a:prstGeom>
          <a:noFill/>
          <a:ln w="9525">
            <a:noFill/>
            <a:miter lim="800000"/>
            <a:headEnd/>
            <a:tailEnd/>
          </a:ln>
        </p:spPr>
      </p:pic>
    </p:spTree>
    <p:extLst>
      <p:ext uri="{BB962C8B-B14F-4D97-AF65-F5344CB8AC3E}">
        <p14:creationId xmlns:p14="http://schemas.microsoft.com/office/powerpoint/2010/main" val="1018694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Содержимое 2"/>
          <p:cNvSpPr>
            <a:spLocks noGrp="1"/>
          </p:cNvSpPr>
          <p:nvPr>
            <p:ph idx="1"/>
          </p:nvPr>
        </p:nvSpPr>
        <p:spPr>
          <a:xfrm>
            <a:off x="1703389" y="260350"/>
            <a:ext cx="8785225" cy="6408738"/>
          </a:xfrm>
        </p:spPr>
        <p:txBody>
          <a:bodyPr/>
          <a:lstStyle/>
          <a:p>
            <a:pPr>
              <a:buFont typeface="Times New Roman" pitchFamily="18" charset="0"/>
              <a:buNone/>
            </a:pPr>
            <a:r>
              <a:rPr lang="ru-RU" sz="1800" b="1" i="1" dirty="0"/>
              <a:t>Задачи со сложностью O(1):</a:t>
            </a:r>
            <a:endParaRPr lang="ru-RU" sz="1800" dirty="0"/>
          </a:p>
          <a:p>
            <a:pPr>
              <a:buFont typeface="Times New Roman" pitchFamily="18" charset="0"/>
              <a:buNone/>
            </a:pPr>
            <a:r>
              <a:rPr lang="ru-RU" sz="1800" dirty="0"/>
              <a:t>- вставка и удаление элемента в односвязном и двусвязном списке;</a:t>
            </a:r>
          </a:p>
          <a:p>
            <a:pPr>
              <a:buFont typeface="Times New Roman" pitchFamily="18" charset="0"/>
              <a:buNone/>
            </a:pPr>
            <a:r>
              <a:rPr lang="ru-RU" sz="1800" dirty="0"/>
              <a:t>- добавление вершины или ребра в графе.</a:t>
            </a:r>
          </a:p>
          <a:p>
            <a:pPr>
              <a:buFont typeface="Times New Roman" pitchFamily="18" charset="0"/>
              <a:buNone/>
            </a:pPr>
            <a:r>
              <a:rPr lang="ru-RU" sz="1800" b="1" i="1" dirty="0"/>
              <a:t>Задачи со сложностью O(</a:t>
            </a:r>
            <a:r>
              <a:rPr lang="ru-RU" sz="1800" b="1" i="1" dirty="0" err="1"/>
              <a:t>log</a:t>
            </a:r>
            <a:r>
              <a:rPr lang="ru-RU" sz="1800" b="1" i="1" dirty="0"/>
              <a:t> N):</a:t>
            </a:r>
            <a:endParaRPr lang="ru-RU" sz="1800" dirty="0"/>
          </a:p>
          <a:p>
            <a:pPr>
              <a:buFontTx/>
              <a:buChar char="-"/>
            </a:pPr>
            <a:r>
              <a:rPr lang="ru-RU" sz="1800" dirty="0"/>
              <a:t>двоичный поиск в линейном упорядоченном массиве;</a:t>
            </a:r>
          </a:p>
          <a:p>
            <a:pPr>
              <a:buFont typeface="Times New Roman" pitchFamily="18" charset="0"/>
              <a:buNone/>
            </a:pPr>
            <a:r>
              <a:rPr lang="ru-RU" sz="1800" b="1" i="1" dirty="0"/>
              <a:t>Задачи с полиномиальной сложностью:</a:t>
            </a:r>
            <a:endParaRPr lang="ru-RU" sz="1800" dirty="0"/>
          </a:p>
          <a:p>
            <a:pPr>
              <a:buFont typeface="Times New Roman" pitchFamily="18" charset="0"/>
              <a:buNone/>
            </a:pPr>
            <a:r>
              <a:rPr lang="ru-RU" sz="1800" dirty="0"/>
              <a:t>- задача сортировки;</a:t>
            </a:r>
          </a:p>
          <a:p>
            <a:pPr>
              <a:buFont typeface="Times New Roman" pitchFamily="18" charset="0"/>
              <a:buNone/>
            </a:pPr>
            <a:r>
              <a:rPr lang="ru-RU" sz="1800" dirty="0"/>
              <a:t>- задача поиска </a:t>
            </a:r>
            <a:r>
              <a:rPr lang="ru-RU" sz="1800" dirty="0" err="1"/>
              <a:t>эйлерова</a:t>
            </a:r>
            <a:r>
              <a:rPr lang="ru-RU" sz="1800" dirty="0"/>
              <a:t> цикла на графе;</a:t>
            </a:r>
          </a:p>
          <a:p>
            <a:pPr>
              <a:buFont typeface="Times New Roman" pitchFamily="18" charset="0"/>
              <a:buNone/>
            </a:pPr>
            <a:r>
              <a:rPr lang="ru-RU" sz="1800" dirty="0"/>
              <a:t>- поиск некоторого слова в тексте длиной n символов; </a:t>
            </a:r>
          </a:p>
          <a:p>
            <a:pPr>
              <a:buFont typeface="Times New Roman" pitchFamily="18" charset="0"/>
              <a:buNone/>
            </a:pPr>
            <a:r>
              <a:rPr lang="ru-RU" sz="1800" dirty="0"/>
              <a:t>- поиск кратчайшего пути на графе;</a:t>
            </a:r>
          </a:p>
          <a:p>
            <a:pPr>
              <a:buFont typeface="Times New Roman" pitchFamily="18" charset="0"/>
              <a:buNone/>
            </a:pPr>
            <a:r>
              <a:rPr lang="ru-RU" sz="1800" dirty="0"/>
              <a:t>-линейное программирование.</a:t>
            </a:r>
          </a:p>
          <a:p>
            <a:pPr>
              <a:buFont typeface="Times New Roman" pitchFamily="18" charset="0"/>
              <a:buNone/>
            </a:pPr>
            <a:r>
              <a:rPr lang="ru-RU" sz="1800" b="1" i="1" dirty="0"/>
              <a:t>Задачи экспоненциальной сложности:</a:t>
            </a:r>
            <a:r>
              <a:rPr lang="ru-RU" sz="1800" dirty="0"/>
              <a:t> </a:t>
            </a:r>
          </a:p>
          <a:p>
            <a:pPr>
              <a:buFont typeface="Times New Roman" pitchFamily="18" charset="0"/>
              <a:buNone/>
            </a:pPr>
            <a:r>
              <a:rPr lang="ru-RU" sz="1800" dirty="0"/>
              <a:t>- задача коммивояжёра, задача выполнимости булевых формул;</a:t>
            </a:r>
          </a:p>
          <a:p>
            <a:pPr>
              <a:buFont typeface="Times New Roman" pitchFamily="18" charset="0"/>
              <a:buNone/>
            </a:pPr>
            <a:r>
              <a:rPr lang="ru-RU" sz="1800"/>
              <a:t>- </a:t>
            </a:r>
            <a:r>
              <a:rPr lang="ru-RU" sz="1800" dirty="0"/>
              <a:t>задачи распознавания правильных выражений в несложных языках;</a:t>
            </a:r>
          </a:p>
          <a:p>
            <a:pPr>
              <a:buFont typeface="Times New Roman" pitchFamily="18" charset="0"/>
              <a:buNone/>
            </a:pPr>
            <a:r>
              <a:rPr lang="ru-RU" sz="1800" dirty="0"/>
              <a:t>- составление расписаний и раскрасок.</a:t>
            </a:r>
          </a:p>
          <a:p>
            <a:endParaRPr lang="ru-RU" dirty="0"/>
          </a:p>
        </p:txBody>
      </p:sp>
    </p:spTree>
    <p:extLst>
      <p:ext uri="{BB962C8B-B14F-4D97-AF65-F5344CB8AC3E}">
        <p14:creationId xmlns:p14="http://schemas.microsoft.com/office/powerpoint/2010/main" val="334215383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33107</TotalTime>
  <Words>4339</Words>
  <Application>Microsoft Office PowerPoint</Application>
  <PresentationFormat>Широкоэкранный</PresentationFormat>
  <Paragraphs>203</Paragraphs>
  <Slides>39</Slides>
  <Notes>8</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39</vt:i4>
      </vt:variant>
    </vt:vector>
  </HeadingPairs>
  <TitlesOfParts>
    <vt:vector size="45" baseType="lpstr">
      <vt:lpstr>Arial</vt:lpstr>
      <vt:lpstr>Calibri</vt:lpstr>
      <vt:lpstr>Calibri Light</vt:lpstr>
      <vt:lpstr>Symbol</vt:lpstr>
      <vt:lpstr>Times New Roman</vt:lpstr>
      <vt:lpstr>Тема Office</vt:lpstr>
      <vt:lpstr>Алгоритмически неразрешимые задачи</vt:lpstr>
      <vt:lpstr>Презентация PowerPoint</vt:lpstr>
      <vt:lpstr>Примеры алгоритмически неразрешимых задач.</vt:lpstr>
      <vt:lpstr>Презентация PowerPoint</vt:lpstr>
      <vt:lpstr> Методы доказательства алгоритмической неразрешимости </vt:lpstr>
      <vt:lpstr>Диагональный метод Кантора</vt:lpstr>
      <vt:lpstr>Презентация PowerPoint</vt:lpstr>
      <vt:lpstr>Презентация PowerPoint</vt:lpstr>
      <vt:lpstr>Презентация PowerPoint</vt:lpstr>
      <vt:lpstr>Презентация PowerPoint</vt:lpstr>
      <vt:lpstr>Проблемы самоприменимости и остановки.</vt:lpstr>
      <vt:lpstr>Презентация PowerPoint</vt:lpstr>
      <vt:lpstr>Презентация PowerPoint</vt:lpstr>
      <vt:lpstr>Презентация PowerPoint</vt:lpstr>
      <vt:lpstr>Проблема останова МТ и доказательство её неразрешимости</vt:lpstr>
      <vt:lpstr>Презентация PowerPoint</vt:lpstr>
      <vt:lpstr>Презентация PowerPoint</vt:lpstr>
      <vt:lpstr>Презентация PowerPoint</vt:lpstr>
      <vt:lpstr>Презентация PowerPoint</vt:lpstr>
      <vt:lpstr>Презентация PowerPoint</vt:lpstr>
      <vt:lpstr>Модель абстрактного вычислителя - машина с произвольным доступом к памяти (RAM)</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 Асимптотический анализ алгоритмов </vt:lpstr>
      <vt:lpstr>Презентация PowerPoint</vt:lpstr>
      <vt:lpstr>Презентация PowerPoint</vt:lpstr>
      <vt:lpstr>Презентация PowerPoint</vt:lpstr>
      <vt:lpstr>Презентация PowerPoint</vt:lpstr>
      <vt:lpstr>Свойства асимптотических оценок</vt:lpstr>
      <vt:lpstr>Сравнение скорости роста</vt:lpstr>
      <vt:lpstr>Классы сложности.</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Алгоритмически неразрешимые задачи</dc:title>
  <dc:creator>Mary Hamster</dc:creator>
  <cp:lastModifiedBy>Mary</cp:lastModifiedBy>
  <cp:revision>59</cp:revision>
  <dcterms:created xsi:type="dcterms:W3CDTF">2018-03-20T19:13:02Z</dcterms:created>
  <dcterms:modified xsi:type="dcterms:W3CDTF">2023-03-23T07:22:23Z</dcterms:modified>
</cp:coreProperties>
</file>