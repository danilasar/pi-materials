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C2694-9C20-4D77-B30D-F231A55AAC93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59B67-DC7B-4505-A0A4-C77105E9C20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11775-370F-43E5-B317-D1C1DB3A6EE7}" type="datetimeFigureOut">
              <a:rPr lang="ru-RU" smtClean="0"/>
              <a:pPr/>
              <a:t>27.03.2023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563562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sz="3200" b="1"/>
              <a:t>Класс </a:t>
            </a:r>
            <a:r>
              <a:rPr lang="en-US" altLang="ru-RU" sz="3200" b="1"/>
              <a:t>NP</a:t>
            </a:r>
            <a:endParaRPr lang="ru-RU" altLang="ru-RU" sz="3200" b="1"/>
          </a:p>
        </p:txBody>
      </p:sp>
      <p:sp>
        <p:nvSpPr>
          <p:cNvPr id="103427" name="Содержимое 2"/>
          <p:cNvSpPr>
            <a:spLocks noGrp="1"/>
          </p:cNvSpPr>
          <p:nvPr>
            <p:ph idx="1"/>
          </p:nvPr>
        </p:nvSpPr>
        <p:spPr>
          <a:xfrm>
            <a:off x="457200" y="692150"/>
            <a:ext cx="8228013" cy="5545138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ru-RU" altLang="ru-RU" sz="2400" dirty="0"/>
              <a:t>Задачи, которые нельзя отнести ни к классу </a:t>
            </a:r>
            <a:r>
              <a:rPr lang="en-US" altLang="ru-RU" sz="2400" dirty="0"/>
              <a:t>P</a:t>
            </a:r>
            <a:r>
              <a:rPr lang="ru-RU" altLang="ru-RU" sz="2400" dirty="0"/>
              <a:t>, ни к классу </a:t>
            </a:r>
            <a:r>
              <a:rPr lang="en-US" altLang="ru-RU" sz="2400" dirty="0"/>
              <a:t>E</a:t>
            </a:r>
            <a:r>
              <a:rPr lang="ru-RU" altLang="ru-RU" sz="2400" dirty="0"/>
              <a:t>.</a:t>
            </a:r>
          </a:p>
          <a:p>
            <a:pPr>
              <a:buFont typeface="Arial" charset="0"/>
              <a:buChar char="•"/>
            </a:pPr>
            <a:r>
              <a:rPr lang="ru-RU" altLang="ru-RU" sz="2400" dirty="0"/>
              <a:t>Задачи, которые недетерминированная машина Тьюринга может решить за полиномиальное время, тогда как для детерминированной машины Тьюринга полиномиальный алгоритм неизвестен.</a:t>
            </a:r>
          </a:p>
          <a:p>
            <a:pPr>
              <a:buFont typeface="Arial" charset="0"/>
              <a:buChar char="•"/>
            </a:pPr>
            <a:r>
              <a:rPr lang="ru-RU" altLang="ru-RU" sz="2400" dirty="0"/>
              <a:t>Для этих задач до сих пор не разработан эффективный (т.е. полиномиальный) алгоритм, но и не доказано, что таких алгоритмов не существует.</a:t>
            </a:r>
          </a:p>
          <a:p>
            <a:pPr>
              <a:buFont typeface="Arial" charset="0"/>
              <a:buChar char="•"/>
            </a:pPr>
            <a:r>
              <a:rPr lang="ru-RU" altLang="ru-RU" sz="2400" dirty="0"/>
              <a:t>К классу NP относятся все задачи, решение которых можно </a:t>
            </a:r>
            <a:r>
              <a:rPr lang="ru-RU" altLang="ru-RU" sz="2400" i="1" dirty="0">
                <a:solidFill>
                  <a:srgbClr val="C00000"/>
                </a:solidFill>
              </a:rPr>
              <a:t>проверить</a:t>
            </a:r>
            <a:r>
              <a:rPr lang="ru-RU" altLang="ru-RU" sz="2400" dirty="0"/>
              <a:t> за полиномиальное время.</a:t>
            </a:r>
            <a:r>
              <a:rPr lang="ru-RU" sz="2400" dirty="0"/>
              <a:t> Оракул предлагает решения, которые после проверки верификатором за </a:t>
            </a:r>
            <a:r>
              <a:rPr lang="ru-RU" altLang="ru-RU" sz="2400" dirty="0"/>
              <a:t>полиномиальное время</a:t>
            </a:r>
            <a:r>
              <a:rPr lang="ru-RU" sz="2400" dirty="0"/>
              <a:t> приобретают «юридическую» силу.</a:t>
            </a:r>
            <a:endParaRPr lang="ru-RU" altLang="ru-RU" sz="2400" dirty="0"/>
          </a:p>
          <a:p>
            <a:pPr>
              <a:buFont typeface="Arial" charset="0"/>
              <a:buChar char="•"/>
            </a:pPr>
            <a:endParaRPr lang="ru-RU" altLang="ru-RU" sz="2400" dirty="0"/>
          </a:p>
          <a:p>
            <a:pPr>
              <a:buFont typeface="Times New Roman" pitchFamily="18" charset="0"/>
              <a:buNone/>
            </a:pPr>
            <a:endParaRPr lang="ru-RU" alt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8013" cy="6597650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b="1" dirty="0"/>
              <a:t>Пример.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/>
              <a:t>Дано </a:t>
            </a:r>
            <a:r>
              <a:rPr lang="en-US" dirty="0"/>
              <a:t>n</a:t>
            </a:r>
            <a:r>
              <a:rPr lang="ru-RU" dirty="0"/>
              <a:t> чисел a</a:t>
            </a:r>
            <a:r>
              <a:rPr lang="ru-RU" sz="2000" dirty="0"/>
              <a:t>1</a:t>
            </a:r>
            <a:r>
              <a:rPr lang="ru-RU" dirty="0"/>
              <a:t>,…</a:t>
            </a:r>
            <a:r>
              <a:rPr lang="ru-RU" dirty="0" err="1"/>
              <a:t>a</a:t>
            </a:r>
            <a:r>
              <a:rPr lang="ru-RU" sz="2000" dirty="0" err="1"/>
              <a:t>n</a:t>
            </a:r>
            <a:r>
              <a:rPr lang="ru-RU" dirty="0"/>
              <a:t> и число V.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/>
              <a:t>Задача: Найти вектор (массив) X=(x</a:t>
            </a:r>
            <a:r>
              <a:rPr lang="ru-RU" sz="2000" dirty="0"/>
              <a:t>1</a:t>
            </a:r>
            <a:r>
              <a:rPr lang="ru-RU" dirty="0"/>
              <a:t>,…,</a:t>
            </a:r>
            <a:r>
              <a:rPr lang="ru-RU" dirty="0" err="1"/>
              <a:t>x</a:t>
            </a:r>
            <a:r>
              <a:rPr lang="ru-RU" sz="2000" dirty="0" err="1"/>
              <a:t>n</a:t>
            </a:r>
            <a:r>
              <a:rPr lang="ru-RU" dirty="0"/>
              <a:t>), </a:t>
            </a:r>
            <a:r>
              <a:rPr lang="ru-RU" dirty="0" err="1"/>
              <a:t>x</a:t>
            </a:r>
            <a:r>
              <a:rPr lang="ru-RU" baseline="-25000" dirty="0" err="1"/>
              <a:t>i</a:t>
            </a:r>
            <a:r>
              <a:rPr lang="ru-RU" dirty="0">
                <a:sym typeface="Symbol"/>
              </a:rPr>
              <a:t></a:t>
            </a:r>
            <a:r>
              <a:rPr lang="ru-RU" dirty="0"/>
              <a:t>{0,1}, такой, что </a:t>
            </a:r>
            <a:r>
              <a:rPr lang="ru-RU" dirty="0">
                <a:sym typeface="Symbol"/>
              </a:rPr>
              <a:t></a:t>
            </a:r>
            <a:r>
              <a:rPr lang="ru-RU" dirty="0" err="1"/>
              <a:t>a</a:t>
            </a:r>
            <a:r>
              <a:rPr lang="ru-RU" baseline="-25000" dirty="0" err="1"/>
              <a:t>i</a:t>
            </a:r>
            <a:r>
              <a:rPr lang="ru-RU" dirty="0" err="1"/>
              <a:t>x</a:t>
            </a:r>
            <a:r>
              <a:rPr lang="ru-RU" baseline="-25000" dirty="0" err="1"/>
              <a:t>i</a:t>
            </a:r>
            <a:r>
              <a:rPr lang="ru-RU" dirty="0"/>
              <a:t> = V.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/>
              <a:t>Т.е. может ли быть представлено число V в виде суммы каких- либо элементов массива А.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/>
              <a:t>Если какой-то алгоритм выдает результат – массив X, то проверка правильности этого результата может быть выполнена с полиномиальной сложностью: проверка</a:t>
            </a:r>
            <a:endParaRPr lang="en-US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>
                <a:sym typeface="Symbol"/>
              </a:rPr>
              <a:t></a:t>
            </a:r>
            <a:r>
              <a:rPr lang="ru-RU" dirty="0"/>
              <a:t> </a:t>
            </a:r>
            <a:r>
              <a:rPr lang="ru-RU" dirty="0" err="1"/>
              <a:t>a</a:t>
            </a:r>
            <a:r>
              <a:rPr lang="ru-RU" baseline="-25000" dirty="0" err="1"/>
              <a:t>i</a:t>
            </a:r>
            <a:r>
              <a:rPr lang="ru-RU" dirty="0" err="1"/>
              <a:t>x</a:t>
            </a:r>
            <a:r>
              <a:rPr lang="ru-RU" baseline="-25000" dirty="0" err="1"/>
              <a:t>i</a:t>
            </a:r>
            <a:r>
              <a:rPr lang="ru-RU" dirty="0"/>
              <a:t> = V требует не более </a:t>
            </a:r>
            <a:r>
              <a:rPr lang="ru-RU" dirty="0">
                <a:sym typeface="Symbol"/>
              </a:rPr>
              <a:t></a:t>
            </a:r>
            <a:r>
              <a:rPr lang="ru-RU" dirty="0"/>
              <a:t> (N) операций.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0"/>
            <a:ext cx="8785225" cy="6669088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b="1" dirty="0">
                <a:solidFill>
                  <a:srgbClr val="C00000"/>
                </a:solidFill>
              </a:rPr>
              <a:t>Проблема равенства классов P и NP.</a:t>
            </a:r>
            <a:endParaRPr lang="ru-RU" dirty="0">
              <a:solidFill>
                <a:srgbClr val="C00000"/>
              </a:solidFill>
            </a:endParaRPr>
          </a:p>
          <a:p>
            <a:pPr indent="457200">
              <a:buFont typeface="Times New Roman" pitchFamily="18" charset="0"/>
              <a:buNone/>
              <a:defRPr/>
            </a:pPr>
            <a:r>
              <a:rPr lang="ru-RU" sz="2800" dirty="0"/>
              <a:t>Поскольку детерминированная машина Тьюринга может рассматриваться как специальный случай недетерминированной машины Тьюринга, в которой отсутствует стадия угадывания, а стадия проверки совпадает с ДМТ, класс NP включает в себя класс P, а также некоторые проблемы, для решения которых известны лишь алгоритмы, экспоненциально зависящие от размера входа (то есть неэффективные для больших входов).</a:t>
            </a:r>
          </a:p>
          <a:p>
            <a:pPr indent="457200">
              <a:buFont typeface="Times New Roman" pitchFamily="18" charset="0"/>
              <a:buNone/>
              <a:defRPr/>
            </a:pPr>
            <a:r>
              <a:rPr lang="ru-RU" sz="2800" dirty="0">
                <a:solidFill>
                  <a:srgbClr val="C00000"/>
                </a:solidFill>
              </a:rPr>
              <a:t>Вопрос о равенстве этих двух классов считается одной из самых сложных открытых проблем в области теоретической информатики.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ChangeArrowheads="1"/>
          </p:cNvSpPr>
          <p:nvPr/>
        </p:nvSpPr>
        <p:spPr bwMode="auto">
          <a:xfrm>
            <a:off x="250825" y="4763"/>
            <a:ext cx="7956550" cy="132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630238" algn="just" eaLnBrk="0" hangingPunct="0"/>
            <a:r>
              <a:rPr lang="ru-RU" sz="2000">
                <a:solidFill>
                  <a:schemeClr val="tx1"/>
                </a:solidFill>
                <a:cs typeface="Times New Roman" pitchFamily="18" charset="0"/>
              </a:rPr>
              <a:t>На сегодня отсутствуют теоретические доказательства как совпадения этих классов (P=NP), так и их несовпадения. </a:t>
            </a:r>
          </a:p>
          <a:p>
            <a:pPr indent="630238" algn="just" eaLnBrk="0" hangingPunct="0"/>
            <a:r>
              <a:rPr lang="ru-RU" sz="2000">
                <a:solidFill>
                  <a:schemeClr val="tx1"/>
                </a:solidFill>
                <a:cs typeface="Times New Roman" pitchFamily="18" charset="0"/>
              </a:rPr>
              <a:t>Предположение состоит в том, что класс P является собственным подмножеством класса NP, т.е. NP \ P не пусто.</a:t>
            </a:r>
            <a:endParaRPr lang="ru-RU" sz="2000">
              <a:solidFill>
                <a:schemeClr val="tx1"/>
              </a:solidFill>
            </a:endParaRPr>
          </a:p>
        </p:txBody>
      </p:sp>
      <p:pic>
        <p:nvPicPr>
          <p:cNvPr id="106499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2988" y="1412875"/>
            <a:ext cx="62706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0" name="Прямоугольник 14"/>
          <p:cNvSpPr>
            <a:spLocks noChangeArrowheads="1"/>
          </p:cNvSpPr>
          <p:nvPr/>
        </p:nvSpPr>
        <p:spPr bwMode="auto">
          <a:xfrm>
            <a:off x="395288" y="3213100"/>
            <a:ext cx="542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>
                <a:solidFill>
                  <a:schemeClr val="tx1"/>
                </a:solidFill>
              </a:rPr>
              <a:t>Класс </a:t>
            </a:r>
            <a:r>
              <a:rPr lang="en-US" sz="2400" b="1" i="1">
                <a:solidFill>
                  <a:schemeClr val="tx1"/>
                </a:solidFill>
              </a:rPr>
              <a:t>NPC</a:t>
            </a:r>
            <a:r>
              <a:rPr lang="ru-RU" sz="2400" b="1">
                <a:solidFill>
                  <a:schemeClr val="tx1"/>
                </a:solidFill>
              </a:rPr>
              <a:t> (</a:t>
            </a:r>
            <a:r>
              <a:rPr lang="en-US" sz="2400" b="1" i="1">
                <a:solidFill>
                  <a:schemeClr val="tx1"/>
                </a:solidFill>
              </a:rPr>
              <a:t>NP</a:t>
            </a:r>
            <a:r>
              <a:rPr lang="ru-RU" sz="2400" b="1">
                <a:solidFill>
                  <a:schemeClr val="tx1"/>
                </a:solidFill>
              </a:rPr>
              <a:t> – полные задачи)</a:t>
            </a:r>
          </a:p>
        </p:txBody>
      </p:sp>
      <p:sp>
        <p:nvSpPr>
          <p:cNvPr id="106501" name="Прямоугольник 15"/>
          <p:cNvSpPr>
            <a:spLocks noChangeArrowheads="1"/>
          </p:cNvSpPr>
          <p:nvPr/>
        </p:nvSpPr>
        <p:spPr bwMode="auto">
          <a:xfrm>
            <a:off x="250825" y="3789363"/>
            <a:ext cx="86423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>
                <a:solidFill>
                  <a:schemeClr val="tx1"/>
                </a:solidFill>
              </a:rPr>
              <a:t>Определение класса </a:t>
            </a:r>
            <a:r>
              <a:rPr lang="ru-RU" i="1">
                <a:solidFill>
                  <a:schemeClr val="tx1"/>
                </a:solidFill>
              </a:rPr>
              <a:t>NPC</a:t>
            </a:r>
            <a:r>
              <a:rPr lang="ru-RU">
                <a:solidFill>
                  <a:schemeClr val="tx1"/>
                </a:solidFill>
              </a:rPr>
              <a:t> (</a:t>
            </a:r>
            <a:r>
              <a:rPr lang="ru-RU" i="1">
                <a:solidFill>
                  <a:schemeClr val="tx1"/>
                </a:solidFill>
              </a:rPr>
              <a:t>NP</a:t>
            </a:r>
            <a:r>
              <a:rPr lang="ru-RU">
                <a:solidFill>
                  <a:schemeClr val="tx1"/>
                </a:solidFill>
              </a:rPr>
              <a:t>-complete) или класса </a:t>
            </a:r>
            <a:r>
              <a:rPr lang="ru-RU" i="1">
                <a:solidFill>
                  <a:schemeClr val="tx1"/>
                </a:solidFill>
              </a:rPr>
              <a:t>NP</a:t>
            </a:r>
            <a:r>
              <a:rPr lang="ru-RU">
                <a:solidFill>
                  <a:schemeClr val="tx1"/>
                </a:solidFill>
              </a:rPr>
              <a:t>-полных задач требует выполнения следующих двух условий: во-первых, задача должна принадлежать классу </a:t>
            </a:r>
            <a:r>
              <a:rPr lang="ru-RU" i="1">
                <a:solidFill>
                  <a:schemeClr val="tx1"/>
                </a:solidFill>
              </a:rPr>
              <a:t>NP,</a:t>
            </a:r>
            <a:r>
              <a:rPr lang="ru-RU">
                <a:solidFill>
                  <a:schemeClr val="tx1"/>
                </a:solidFill>
              </a:rPr>
              <a:t> и, во-вторых, к ней полиномиально должны сводиться все задачи из класса </a:t>
            </a:r>
            <a:r>
              <a:rPr lang="ru-RU" i="1">
                <a:solidFill>
                  <a:schemeClr val="tx1"/>
                </a:solidFill>
              </a:rPr>
              <a:t>NP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106502" name="Рисунок 17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638" y="4941888"/>
            <a:ext cx="41560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79613" y="4076700"/>
            <a:ext cx="4875212" cy="1763713"/>
          </a:xfrm>
          <a:noFill/>
        </p:spPr>
      </p:pic>
      <p:sp>
        <p:nvSpPr>
          <p:cNvPr id="107523" name="Прямоугольник 4"/>
          <p:cNvSpPr>
            <a:spLocks noChangeArrowheads="1"/>
          </p:cNvSpPr>
          <p:nvPr/>
        </p:nvSpPr>
        <p:spPr bwMode="auto">
          <a:xfrm>
            <a:off x="179388" y="188913"/>
            <a:ext cx="8785225" cy="369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	</a:t>
            </a:r>
            <a:r>
              <a:rPr lang="ru-RU" sz="2400">
                <a:solidFill>
                  <a:schemeClr val="tx1"/>
                </a:solidFill>
              </a:rPr>
              <a:t>Для класса </a:t>
            </a:r>
            <a:r>
              <a:rPr lang="en-US" sz="2400" i="1">
                <a:solidFill>
                  <a:schemeClr val="tx1"/>
                </a:solidFill>
              </a:rPr>
              <a:t>NPC</a:t>
            </a:r>
            <a:r>
              <a:rPr lang="ru-RU" sz="2400">
                <a:solidFill>
                  <a:schemeClr val="tx1"/>
                </a:solidFill>
              </a:rPr>
              <a:t> доказана следующая </a:t>
            </a:r>
            <a:r>
              <a:rPr lang="ru-RU" sz="2400" b="1">
                <a:solidFill>
                  <a:schemeClr val="tx1"/>
                </a:solidFill>
              </a:rPr>
              <a:t>теорема</a:t>
            </a:r>
            <a:r>
              <a:rPr lang="ru-RU" sz="2400">
                <a:solidFill>
                  <a:schemeClr val="tx1"/>
                </a:solidFill>
              </a:rPr>
              <a:t>: если существует задача, принадлежащая классу </a:t>
            </a:r>
            <a:r>
              <a:rPr lang="ru-RU" sz="2400" i="1">
                <a:solidFill>
                  <a:schemeClr val="tx1"/>
                </a:solidFill>
              </a:rPr>
              <a:t>NPC</a:t>
            </a:r>
            <a:r>
              <a:rPr lang="ru-RU" sz="2400">
                <a:solidFill>
                  <a:schemeClr val="tx1"/>
                </a:solidFill>
              </a:rPr>
              <a:t>, для которой существует полиномиальный алгоритм решения, то класс </a:t>
            </a:r>
            <a:r>
              <a:rPr lang="ru-RU" sz="2400" i="1">
                <a:solidFill>
                  <a:schemeClr val="tx1"/>
                </a:solidFill>
              </a:rPr>
              <a:t>P</a:t>
            </a:r>
            <a:r>
              <a:rPr lang="ru-RU" sz="2400">
                <a:solidFill>
                  <a:schemeClr val="tx1"/>
                </a:solidFill>
              </a:rPr>
              <a:t> совпадает с классом </a:t>
            </a:r>
            <a:r>
              <a:rPr lang="ru-RU" sz="2400" i="1">
                <a:solidFill>
                  <a:schemeClr val="tx1"/>
                </a:solidFill>
              </a:rPr>
              <a:t>NP</a:t>
            </a:r>
            <a:r>
              <a:rPr lang="ru-RU" sz="2400">
                <a:solidFill>
                  <a:schemeClr val="tx1"/>
                </a:solidFill>
              </a:rPr>
              <a:t>, т.е. </a:t>
            </a:r>
            <a:r>
              <a:rPr lang="en-US" sz="2400" i="1">
                <a:solidFill>
                  <a:schemeClr val="tx1"/>
                </a:solidFill>
              </a:rPr>
              <a:t>P</a:t>
            </a:r>
            <a:r>
              <a:rPr lang="ru-RU" sz="2400" i="1">
                <a:solidFill>
                  <a:schemeClr val="tx1"/>
                </a:solidFill>
              </a:rPr>
              <a:t>=</a:t>
            </a:r>
            <a:r>
              <a:rPr lang="en-US" sz="2400" i="1">
                <a:solidFill>
                  <a:schemeClr val="tx1"/>
                </a:solidFill>
              </a:rPr>
              <a:t>NP</a:t>
            </a:r>
          </a:p>
          <a:p>
            <a:r>
              <a:rPr lang="ru-RU" sz="2400">
                <a:solidFill>
                  <a:schemeClr val="tx1"/>
                </a:solidFill>
              </a:rPr>
              <a:t>	В</a:t>
            </a:r>
            <a:r>
              <a:rPr lang="ru-RU" sz="2400"/>
              <a:t> </a:t>
            </a:r>
            <a:r>
              <a:rPr lang="ru-RU" sz="2400">
                <a:solidFill>
                  <a:schemeClr val="tx1"/>
                </a:solidFill>
              </a:rPr>
              <a:t>настоящее время доказано существование сотен NP– полных задач, но ни для одной из них пока не удалось найти полиномиального алгоритма решения. В настоящее время исследователи предполагают следующее соотношение классов:</a:t>
            </a:r>
          </a:p>
          <a:p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492125"/>
          </a:xfrm>
        </p:spPr>
        <p:txBody>
          <a:bodyPr>
            <a:normAutofit fontScale="90000"/>
          </a:bodyPr>
          <a:lstStyle/>
          <a:p>
            <a:br>
              <a:rPr lang="ru-RU" sz="2800" b="1"/>
            </a:br>
            <a:br>
              <a:rPr lang="ru-RU" sz="2800" b="1"/>
            </a:br>
            <a:r>
              <a:rPr lang="ru-RU" sz="2800" b="1"/>
              <a:t>Примеры </a:t>
            </a:r>
            <a:r>
              <a:rPr lang="ru-RU" sz="2800" b="1" i="1"/>
              <a:t>NP</a:t>
            </a:r>
            <a:r>
              <a:rPr lang="ru-RU" sz="2800" b="1"/>
              <a:t> – полных задач</a:t>
            </a:r>
            <a:br>
              <a:rPr lang="ru-RU" b="1"/>
            </a:br>
            <a:endParaRPr lang="ru-RU"/>
          </a:p>
        </p:txBody>
      </p:sp>
      <p:pic>
        <p:nvPicPr>
          <p:cNvPr id="108547" name="Рисунок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981075"/>
            <a:ext cx="865505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8013" cy="6858000"/>
          </a:xfrm>
        </p:spPr>
        <p:txBody>
          <a:bodyPr/>
          <a:lstStyle/>
          <a:p>
            <a:pPr>
              <a:buFont typeface="Times New Roman" pitchFamily="18" charset="0"/>
              <a:buNone/>
            </a:pPr>
            <a:r>
              <a:rPr lang="ru-RU" sz="2800" b="1" i="1" u="sng"/>
              <a:t>Пути решения NP-полных задач.</a:t>
            </a:r>
            <a:endParaRPr lang="ru-RU" sz="2800" b="1" u="sng"/>
          </a:p>
          <a:p>
            <a:pPr>
              <a:buFont typeface="Times New Roman" pitchFamily="18" charset="0"/>
              <a:buNone/>
            </a:pPr>
            <a:r>
              <a:rPr lang="ru-RU" sz="2800"/>
              <a:t>1.      Поиск приближенного решения (например, использование жадных алгоритмов для решения задач о коммивояжёре, о рюкзаке);</a:t>
            </a:r>
          </a:p>
          <a:p>
            <a:pPr>
              <a:buFont typeface="Times New Roman" pitchFamily="18" charset="0"/>
              <a:buNone/>
            </a:pPr>
            <a:r>
              <a:rPr lang="ru-RU" sz="2800"/>
              <a:t>2.      Организация “разумной” стратегии перебора (например, метод ветвей и границ);</a:t>
            </a:r>
          </a:p>
          <a:p>
            <a:pPr>
              <a:buFont typeface="Times New Roman" pitchFamily="18" charset="0"/>
              <a:buNone/>
            </a:pPr>
            <a:r>
              <a:rPr lang="ru-RU" sz="2800"/>
              <a:t>3.      Сведение NP-полных задач друг к другу (например, сведение задачи коммивояжёра к задаче линейного программирования);</a:t>
            </a:r>
          </a:p>
          <a:p>
            <a:pPr>
              <a:buFont typeface="Times New Roman" pitchFamily="18" charset="0"/>
              <a:buNone/>
            </a:pPr>
            <a:r>
              <a:rPr lang="ru-RU" sz="2800"/>
              <a:t>4.      Выделение из общей NP-полной задачи эффективно разрешимых частных случаев.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852487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sz="3200" b="1"/>
              <a:t>Когда временными оценками можно пренебречь.</a:t>
            </a:r>
            <a:endParaRPr lang="ru-RU" altLang="ru-RU" sz="3200"/>
          </a:p>
        </p:txBody>
      </p:sp>
      <p:sp>
        <p:nvSpPr>
          <p:cNvPr id="110595" name="Содержимое 2"/>
          <p:cNvSpPr>
            <a:spLocks noGrp="1"/>
          </p:cNvSpPr>
          <p:nvPr>
            <p:ph idx="1"/>
          </p:nvPr>
        </p:nvSpPr>
        <p:spPr>
          <a:xfrm>
            <a:off x="457200" y="981075"/>
            <a:ext cx="8228013" cy="5616575"/>
          </a:xfrm>
        </p:spPr>
        <p:txBody>
          <a:bodyPr/>
          <a:lstStyle/>
          <a:p>
            <a:r>
              <a:rPr lang="ru-RU" altLang="ru-RU" sz="2000"/>
              <a:t>Если создаваемая программа будет использована только несколько раз, тогда стоимость написания и отладки программы будет доминировать в общей стоимости программы. </a:t>
            </a:r>
          </a:p>
          <a:p>
            <a:r>
              <a:rPr lang="ru-RU" altLang="ru-RU" sz="2000"/>
              <a:t>Если программа будет работать только с «малыми» входными данными, то степень роста времени выполнения будет иметь меньшее значение, чем константа, присутствующая в формуле времени выполнения. </a:t>
            </a:r>
          </a:p>
          <a:p>
            <a:r>
              <a:rPr lang="ru-RU" altLang="ru-RU" sz="2000"/>
              <a:t>Эффективные, но сложные алгоритмы могут быть нежелательны, если готовые программы будут поддерживать лица, не имеющие достаточной квалификации для того, чтобы в них разобраться. </a:t>
            </a:r>
          </a:p>
          <a:p>
            <a:r>
              <a:rPr lang="ru-RU" altLang="ru-RU" sz="2000"/>
              <a:t>Известно несколько примеров, когда эффективные алгоритмы требуют таких больших объемов машинной памяти, что этот фактор сводит на нет их преимущество. </a:t>
            </a:r>
          </a:p>
          <a:p>
            <a:r>
              <a:rPr lang="ru-RU" altLang="ru-RU" sz="2000"/>
              <a:t>В численных алгоритмах точность и устойчивость не менее важны, чем их временная эффективность.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643</Words>
  <Application>Microsoft Office PowerPoint</Application>
  <PresentationFormat>Экран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Тема Office</vt:lpstr>
      <vt:lpstr>Класс NP</vt:lpstr>
      <vt:lpstr>Презентация PowerPoint</vt:lpstr>
      <vt:lpstr>Презентация PowerPoint</vt:lpstr>
      <vt:lpstr>Презентация PowerPoint</vt:lpstr>
      <vt:lpstr>Презентация PowerPoint</vt:lpstr>
      <vt:lpstr>  Примеры NP – полных задач </vt:lpstr>
      <vt:lpstr>Презентация PowerPoint</vt:lpstr>
      <vt:lpstr>Когда временными оценками можно пренебречь.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Алгоритмически неразрешимые задачи</dc:title>
  <dc:creator>Mary</dc:creator>
  <cp:lastModifiedBy>Mary</cp:lastModifiedBy>
  <cp:revision>38</cp:revision>
  <dcterms:created xsi:type="dcterms:W3CDTF">2017-04-16T16:50:45Z</dcterms:created>
  <dcterms:modified xsi:type="dcterms:W3CDTF">2023-03-27T06:58:37Z</dcterms:modified>
</cp:coreProperties>
</file>