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4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1BD20-CCF4-4FB8-A43F-BFF76D539F73}" type="datetimeFigureOut">
              <a:rPr lang="ru-RU" smtClean="0"/>
              <a:t>16.05.2019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8264D-F07B-451D-9EBA-7C4D298F87C6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388" y="260350"/>
            <a:ext cx="8785225" cy="6192838"/>
          </a:xfrm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r>
              <a:rPr lang="ru-RU" altLang="ru-RU" b="1" dirty="0" smtClean="0">
                <a:solidFill>
                  <a:srgbClr val="C00000"/>
                </a:solidFill>
              </a:rPr>
              <a:t>3. П</a:t>
            </a:r>
            <a:r>
              <a:rPr lang="ru-RU" b="1" dirty="0" smtClean="0">
                <a:solidFill>
                  <a:srgbClr val="C00000"/>
                </a:solidFill>
              </a:rPr>
              <a:t>одход заключается в использовании общих решений определенных рекуррентных соотношений.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dirty="0" smtClean="0"/>
              <a:t>	</a:t>
            </a:r>
            <a:r>
              <a:rPr lang="ru-RU" sz="2800" dirty="0" smtClean="0"/>
              <a:t>Для них доказаны теоремы, позволяющие проводить анализ сложности двух наиболее типичных принципов организации рекурсии: рекурсия, организованная по принципу «разделяй и властвуй» и аддитивное уменьшение размерности задачи на некоторую константу.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sz="2800" dirty="0" smtClean="0"/>
              <a:t>Использование этих теорем позволяет избежать утомительных расчетов и выбрать наименее трудоемкую схему организации рекурсии.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Заголовок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942975"/>
          </a:xfrm>
        </p:spPr>
        <p:txBody>
          <a:bodyPr>
            <a:normAutofit fontScale="90000"/>
          </a:bodyPr>
          <a:lstStyle/>
          <a:p>
            <a:r>
              <a:rPr lang="ru-RU" altLang="ru-RU" sz="2800" b="1" smtClean="0"/>
              <a:t>Рекуррентные соотношения, характерные для двух основных принципов организации рекурсии</a:t>
            </a:r>
          </a:p>
        </p:txBody>
      </p:sp>
      <p:sp>
        <p:nvSpPr>
          <p:cNvPr id="130051" name="Содержимое 2"/>
          <p:cNvSpPr>
            <a:spLocks noGrp="1"/>
          </p:cNvSpPr>
          <p:nvPr>
            <p:ph idx="1"/>
          </p:nvPr>
        </p:nvSpPr>
        <p:spPr>
          <a:xfrm>
            <a:off x="285750" y="1071563"/>
            <a:ext cx="8643938" cy="4086225"/>
          </a:xfrm>
        </p:spPr>
        <p:txBody>
          <a:bodyPr/>
          <a:lstStyle/>
          <a:p>
            <a:pPr>
              <a:buFont typeface="Times New Roman" pitchFamily="18" charset="0"/>
              <a:buNone/>
              <a:defRPr/>
            </a:pPr>
            <a:r>
              <a:rPr lang="ru-RU" altLang="ru-RU" sz="2000" dirty="0" smtClean="0"/>
              <a:t>В общем виде значение функции сложности рекурсивного алгоритма вычисляется по формуле:</a:t>
            </a:r>
          </a:p>
          <a:p>
            <a:pPr>
              <a:defRPr/>
            </a:pPr>
            <a:endParaRPr lang="ru-RU" altLang="ru-RU" sz="2000" dirty="0" smtClean="0"/>
          </a:p>
          <a:p>
            <a:pPr>
              <a:defRPr/>
            </a:pPr>
            <a:endParaRPr lang="ru-RU" altLang="ru-RU" sz="2000" dirty="0" smtClean="0"/>
          </a:p>
          <a:p>
            <a:pPr>
              <a:defRPr/>
            </a:pPr>
            <a:endParaRPr lang="ru-RU" altLang="ru-RU" sz="2000" dirty="0" smtClean="0"/>
          </a:p>
          <a:p>
            <a:pPr>
              <a:defRPr/>
            </a:pPr>
            <a:endParaRPr lang="ru-RU" altLang="ru-RU" sz="2000" dirty="0" smtClean="0"/>
          </a:p>
          <a:p>
            <a:pPr>
              <a:defRPr/>
            </a:pPr>
            <a:r>
              <a:rPr lang="ru-RU" altLang="ru-RU" sz="2000" b="1" dirty="0" smtClean="0"/>
              <a:t>«Разделяй и властвуй»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altLang="ru-RU" sz="2000" dirty="0" smtClean="0"/>
              <a:t>Идея метода состоит в разделении задачи на части меньшей размерности </a:t>
            </a:r>
            <a:r>
              <a:rPr lang="en-US" altLang="ru-RU" sz="2000" dirty="0" smtClean="0"/>
              <a:t>n/k</a:t>
            </a:r>
            <a:r>
              <a:rPr lang="ru-RU" altLang="ru-RU" sz="2000" dirty="0" smtClean="0"/>
              <a:t>,</a:t>
            </a:r>
            <a:r>
              <a:rPr lang="en-US" altLang="ru-RU" sz="2000" dirty="0" smtClean="0"/>
              <a:t> </a:t>
            </a:r>
            <a:r>
              <a:rPr lang="ru-RU" altLang="ru-RU" sz="2000" dirty="0" smtClean="0"/>
              <a:t>где </a:t>
            </a:r>
            <a:r>
              <a:rPr lang="en-US" altLang="ru-RU" sz="2000" dirty="0" smtClean="0"/>
              <a:t>k &gt;</a:t>
            </a:r>
            <a:r>
              <a:rPr lang="ru-RU" altLang="ru-RU" sz="2000" dirty="0" smtClean="0"/>
              <a:t>1, получении решений для частей и объединение решений.</a:t>
            </a:r>
          </a:p>
          <a:p>
            <a:pPr>
              <a:defRPr/>
            </a:pPr>
            <a:endParaRPr lang="ru-RU" altLang="ru-RU" sz="2000" b="1" dirty="0" smtClean="0"/>
          </a:p>
          <a:p>
            <a:pPr>
              <a:defRPr/>
            </a:pPr>
            <a:endParaRPr lang="ru-RU" altLang="ru-RU" sz="2000" b="1" dirty="0" smtClean="0"/>
          </a:p>
          <a:p>
            <a:pPr>
              <a:defRPr/>
            </a:pPr>
            <a:endParaRPr lang="ru-RU" altLang="ru-RU" sz="2000" b="1" dirty="0" smtClean="0"/>
          </a:p>
        </p:txBody>
      </p:sp>
      <p:pic>
        <p:nvPicPr>
          <p:cNvPr id="15155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5" y="1714500"/>
            <a:ext cx="8421688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155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4038" y="4500563"/>
            <a:ext cx="8232775" cy="712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1558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8313" y="5229225"/>
            <a:ext cx="8316912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360362"/>
          </a:xfrm>
        </p:spPr>
        <p:txBody>
          <a:bodyPr>
            <a:normAutofit fontScale="92500" lnSpcReduction="10000"/>
          </a:bodyPr>
          <a:lstStyle/>
          <a:p>
            <a:r>
              <a:rPr lang="ru-RU" altLang="ru-RU" sz="2000" b="1" smtClean="0"/>
              <a:t>Аддитивное уменьшение параметра рекурсии на константу</a:t>
            </a:r>
          </a:p>
          <a:p>
            <a:endParaRPr lang="ru-RU" smtClean="0"/>
          </a:p>
        </p:txBody>
      </p:sp>
      <p:pic>
        <p:nvPicPr>
          <p:cNvPr id="15257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825" y="620713"/>
            <a:ext cx="8499475" cy="6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258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1484313"/>
            <a:ext cx="8512175" cy="108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258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3850" y="2636838"/>
            <a:ext cx="867410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2" name="Содержимое 11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85750" y="142875"/>
            <a:ext cx="8647113" cy="4784725"/>
          </a:xfrm>
        </p:spPr>
      </p:pic>
      <p:pic>
        <p:nvPicPr>
          <p:cNvPr id="153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88" y="4941888"/>
            <a:ext cx="84137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42" y="332655"/>
            <a:ext cx="5123219" cy="3492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42" y="3824655"/>
            <a:ext cx="8226872" cy="24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7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79388" y="188913"/>
            <a:ext cx="8782050" cy="2843212"/>
          </a:xfrm>
          <a:noFill/>
        </p:spPr>
      </p:pic>
      <p:pic>
        <p:nvPicPr>
          <p:cNvPr id="15462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3068638"/>
            <a:ext cx="8407400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388" y="188913"/>
            <a:ext cx="866140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5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388" y="1341438"/>
            <a:ext cx="8589962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56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9388" y="4005263"/>
            <a:ext cx="8726487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Заголовок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8013" cy="1931987"/>
          </a:xfrm>
          <a:solidFill>
            <a:srgbClr val="C6D9F1"/>
          </a:solidFill>
        </p:spPr>
        <p:txBody>
          <a:bodyPr/>
          <a:lstStyle/>
          <a:p>
            <a:pPr marL="342900" indent="-342900"/>
            <a:r>
              <a:rPr lang="ru-RU" sz="3200" b="1" smtClean="0"/>
              <a:t>Анализ ресурсной эффективности рекурсивных алгоритмов методом подсчета вершин дерева рекурсии</a:t>
            </a:r>
            <a:endParaRPr lang="ru-RU" smtClean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060575"/>
            <a:ext cx="8228013" cy="4608513"/>
          </a:xfrm>
        </p:spPr>
        <p:txBody>
          <a:bodyPr/>
          <a:lstStyle/>
          <a:p>
            <a:pPr indent="0" algn="just">
              <a:buFont typeface="Times New Roman" pitchFamily="18" charset="0"/>
              <a:buNone/>
              <a:defRPr/>
            </a:pPr>
            <a:r>
              <a:rPr lang="ru-RU" sz="2400" dirty="0" smtClean="0"/>
              <a:t>Строится </a:t>
            </a:r>
            <a:r>
              <a:rPr lang="ru-RU" sz="2400" b="1" dirty="0" smtClean="0"/>
              <a:t>полное дерево рекурсии </a:t>
            </a:r>
            <a:r>
              <a:rPr lang="ru-RU" sz="2400" dirty="0" smtClean="0"/>
              <a:t>узлами которого являются наборы фактических параметров при всех вызовах функции, начиная с первого обращения к ней, а ветви соединяют узлы, соответствующие взаимным вызовам. Корень полного дерева рекурсивных вызовов соответствует начальному обращению к функции.</a:t>
            </a:r>
          </a:p>
          <a:p>
            <a:pPr indent="0" algn="just">
              <a:buFont typeface="Times New Roman" pitchFamily="18" charset="0"/>
              <a:buNone/>
              <a:defRPr/>
            </a:pPr>
            <a:r>
              <a:rPr lang="ru-RU" sz="2400" i="1" dirty="0" smtClean="0"/>
              <a:t>Основной особенностью анализа ресурсной эффективности рекурсивных алгоритмов является необходимость учета дополнительных затрат памяти и трудоемкости, связанных с механизмом организации рекурсии в принятой модели вычислений.</a:t>
            </a:r>
          </a:p>
          <a:p>
            <a:pPr indent="0" algn="just">
              <a:buFont typeface="Times New Roman" pitchFamily="18" charset="0"/>
              <a:buNone/>
              <a:defRPr/>
            </a:pPr>
            <a:endParaRPr lang="ru-RU" sz="2400" dirty="0" smtClean="0"/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Содержимое 2"/>
          <p:cNvSpPr>
            <a:spLocks noGrp="1"/>
          </p:cNvSpPr>
          <p:nvPr>
            <p:ph idx="1"/>
          </p:nvPr>
        </p:nvSpPr>
        <p:spPr>
          <a:xfrm>
            <a:off x="250825" y="188913"/>
            <a:ext cx="8642350" cy="6669087"/>
          </a:xfrm>
        </p:spPr>
        <p:txBody>
          <a:bodyPr/>
          <a:lstStyle/>
          <a:p>
            <a:pPr indent="0" algn="just">
              <a:buFont typeface="Times New Roman" pitchFamily="18" charset="0"/>
              <a:buNone/>
              <a:defRPr/>
            </a:pPr>
            <a:r>
              <a:rPr lang="ru-RU" sz="2400" dirty="0" smtClean="0"/>
              <a:t>Трудоемкость рекурсивных реализаций алгоритмов связана с количеством операций рекурсивных вызовов и возвратов, выполняемых при одном рекурсивном обращении, а также с количеством таких обращений. При вызове функции в стек помещается адрес возврата, состояние необходимых регистров процессора, состояние локальных ячеек вызывающей функции, адреса возвращаемых значений и передаваемые параметры.</a:t>
            </a:r>
          </a:p>
          <a:p>
            <a:pPr indent="0" algn="just">
              <a:buFont typeface="Times New Roman" pitchFamily="18" charset="0"/>
              <a:buNone/>
              <a:defRPr/>
            </a:pPr>
            <a:r>
              <a:rPr lang="ru-RU" sz="2400" dirty="0" smtClean="0"/>
              <a:t>Введем следующие обозначения: </a:t>
            </a:r>
            <a:r>
              <a:rPr lang="ru-RU" sz="2400" dirty="0" err="1" smtClean="0"/>
              <a:t>p</a:t>
            </a:r>
            <a:r>
              <a:rPr lang="ru-RU" sz="2400" dirty="0" smtClean="0"/>
              <a:t> — количество передаваемых фактических параметров, </a:t>
            </a:r>
            <a:r>
              <a:rPr lang="ru-RU" sz="2400" dirty="0" err="1" smtClean="0"/>
              <a:t>r</a:t>
            </a:r>
            <a:r>
              <a:rPr lang="ru-RU" sz="2400" dirty="0" smtClean="0"/>
              <a:t> — количество сохраняемых в стеке регистров, </a:t>
            </a:r>
            <a:r>
              <a:rPr lang="ru-RU" sz="2400" dirty="0" err="1" smtClean="0"/>
              <a:t>k</a:t>
            </a:r>
            <a:r>
              <a:rPr lang="ru-RU" sz="2400" dirty="0" smtClean="0"/>
              <a:t> — количество возвращаемых по адресной ссылке значений, </a:t>
            </a:r>
            <a:r>
              <a:rPr lang="ru-RU" sz="2400" dirty="0" err="1" smtClean="0"/>
              <a:t>l</a:t>
            </a:r>
            <a:r>
              <a:rPr lang="ru-RU" sz="2400" dirty="0" smtClean="0"/>
              <a:t> — количество локальных ячеек процедуры.</a:t>
            </a:r>
          </a:p>
          <a:p>
            <a:pPr indent="0" algn="just">
              <a:buFont typeface="Times New Roman" pitchFamily="18" charset="0"/>
              <a:buNone/>
              <a:defRPr/>
            </a:pPr>
            <a:r>
              <a:rPr lang="ru-RU" sz="2400" dirty="0" smtClean="0"/>
              <a:t>Трудоемкость, связанная с обслуживанием одного вызова и одного возврата, обозначается через </a:t>
            </a:r>
            <a:r>
              <a:rPr lang="ru-RU" sz="2400" dirty="0" err="1" smtClean="0"/>
              <a:t>F</a:t>
            </a:r>
            <a:r>
              <a:rPr lang="ru-RU" sz="2400" baseline="-25000" dirty="0" err="1" smtClean="0"/>
              <a:t>с</a:t>
            </a:r>
            <a:r>
              <a:rPr lang="ru-RU" sz="2400" baseline="-25000" dirty="0" smtClean="0"/>
              <a:t>/</a:t>
            </a:r>
            <a:r>
              <a:rPr lang="en-US" sz="2400" baseline="-25000" dirty="0" smtClean="0"/>
              <a:t>b </a:t>
            </a:r>
            <a:r>
              <a:rPr lang="ru-RU" sz="2400" dirty="0" smtClean="0"/>
              <a:t>= 2*(p+r+k+l+1). Где дополнительная единица учитывает операции с адресом возврата.</a:t>
            </a:r>
          </a:p>
          <a:p>
            <a:pPr algn="just">
              <a:defRPr/>
            </a:pPr>
            <a:endParaRPr lang="ru-RU" sz="24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Содержимое 2"/>
          <p:cNvSpPr>
            <a:spLocks noGrp="1"/>
          </p:cNvSpPr>
          <p:nvPr>
            <p:ph idx="1"/>
          </p:nvPr>
        </p:nvSpPr>
        <p:spPr>
          <a:xfrm>
            <a:off x="179388" y="260350"/>
            <a:ext cx="8785225" cy="6337300"/>
          </a:xfrm>
        </p:spPr>
        <p:txBody>
          <a:bodyPr/>
          <a:lstStyle/>
          <a:p>
            <a:pPr>
              <a:buFont typeface="Times New Roman" pitchFamily="18" charset="0"/>
              <a:buNone/>
            </a:pPr>
            <a:r>
              <a:rPr lang="ru-RU" sz="2800" b="1" dirty="0" smtClean="0"/>
              <a:t>	</a:t>
            </a:r>
            <a:r>
              <a:rPr lang="ru-RU" sz="2800" b="1" dirty="0" smtClean="0">
                <a:solidFill>
                  <a:srgbClr val="C00000"/>
                </a:solidFill>
              </a:rPr>
              <a:t>Анализ дерева рекурсии.</a:t>
            </a:r>
            <a:endParaRPr lang="ru-RU" sz="2800" dirty="0" smtClean="0">
              <a:solidFill>
                <a:srgbClr val="C00000"/>
              </a:solidFill>
            </a:endParaRPr>
          </a:p>
          <a:p>
            <a:r>
              <a:rPr lang="ru-RU" sz="2800" dirty="0" smtClean="0"/>
              <a:t>Важной характеристикой рекурсивного алгоритма является </a:t>
            </a:r>
            <a:r>
              <a:rPr lang="ru-RU" sz="2800" b="1" dirty="0" smtClean="0"/>
              <a:t>глубина рекурсивных вызовов</a:t>
            </a:r>
            <a:r>
              <a:rPr lang="ru-RU" sz="2800" dirty="0" smtClean="0"/>
              <a:t> – наибольшее одновременное количество рекурсивных обращений функции, определяющее максимальное количество слоев рекурсивного стека, в котором осуществляется хранение отложенных вычислений.</a:t>
            </a:r>
          </a:p>
          <a:p>
            <a:r>
              <a:rPr lang="ru-RU" sz="2800" b="1" dirty="0" smtClean="0"/>
              <a:t>Объем рекурсии</a:t>
            </a:r>
            <a:r>
              <a:rPr lang="ru-RU" sz="2800" dirty="0" smtClean="0"/>
              <a:t> - это одна из характеристик сложности рекурсивных вычислений для конкретного набора параметров, представляющая собой количество вершин полного рекурсивного </a:t>
            </a:r>
            <a:r>
              <a:rPr lang="ru-RU" sz="2800" dirty="0" smtClean="0"/>
              <a:t>дерева</a:t>
            </a:r>
            <a:r>
              <a:rPr lang="en-US" sz="2800" dirty="0"/>
              <a:t>.</a:t>
            </a:r>
            <a:endParaRPr lang="ru-RU" sz="2800" dirty="0" smtClean="0"/>
          </a:p>
          <a:p>
            <a:endParaRPr lang="ru-RU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Содержимое 2"/>
          <p:cNvSpPr>
            <a:spLocks noGrp="1"/>
          </p:cNvSpPr>
          <p:nvPr>
            <p:ph idx="1"/>
          </p:nvPr>
        </p:nvSpPr>
        <p:spPr>
          <a:xfrm>
            <a:off x="250825" y="260350"/>
            <a:ext cx="8642350" cy="6337300"/>
          </a:xfrm>
        </p:spPr>
        <p:txBody>
          <a:bodyPr/>
          <a:lstStyle/>
          <a:p>
            <a:pPr indent="0">
              <a:buFont typeface="Times New Roman" pitchFamily="18" charset="0"/>
              <a:buNone/>
              <a:defRPr/>
            </a:pPr>
            <a:r>
              <a:rPr lang="ru-RU" sz="2600" dirty="0" smtClean="0"/>
              <a:t>Будем использовать следующие обозначения для конкретного входного параметра </a:t>
            </a:r>
            <a:r>
              <a:rPr lang="en-US" sz="2600" dirty="0" smtClean="0"/>
              <a:t>N</a:t>
            </a:r>
            <a:r>
              <a:rPr lang="ru-RU" sz="2600" dirty="0" smtClean="0"/>
              <a:t>:</a:t>
            </a:r>
          </a:p>
          <a:p>
            <a:pPr>
              <a:defRPr/>
            </a:pPr>
            <a:r>
              <a:rPr lang="ru-RU" sz="2600" dirty="0" smtClean="0"/>
              <a:t>R(</a:t>
            </a:r>
            <a:r>
              <a:rPr lang="en-US" sz="2600" dirty="0" smtClean="0"/>
              <a:t>N</a:t>
            </a:r>
            <a:r>
              <a:rPr lang="ru-RU" sz="2600" dirty="0" smtClean="0"/>
              <a:t>) – общее число вершин дерева рекурсии,</a:t>
            </a:r>
          </a:p>
          <a:p>
            <a:pPr>
              <a:defRPr/>
            </a:pPr>
            <a:r>
              <a:rPr lang="ru-RU" sz="2600" dirty="0" smtClean="0"/>
              <a:t>R</a:t>
            </a:r>
            <a:r>
              <a:rPr lang="ru-RU" sz="2600" baseline="-25000" dirty="0" smtClean="0"/>
              <a:t>V</a:t>
            </a:r>
            <a:r>
              <a:rPr lang="ru-RU" sz="2600" dirty="0" smtClean="0"/>
              <a:t>(</a:t>
            </a:r>
            <a:r>
              <a:rPr lang="en-US" sz="2600" dirty="0" smtClean="0"/>
              <a:t>N</a:t>
            </a:r>
            <a:r>
              <a:rPr lang="ru-RU" sz="2600" dirty="0" smtClean="0"/>
              <a:t>) – объем рекурсии без листьев (внутренние вершины),</a:t>
            </a:r>
          </a:p>
          <a:p>
            <a:pPr>
              <a:defRPr/>
            </a:pPr>
            <a:r>
              <a:rPr lang="ru-RU" sz="2600" dirty="0" smtClean="0"/>
              <a:t>R</a:t>
            </a:r>
            <a:r>
              <a:rPr lang="ru-RU" sz="2600" baseline="-25000" dirty="0" smtClean="0"/>
              <a:t>L</a:t>
            </a:r>
            <a:r>
              <a:rPr lang="ru-RU" sz="2600" dirty="0" smtClean="0"/>
              <a:t>(</a:t>
            </a:r>
            <a:r>
              <a:rPr lang="en-US" sz="2600" dirty="0" smtClean="0"/>
              <a:t>N</a:t>
            </a:r>
            <a:r>
              <a:rPr lang="ru-RU" sz="2600" dirty="0" smtClean="0"/>
              <a:t>) – количество листьев дерева рекурсии,</a:t>
            </a:r>
          </a:p>
          <a:p>
            <a:pPr>
              <a:defRPr/>
            </a:pPr>
            <a:r>
              <a:rPr lang="ru-RU" sz="2600" dirty="0" smtClean="0"/>
              <a:t>H</a:t>
            </a:r>
            <a:r>
              <a:rPr lang="ru-RU" sz="2600" baseline="-25000" dirty="0" smtClean="0"/>
              <a:t>R</a:t>
            </a:r>
            <a:r>
              <a:rPr lang="ru-RU" sz="2600" dirty="0" smtClean="0"/>
              <a:t>(</a:t>
            </a:r>
            <a:r>
              <a:rPr lang="en-US" sz="2600" dirty="0" smtClean="0"/>
              <a:t>N</a:t>
            </a:r>
            <a:r>
              <a:rPr lang="ru-RU" sz="2600" dirty="0" smtClean="0"/>
              <a:t>) – глубина рекурсии.</a:t>
            </a:r>
          </a:p>
          <a:p>
            <a:pPr indent="0">
              <a:buFont typeface="Times New Roman" pitchFamily="18" charset="0"/>
              <a:buNone/>
              <a:defRPr/>
            </a:pPr>
            <a:r>
              <a:rPr lang="ru-RU" sz="2600" dirty="0" smtClean="0"/>
              <a:t>Очевидно</a:t>
            </a:r>
            <a:r>
              <a:rPr lang="en-US" sz="2600" dirty="0" smtClean="0"/>
              <a:t>, </a:t>
            </a:r>
            <a:r>
              <a:rPr lang="ru-RU" sz="2600" dirty="0" smtClean="0"/>
              <a:t>что </a:t>
            </a:r>
            <a:r>
              <a:rPr lang="en-US" sz="2600" dirty="0" smtClean="0"/>
              <a:t>R(N)= R</a:t>
            </a:r>
            <a:r>
              <a:rPr lang="en-US" sz="2600" baseline="-25000" dirty="0" smtClean="0"/>
              <a:t>V</a:t>
            </a:r>
            <a:r>
              <a:rPr lang="en-US" sz="2600" dirty="0" smtClean="0"/>
              <a:t>(N)+ R</a:t>
            </a:r>
            <a:r>
              <a:rPr lang="en-US" sz="2600" baseline="-25000" dirty="0" smtClean="0"/>
              <a:t>L</a:t>
            </a:r>
            <a:r>
              <a:rPr lang="en-US" sz="2600" dirty="0" smtClean="0"/>
              <a:t>(N), H</a:t>
            </a:r>
            <a:r>
              <a:rPr lang="en-US" sz="2600" baseline="-25000" dirty="0" smtClean="0"/>
              <a:t>R</a:t>
            </a:r>
            <a:r>
              <a:rPr lang="en-US" sz="2600" dirty="0" smtClean="0"/>
              <a:t>(N)</a:t>
            </a:r>
            <a:r>
              <a:rPr lang="ru-RU" sz="2600" dirty="0" smtClean="0">
                <a:sym typeface="Symbol"/>
              </a:rPr>
              <a:t></a:t>
            </a:r>
            <a:r>
              <a:rPr lang="ru-RU" sz="2600" dirty="0" smtClean="0"/>
              <a:t> </a:t>
            </a:r>
            <a:r>
              <a:rPr lang="en-US" sz="2600" dirty="0" smtClean="0"/>
              <a:t>R</a:t>
            </a:r>
            <a:r>
              <a:rPr lang="en-US" sz="2600" baseline="-25000" dirty="0" smtClean="0"/>
              <a:t>V</a:t>
            </a:r>
            <a:r>
              <a:rPr lang="en-US" sz="2600" dirty="0" smtClean="0"/>
              <a:t>(N)+ R</a:t>
            </a:r>
            <a:r>
              <a:rPr lang="en-US" sz="2600" baseline="-25000" dirty="0" smtClean="0"/>
              <a:t>L</a:t>
            </a:r>
            <a:r>
              <a:rPr lang="en-US" sz="2600" dirty="0" smtClean="0"/>
              <a:t>(N).</a:t>
            </a:r>
            <a:endParaRPr lang="ru-RU" sz="2600" dirty="0" smtClean="0"/>
          </a:p>
          <a:p>
            <a:pPr indent="0">
              <a:buFont typeface="Times New Roman" pitchFamily="18" charset="0"/>
              <a:buNone/>
              <a:defRPr/>
            </a:pPr>
            <a:r>
              <a:rPr lang="ru-RU" sz="2600" b="1" i="1" dirty="0" smtClean="0"/>
              <a:t>Требуемый объем памяти</a:t>
            </a:r>
            <a:r>
              <a:rPr lang="ru-RU" sz="2600" dirty="0" smtClean="0"/>
              <a:t> в области программного стека определяется не общим количеством вершин порождённого дерева рекурсии, </a:t>
            </a:r>
            <a:r>
              <a:rPr lang="ru-RU" sz="2600" b="1" i="1" dirty="0" smtClean="0"/>
              <a:t>а максимальной глубиной его листьев.</a:t>
            </a:r>
            <a:endParaRPr lang="ru-RU" sz="2600" dirty="0" smtClean="0"/>
          </a:p>
          <a:p>
            <a:pPr indent="0">
              <a:buFont typeface="Times New Roman" pitchFamily="18" charset="0"/>
              <a:buNone/>
              <a:defRPr/>
            </a:pPr>
            <a:r>
              <a:rPr lang="en-US" sz="2600" dirty="0" smtClean="0"/>
              <a:t>V</a:t>
            </a:r>
            <a:r>
              <a:rPr lang="ru-RU" sz="2600" dirty="0" smtClean="0"/>
              <a:t> (</a:t>
            </a:r>
            <a:r>
              <a:rPr lang="en-US" sz="2600" dirty="0" smtClean="0"/>
              <a:t>N</a:t>
            </a:r>
            <a:r>
              <a:rPr lang="ru-RU" sz="2600" dirty="0" smtClean="0"/>
              <a:t>) = H</a:t>
            </a:r>
            <a:r>
              <a:rPr lang="ru-RU" sz="2600" baseline="-25000" dirty="0" smtClean="0"/>
              <a:t>R</a:t>
            </a:r>
            <a:r>
              <a:rPr lang="ru-RU" sz="2600" dirty="0" smtClean="0"/>
              <a:t>(</a:t>
            </a:r>
            <a:r>
              <a:rPr lang="en-US" sz="2600" dirty="0" smtClean="0"/>
              <a:t>N</a:t>
            </a:r>
            <a:r>
              <a:rPr lang="ru-RU" sz="2600" dirty="0" smtClean="0"/>
              <a:t>) *(</a:t>
            </a:r>
            <a:r>
              <a:rPr lang="en-US" sz="2600" dirty="0" smtClean="0"/>
              <a:t>p</a:t>
            </a:r>
            <a:r>
              <a:rPr lang="ru-RU" sz="2600" dirty="0" smtClean="0"/>
              <a:t>+</a:t>
            </a:r>
            <a:r>
              <a:rPr lang="en-US" sz="2600" dirty="0" smtClean="0"/>
              <a:t>r</a:t>
            </a:r>
            <a:r>
              <a:rPr lang="ru-RU" sz="2600" dirty="0" smtClean="0"/>
              <a:t>+</a:t>
            </a:r>
            <a:r>
              <a:rPr lang="en-US" sz="2600" dirty="0" smtClean="0"/>
              <a:t>k</a:t>
            </a:r>
            <a:r>
              <a:rPr lang="ru-RU" sz="2600" dirty="0" smtClean="0"/>
              <a:t>+</a:t>
            </a:r>
            <a:r>
              <a:rPr lang="en-US" sz="2600" dirty="0" smtClean="0"/>
              <a:t>l</a:t>
            </a:r>
            <a:r>
              <a:rPr lang="ru-RU" sz="2600" dirty="0" smtClean="0"/>
              <a:t>+1) *</a:t>
            </a:r>
            <a:r>
              <a:rPr lang="en-US" sz="2600" dirty="0" smtClean="0"/>
              <a:t>u</a:t>
            </a:r>
            <a:r>
              <a:rPr lang="en-US" sz="2600" baseline="-25000" dirty="0" smtClean="0">
                <a:sym typeface="Symbol"/>
              </a:rPr>
              <a:t></a:t>
            </a:r>
            <a:r>
              <a:rPr lang="ru-RU" sz="2600" b="1" dirty="0" smtClean="0"/>
              <a:t>– оценка требуемой памяти</a:t>
            </a:r>
            <a:r>
              <a:rPr lang="ru-RU" sz="2600" dirty="0" smtClean="0"/>
              <a:t>, где </a:t>
            </a:r>
            <a:r>
              <a:rPr lang="en-US" sz="2600" dirty="0" smtClean="0"/>
              <a:t>N</a:t>
            </a:r>
            <a:r>
              <a:rPr lang="ru-RU" sz="2600" dirty="0" smtClean="0"/>
              <a:t> – вход, </a:t>
            </a:r>
            <a:r>
              <a:rPr lang="en-US" sz="2600" dirty="0" smtClean="0"/>
              <a:t>u</a:t>
            </a:r>
            <a:r>
              <a:rPr lang="en-US" sz="2600" baseline="-25000" dirty="0" smtClean="0">
                <a:sym typeface="Symbol"/>
              </a:rPr>
              <a:t></a:t>
            </a:r>
            <a:r>
              <a:rPr lang="en-US" sz="2600" baseline="-25000" dirty="0" smtClean="0"/>
              <a:t> </a:t>
            </a:r>
            <a:r>
              <a:rPr lang="ru-RU" sz="2600" dirty="0" smtClean="0"/>
              <a:t>- длина слова в байтах.</a:t>
            </a:r>
          </a:p>
          <a:p>
            <a:pPr>
              <a:defRPr/>
            </a:pPr>
            <a:endParaRPr lang="ru-RU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Содержимое 2"/>
          <p:cNvSpPr>
            <a:spLocks noGrp="1"/>
          </p:cNvSpPr>
          <p:nvPr>
            <p:ph idx="1"/>
          </p:nvPr>
        </p:nvSpPr>
        <p:spPr>
          <a:xfrm>
            <a:off x="179388" y="260350"/>
            <a:ext cx="8785225" cy="6337300"/>
          </a:xfrm>
        </p:spPr>
        <p:txBody>
          <a:bodyPr/>
          <a:lstStyle/>
          <a:p>
            <a:pPr indent="0">
              <a:buFont typeface="Times New Roman" pitchFamily="18" charset="0"/>
              <a:buNone/>
              <a:defRPr/>
            </a:pPr>
            <a:r>
              <a:rPr lang="ru-RU" sz="2800" b="1" dirty="0" smtClean="0">
                <a:solidFill>
                  <a:srgbClr val="C00000"/>
                </a:solidFill>
              </a:rPr>
              <a:t>Анализ трудоемкости методом подсчета вершин дерева рекурсии. </a:t>
            </a:r>
            <a:endParaRPr lang="ru-RU" sz="2800" dirty="0" smtClean="0">
              <a:solidFill>
                <a:srgbClr val="C00000"/>
              </a:solidFill>
            </a:endParaRPr>
          </a:p>
          <a:p>
            <a:pPr indent="457200" algn="just">
              <a:buFont typeface="Times New Roman" pitchFamily="18" charset="0"/>
              <a:buNone/>
              <a:defRPr/>
            </a:pPr>
            <a:r>
              <a:rPr lang="ru-RU" sz="2400" dirty="0" smtClean="0"/>
              <a:t>В отличии от оценки объема памяти, которая зависит от максимальной глубины рекурсивного дерева, для функции трудоемкости количество операций со стеком на один вызов/возврат </a:t>
            </a:r>
            <a:r>
              <a:rPr lang="ru-RU" sz="2400" dirty="0" err="1" smtClean="0"/>
              <a:t>F</a:t>
            </a:r>
            <a:r>
              <a:rPr lang="ru-RU" sz="2400" baseline="-25000" dirty="0" err="1" smtClean="0"/>
              <a:t>с</a:t>
            </a:r>
            <a:r>
              <a:rPr lang="ru-RU" sz="2400" baseline="-25000" dirty="0" smtClean="0"/>
              <a:t>/</a:t>
            </a:r>
            <a:r>
              <a:rPr lang="en-US" sz="2400" baseline="-25000" dirty="0" smtClean="0"/>
              <a:t>b</a:t>
            </a:r>
            <a:r>
              <a:rPr lang="ru-RU" sz="2400" dirty="0" smtClean="0"/>
              <a:t> должно быть учтено для всех вершин рекурсивного дерева.</a:t>
            </a:r>
          </a:p>
          <a:p>
            <a:pPr indent="0" algn="just">
              <a:buFont typeface="Times New Roman" pitchFamily="18" charset="0"/>
              <a:buNone/>
              <a:defRPr/>
            </a:pPr>
            <a:r>
              <a:rPr lang="ru-RU" sz="2400" b="1" i="1" dirty="0" smtClean="0"/>
              <a:t>Метод получения ресурсных функций для рекурсивных алгоритмов на основе анализа порожденного дерева рекурсии </a:t>
            </a:r>
            <a:r>
              <a:rPr lang="ru-RU" sz="2400" dirty="0" smtClean="0"/>
              <a:t>заключается в определении ресурсных затрат в каждой вершине дерева и их суммировании.</a:t>
            </a:r>
          </a:p>
          <a:p>
            <a:pPr indent="0" algn="just">
              <a:buFont typeface="Times New Roman" pitchFamily="18" charset="0"/>
              <a:buNone/>
              <a:defRPr/>
            </a:pPr>
            <a:r>
              <a:rPr lang="ru-RU" sz="2400" dirty="0" smtClean="0"/>
              <a:t>Таким образом, основная задача при использовании этого метода состоит в теоретическом построении функций </a:t>
            </a:r>
            <a:r>
              <a:rPr lang="ru-RU" sz="2400" b="1" dirty="0" smtClean="0"/>
              <a:t>R</a:t>
            </a:r>
            <a:r>
              <a:rPr lang="ru-RU" sz="2400" b="1" baseline="-25000" dirty="0" smtClean="0"/>
              <a:t>V</a:t>
            </a:r>
            <a:r>
              <a:rPr lang="ru-RU" sz="2400" b="1" dirty="0" smtClean="0"/>
              <a:t>(</a:t>
            </a:r>
            <a:r>
              <a:rPr lang="en-US" sz="2400" b="1" dirty="0" smtClean="0"/>
              <a:t>N</a:t>
            </a:r>
            <a:r>
              <a:rPr lang="ru-RU" sz="2400" b="1" dirty="0" smtClean="0"/>
              <a:t>), R</a:t>
            </a:r>
            <a:r>
              <a:rPr lang="ru-RU" sz="2400" b="1" baseline="-25000" dirty="0" smtClean="0"/>
              <a:t>L</a:t>
            </a:r>
            <a:r>
              <a:rPr lang="ru-RU" sz="2400" b="1" dirty="0" smtClean="0"/>
              <a:t>(</a:t>
            </a:r>
            <a:r>
              <a:rPr lang="en-US" sz="2400" b="1" dirty="0" smtClean="0"/>
              <a:t>N</a:t>
            </a:r>
            <a:r>
              <a:rPr lang="ru-RU" sz="2400" b="1" dirty="0" smtClean="0"/>
              <a:t>) и H</a:t>
            </a:r>
            <a:r>
              <a:rPr lang="ru-RU" sz="2400" b="1" baseline="-25000" dirty="0" smtClean="0"/>
              <a:t>R</a:t>
            </a:r>
            <a:r>
              <a:rPr lang="ru-RU" sz="2400" b="1" dirty="0" smtClean="0"/>
              <a:t>(</a:t>
            </a:r>
            <a:r>
              <a:rPr lang="en-US" sz="2400" b="1" dirty="0" smtClean="0"/>
              <a:t>N</a:t>
            </a:r>
            <a:r>
              <a:rPr lang="ru-RU" sz="2400" b="1" dirty="0" smtClean="0"/>
              <a:t>)</a:t>
            </a:r>
            <a:r>
              <a:rPr lang="ru-RU" sz="2400" dirty="0" smtClean="0"/>
              <a:t> — как функций от характеристик множества входных данных.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6480175"/>
          </a:xfrm>
        </p:spPr>
        <p:txBody>
          <a:bodyPr/>
          <a:lstStyle/>
          <a:p>
            <a:pPr indent="0">
              <a:buFont typeface="Times New Roman" pitchFamily="18" charset="0"/>
              <a:buNone/>
            </a:pPr>
            <a:r>
              <a:rPr lang="ru-RU" sz="2400" smtClean="0"/>
              <a:t>Для построения ресурсных функций рекурсивных алгоритмов необходимо учесть ряд особенностей рекурсивной реализации, а именно: </a:t>
            </a:r>
          </a:p>
          <a:p>
            <a:pPr indent="0">
              <a:buFont typeface="Times New Roman" pitchFamily="18" charset="0"/>
              <a:buNone/>
            </a:pPr>
            <a:r>
              <a:rPr lang="ru-RU" sz="2400" smtClean="0"/>
              <a:t>-  ресурсные затраты на обслуживание рекурсивных вызовов-возвратов, передачу параметров и возврат значений рекурсивных функций </a:t>
            </a:r>
            <a:r>
              <a:rPr lang="ru-RU" sz="2400" b="1" smtClean="0"/>
              <a:t>(ресурсные затраты обслуживания рекурсии)</a:t>
            </a:r>
            <a:r>
              <a:rPr lang="ru-RU" sz="2400" smtClean="0"/>
              <a:t>; </a:t>
            </a:r>
          </a:p>
          <a:p>
            <a:pPr indent="0">
              <a:buFont typeface="Times New Roman" pitchFamily="18" charset="0"/>
              <a:buNone/>
            </a:pPr>
            <a:r>
              <a:rPr lang="ru-RU" sz="2400" smtClean="0"/>
              <a:t>-  специфику фрагмента останова рекурсии, приводящую к необходимости </a:t>
            </a:r>
            <a:r>
              <a:rPr lang="ru-RU" sz="2400" b="1" smtClean="0"/>
              <a:t>отдельного учета ресурсных затрат в листьях дерева рекурсии</a:t>
            </a:r>
            <a:r>
              <a:rPr lang="ru-RU" sz="2400" smtClean="0"/>
              <a:t>. </a:t>
            </a:r>
          </a:p>
          <a:p>
            <a:pPr indent="0">
              <a:buFont typeface="Times New Roman" pitchFamily="18" charset="0"/>
              <a:buNone/>
            </a:pPr>
            <a:r>
              <a:rPr lang="ru-RU" sz="2400" smtClean="0"/>
              <a:t>		Трудоемкость алгоритма A на конкретном входе N — F</a:t>
            </a:r>
            <a:r>
              <a:rPr lang="ru-RU" sz="2400" baseline="-25000" smtClean="0"/>
              <a:t>A</a:t>
            </a:r>
            <a:r>
              <a:rPr lang="ru-RU" sz="2400" smtClean="0"/>
              <a:t>(N) определяется трудоемкостью обслуживания дерева рекурсии, зависящей от общего количества его вершин, и трудоемкостью продуктивных вычислений, выполненных во всех вершинах дерева рекурсии.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388" y="260350"/>
            <a:ext cx="8785225" cy="6408738"/>
          </a:xfrm>
        </p:spPr>
        <p:txBody>
          <a:bodyPr/>
          <a:lstStyle/>
          <a:p>
            <a:pPr indent="0" algn="just">
              <a:buFont typeface="Times New Roman" pitchFamily="18" charset="0"/>
              <a:buNone/>
              <a:defRPr/>
            </a:pPr>
            <a:r>
              <a:rPr lang="ru-RU" sz="2400" dirty="0" smtClean="0"/>
              <a:t>Обозначим через F</a:t>
            </a:r>
            <a:r>
              <a:rPr lang="ru-RU" sz="2400" baseline="-25000" dirty="0" smtClean="0"/>
              <a:t>R</a:t>
            </a:r>
            <a:r>
              <a:rPr lang="ru-RU" sz="2400" dirty="0" smtClean="0"/>
              <a:t>(N) — трудоемкость порождения и обслуживания дерева рекурсии, F</a:t>
            </a:r>
            <a:r>
              <a:rPr lang="ru-RU" sz="2400" baseline="-25000" dirty="0" smtClean="0"/>
              <a:t>C</a:t>
            </a:r>
            <a:r>
              <a:rPr lang="ru-RU" sz="2400" dirty="0" smtClean="0"/>
              <a:t>(N)  — трудоемкость продуктивных вычислений алгоритма, тогда трудоемкость всего алгоритма</a:t>
            </a:r>
            <a:r>
              <a:rPr lang="en-US" sz="2400" dirty="0" smtClean="0"/>
              <a:t>:</a:t>
            </a:r>
            <a:endParaRPr lang="ru-RU" sz="2400" dirty="0" smtClean="0"/>
          </a:p>
          <a:p>
            <a:pPr indent="0" algn="ctr">
              <a:buFont typeface="Times New Roman" pitchFamily="18" charset="0"/>
              <a:buNone/>
              <a:defRPr/>
            </a:pPr>
            <a:r>
              <a:rPr lang="ru-RU" sz="2400" b="1" dirty="0" smtClean="0"/>
              <a:t>F</a:t>
            </a:r>
            <a:r>
              <a:rPr lang="ru-RU" sz="2400" b="1" baseline="-25000" dirty="0" smtClean="0"/>
              <a:t>А</a:t>
            </a:r>
            <a:r>
              <a:rPr lang="ru-RU" sz="2400" b="1" dirty="0" smtClean="0"/>
              <a:t>(N)= F</a:t>
            </a:r>
            <a:r>
              <a:rPr lang="ru-RU" sz="2400" b="1" baseline="-25000" dirty="0" smtClean="0"/>
              <a:t>R</a:t>
            </a:r>
            <a:r>
              <a:rPr lang="ru-RU" sz="2400" b="1" dirty="0" smtClean="0"/>
              <a:t>(N)+ F</a:t>
            </a:r>
            <a:r>
              <a:rPr lang="ru-RU" sz="2400" b="1" baseline="-25000" dirty="0" smtClean="0"/>
              <a:t>C</a:t>
            </a:r>
            <a:r>
              <a:rPr lang="ru-RU" sz="2400" b="1" dirty="0" smtClean="0"/>
              <a:t>(N) (*)</a:t>
            </a:r>
          </a:p>
          <a:p>
            <a:pPr indent="0" algn="just">
              <a:buFont typeface="Times New Roman" pitchFamily="18" charset="0"/>
              <a:buNone/>
              <a:defRPr/>
            </a:pPr>
            <a:r>
              <a:rPr lang="ru-RU" sz="2400" dirty="0" smtClean="0"/>
              <a:t>Трудоемкость обслуживания дерева рекурсии:</a:t>
            </a:r>
          </a:p>
          <a:p>
            <a:pPr indent="0" algn="ctr">
              <a:buFont typeface="Times New Roman" pitchFamily="18" charset="0"/>
              <a:buNone/>
              <a:defRPr/>
            </a:pPr>
            <a:r>
              <a:rPr lang="ru-RU" sz="2400" b="1" dirty="0" smtClean="0"/>
              <a:t>F</a:t>
            </a:r>
            <a:r>
              <a:rPr lang="ru-RU" sz="2400" b="1" baseline="-25000" dirty="0" smtClean="0"/>
              <a:t>R</a:t>
            </a:r>
            <a:r>
              <a:rPr lang="ru-RU" sz="2400" b="1" dirty="0" smtClean="0"/>
              <a:t>(N) = R(N) * </a:t>
            </a:r>
            <a:r>
              <a:rPr lang="ru-RU" sz="2400" b="1" dirty="0" err="1" smtClean="0"/>
              <a:t>F</a:t>
            </a:r>
            <a:r>
              <a:rPr lang="ru-RU" sz="2400" b="1" baseline="-25000" dirty="0" err="1" smtClean="0"/>
              <a:t>с</a:t>
            </a:r>
            <a:r>
              <a:rPr lang="ru-RU" sz="2400" b="1" baseline="-25000" dirty="0" smtClean="0"/>
              <a:t>/</a:t>
            </a:r>
            <a:r>
              <a:rPr lang="ru-RU" sz="2400" b="1" baseline="-25000" dirty="0" err="1" smtClean="0"/>
              <a:t>b</a:t>
            </a:r>
            <a:endParaRPr lang="en-US" sz="2400" b="1" baseline="-25000" dirty="0" smtClean="0"/>
          </a:p>
          <a:p>
            <a:pPr indent="0" algn="just">
              <a:buFont typeface="Times New Roman" pitchFamily="18" charset="0"/>
              <a:buNone/>
              <a:defRPr/>
            </a:pPr>
            <a:r>
              <a:rPr lang="ru-RU" sz="2400" dirty="0" smtClean="0"/>
              <a:t>При подсчете трудоемкости продуктивных вычислений необходимо учесть, что для листьев рекурсивного дерева трудоемкость отлична от трудоемкости во внутренних вершинах</a:t>
            </a:r>
            <a:r>
              <a:rPr lang="en-US" sz="2400" dirty="0" smtClean="0"/>
              <a:t>.</a:t>
            </a:r>
            <a:endParaRPr lang="ru-RU" sz="2400" dirty="0" smtClean="0"/>
          </a:p>
          <a:p>
            <a:pPr indent="0" algn="just">
              <a:buFont typeface="Times New Roman" pitchFamily="18" charset="0"/>
              <a:buNone/>
              <a:defRPr/>
            </a:pPr>
            <a:r>
              <a:rPr lang="ru-RU" sz="2400" dirty="0" smtClean="0"/>
              <a:t>Пусть F</a:t>
            </a:r>
            <a:r>
              <a:rPr lang="ru-RU" sz="2400" baseline="-25000" dirty="0" smtClean="0"/>
              <a:t>CV</a:t>
            </a:r>
            <a:r>
              <a:rPr lang="ru-RU" sz="2400" dirty="0" smtClean="0"/>
              <a:t>(N) — трудоемкость продуктивных вычислений (обработки данных) во внутренних вершинах, F</a:t>
            </a:r>
            <a:r>
              <a:rPr lang="ru-RU" sz="2400" baseline="-25000" dirty="0" smtClean="0"/>
              <a:t>CL</a:t>
            </a:r>
            <a:r>
              <a:rPr lang="ru-RU" sz="2400" dirty="0" smtClean="0"/>
              <a:t>(N) — трудоемкость вычислений в листьях дерева рекурсии, тогда </a:t>
            </a:r>
            <a:r>
              <a:rPr lang="ru-RU" sz="2400" b="1" dirty="0" smtClean="0"/>
              <a:t>F</a:t>
            </a:r>
            <a:r>
              <a:rPr lang="ru-RU" sz="2400" b="1" baseline="-25000" dirty="0" smtClean="0"/>
              <a:t>C</a:t>
            </a:r>
            <a:r>
              <a:rPr lang="ru-RU" sz="2400" b="1" dirty="0" smtClean="0"/>
              <a:t>(N) = F</a:t>
            </a:r>
            <a:r>
              <a:rPr lang="ru-RU" sz="2400" b="1" baseline="-25000" dirty="0" smtClean="0"/>
              <a:t>CV</a:t>
            </a:r>
            <a:r>
              <a:rPr lang="ru-RU" sz="2400" b="1" dirty="0" smtClean="0"/>
              <a:t>(N) + F</a:t>
            </a:r>
            <a:r>
              <a:rPr lang="ru-RU" sz="2400" b="1" baseline="-25000" dirty="0" smtClean="0"/>
              <a:t>CL</a:t>
            </a:r>
            <a:r>
              <a:rPr lang="ru-RU" sz="2400" b="1" dirty="0" smtClean="0"/>
              <a:t>(N).</a:t>
            </a:r>
          </a:p>
          <a:p>
            <a:pPr indent="0">
              <a:buFont typeface="Times New Roman" pitchFamily="18" charset="0"/>
              <a:buNone/>
              <a:defRPr/>
            </a:pPr>
            <a:endParaRPr lang="ru-RU" sz="2800" baseline="-25000" dirty="0" smtClean="0"/>
          </a:p>
          <a:p>
            <a:pPr indent="0">
              <a:buFont typeface="Times New Roman" pitchFamily="18" charset="0"/>
              <a:buNone/>
              <a:defRPr/>
            </a:pPr>
            <a:endParaRPr lang="ru-RU" sz="2800" dirty="0" smtClean="0"/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3671887"/>
          </a:xfrm>
        </p:spPr>
        <p:txBody>
          <a:bodyPr/>
          <a:lstStyle/>
          <a:p>
            <a:pPr indent="0" algn="just">
              <a:buFont typeface="Times New Roman" pitchFamily="18" charset="0"/>
              <a:buNone/>
              <a:defRPr/>
            </a:pPr>
            <a:r>
              <a:rPr lang="en-US" sz="2200" dirty="0" smtClean="0"/>
              <a:t>		</a:t>
            </a:r>
            <a:r>
              <a:rPr lang="ru-RU" sz="2200" dirty="0" smtClean="0"/>
              <a:t>Пусть F</a:t>
            </a:r>
            <a:r>
              <a:rPr lang="ru-RU" sz="2200" baseline="-25000" dirty="0" smtClean="0"/>
              <a:t>CL</a:t>
            </a:r>
            <a:r>
              <a:rPr lang="ru-RU" sz="2200" dirty="0" smtClean="0"/>
              <a:t>(1) трудоемкость алгоритма в одном листе порожденного дерева (как правило выражается фиксированным числом базовых операций). Зная количество листьев порожденного дерева рекурсии, можно определить </a:t>
            </a:r>
            <a:r>
              <a:rPr lang="ru-RU" sz="2200" b="1" dirty="0" smtClean="0"/>
              <a:t>F</a:t>
            </a:r>
            <a:r>
              <a:rPr lang="ru-RU" sz="2200" b="1" baseline="-25000" dirty="0" smtClean="0"/>
              <a:t>CL</a:t>
            </a:r>
            <a:r>
              <a:rPr lang="ru-RU" sz="2200" b="1" dirty="0" smtClean="0"/>
              <a:t>(</a:t>
            </a:r>
            <a:r>
              <a:rPr lang="en-US" sz="2200" b="1" dirty="0" smtClean="0"/>
              <a:t>N</a:t>
            </a:r>
            <a:r>
              <a:rPr lang="ru-RU" sz="2200" b="1" dirty="0" smtClean="0"/>
              <a:t>) = F</a:t>
            </a:r>
            <a:r>
              <a:rPr lang="ru-RU" sz="2200" b="1" baseline="-25000" dirty="0" smtClean="0"/>
              <a:t>CL</a:t>
            </a:r>
            <a:r>
              <a:rPr lang="ru-RU" sz="2200" b="1" dirty="0" smtClean="0"/>
              <a:t>(1)* R</a:t>
            </a:r>
            <a:r>
              <a:rPr lang="ru-RU" sz="2200" b="1" baseline="-25000" dirty="0" smtClean="0"/>
              <a:t>L</a:t>
            </a:r>
            <a:r>
              <a:rPr lang="ru-RU" sz="2200" b="1" dirty="0" smtClean="0"/>
              <a:t>(</a:t>
            </a:r>
            <a:r>
              <a:rPr lang="en-US" sz="2200" b="1" dirty="0" smtClean="0"/>
              <a:t>N</a:t>
            </a:r>
            <a:r>
              <a:rPr lang="ru-RU" sz="2200" b="1" dirty="0" smtClean="0"/>
              <a:t>).</a:t>
            </a:r>
          </a:p>
          <a:p>
            <a:pPr indent="0" algn="just">
              <a:buFont typeface="Times New Roman" pitchFamily="18" charset="0"/>
              <a:buNone/>
              <a:defRPr/>
            </a:pPr>
            <a:r>
              <a:rPr lang="en-US" sz="2000" dirty="0" smtClean="0"/>
              <a:t>		</a:t>
            </a:r>
            <a:r>
              <a:rPr lang="ru-RU" sz="2000" dirty="0" smtClean="0"/>
              <a:t>Во внутренних вершинах дерева выполняются некоторые действия, связанные с подготовкой параметров для следующих рекурсивных вызовов и обработкой возвращаемых результатов. Трудоемкость такой обработки может зависеть как от обрабатываемых в этой вершине данных, так и от положения вершины в дереве рекурсии. С целью учета этой зависимости, введем нумерацию внутренних вершин, начиная с корня, по уровням дерева.</a:t>
            </a:r>
          </a:p>
          <a:p>
            <a:pPr>
              <a:defRPr/>
            </a:pPr>
            <a:endParaRPr lang="ru-RU" dirty="0"/>
          </a:p>
        </p:txBody>
      </p:sp>
      <p:pic>
        <p:nvPicPr>
          <p:cNvPr id="1638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3860800"/>
            <a:ext cx="8472487" cy="255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84213" y="188913"/>
            <a:ext cx="7745412" cy="3382962"/>
          </a:xfrm>
          <a:noFill/>
        </p:spPr>
      </p:pic>
      <p:pic>
        <p:nvPicPr>
          <p:cNvPr id="1648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4213" y="3573463"/>
            <a:ext cx="7624762" cy="305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50825" y="260350"/>
            <a:ext cx="8661400" cy="6192838"/>
          </a:xfr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0825" y="188913"/>
            <a:ext cx="8713788" cy="6480175"/>
          </a:xfrm>
        </p:spPr>
        <p:txBody>
          <a:bodyPr/>
          <a:lstStyle/>
          <a:p>
            <a:pPr indent="0">
              <a:buFont typeface="Times New Roman" pitchFamily="18" charset="0"/>
              <a:buNone/>
              <a:defRPr/>
            </a:pPr>
            <a:r>
              <a:rPr lang="ru-RU" sz="2600" b="1" dirty="0" smtClean="0"/>
              <a:t>Этапы анализа трудоемкости рекурсивного алгоритма методом анализа порожденного дерева рекурсии: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600" dirty="0" smtClean="0"/>
              <a:t>1. Анализ порождаемого данным алгоритмом дерева рекурсии с целью получения теоретических зависимостей для характеристик дерева как функций от длины входа </a:t>
            </a:r>
            <a:r>
              <a:rPr lang="en-US" sz="2600" dirty="0" smtClean="0"/>
              <a:t>N</a:t>
            </a:r>
            <a:r>
              <a:rPr lang="ru-RU" sz="2600" dirty="0" smtClean="0"/>
              <a:t> и/или характеристических особенностей множества входных данных.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600" dirty="0" smtClean="0"/>
              <a:t>2. Определение трудоемкости обслуживания рекурсии на один вызов-возврат </a:t>
            </a:r>
            <a:r>
              <a:rPr lang="ru-RU" sz="2600" dirty="0" err="1" smtClean="0"/>
              <a:t>F</a:t>
            </a:r>
            <a:r>
              <a:rPr lang="ru-RU" sz="2600" baseline="-25000" dirty="0" err="1" smtClean="0"/>
              <a:t>с</a:t>
            </a:r>
            <a:r>
              <a:rPr lang="ru-RU" sz="2600" baseline="-25000" dirty="0" smtClean="0"/>
              <a:t>/</a:t>
            </a:r>
            <a:r>
              <a:rPr lang="en-US" sz="2600" baseline="-25000" dirty="0" smtClean="0"/>
              <a:t>b</a:t>
            </a:r>
            <a:r>
              <a:rPr lang="ru-RU" sz="2600" dirty="0" smtClean="0"/>
              <a:t>.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600" dirty="0" smtClean="0"/>
              <a:t>3. Определение трудоемкости алгоритма при останове рекурсии F</a:t>
            </a:r>
            <a:r>
              <a:rPr lang="ru-RU" sz="2600" baseline="-25000" dirty="0" smtClean="0"/>
              <a:t>CL</a:t>
            </a:r>
            <a:r>
              <a:rPr lang="ru-RU" sz="2600" dirty="0" smtClean="0"/>
              <a:t>(1).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600" dirty="0" smtClean="0"/>
              <a:t>4. Исследование трудоемкости продуктивных вычислений во внутренних вершинах дерева рекурсии .</a:t>
            </a:r>
          </a:p>
          <a:p>
            <a:pPr>
              <a:buFont typeface="Times New Roman" pitchFamily="18" charset="0"/>
              <a:buNone/>
              <a:defRPr/>
            </a:pPr>
            <a:r>
              <a:rPr lang="ru-RU" sz="2600" dirty="0" smtClean="0"/>
              <a:t>5. Получение функции трудоемкости рекурсивного алгоритма .</a:t>
            </a:r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729</Words>
  <Application>Microsoft Office PowerPoint</Application>
  <PresentationFormat>Экран (4:3)</PresentationFormat>
  <Paragraphs>53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Symbol</vt:lpstr>
      <vt:lpstr>Times New Roman</vt:lpstr>
      <vt:lpstr>Тема Office</vt:lpstr>
      <vt:lpstr>Презентация PowerPoint</vt:lpstr>
      <vt:lpstr>Рекуррентные соотношения, характерные для двух основных принципов организации рекурсии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Анализ ресурсной эффективности рекурсивных алгоритмов методом подсчета вершин дерева рекурсии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mironovsv</dc:creator>
  <cp:lastModifiedBy>Mary Hamster</cp:lastModifiedBy>
  <cp:revision>3</cp:revision>
  <dcterms:created xsi:type="dcterms:W3CDTF">2017-05-22T05:35:46Z</dcterms:created>
  <dcterms:modified xsi:type="dcterms:W3CDTF">2019-05-16T07:36:32Z</dcterms:modified>
</cp:coreProperties>
</file>