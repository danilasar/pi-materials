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94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20D5E-FBA6-4BE9-84C0-6A4C0721F409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E36B1-6CF0-47DE-A32D-FEF1A686EEC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C9D04D00-4B43-47CB-AD61-CB3E12FB22E8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7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7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2EE28211-8986-4682-B5BA-110FB57F883F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84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84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D38EECFE-BF34-4644-B7A3-2167794A9ABE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95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95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E324630A-66BB-41ED-A26C-5EBC3BE81F00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4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05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05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342DD436-96A5-4C5B-9A23-1128B7D3ED87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7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15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15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E6CDB038-CF3A-4D2F-9F1C-FB3CA12CBEB0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8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2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2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E4D14D2E-8028-4AA3-8E32-9C9C3D91972E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9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36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36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030BA162-4793-42F7-97CA-1A919AF864B4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10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46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4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D30822E7-BAE9-4F92-A3CB-B3AF15937E4D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11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5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5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4E3779CA-B595-468B-9018-1401420D9915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13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66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66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E056092C-78EB-419E-A973-897DF78D36DA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14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7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7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A4E39922-14F7-4365-B972-0E19DE11EF48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15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87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8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E7F6CB8B-7A80-4F73-9960-A6AB9449BF76}" type="slidenum">
              <a:rPr lang="ru-RU" smtClean="0">
                <a:ea typeface="Arial Unicode MS" pitchFamily="34" charset="-128"/>
                <a:cs typeface="Arial Unicode MS" pitchFamily="34" charset="-128"/>
              </a:rPr>
              <a:pPr/>
              <a:t>17</a:t>
            </a:fld>
            <a:endParaRPr 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20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321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162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A4350428-A871-4974-A2B7-DEA3680F12ED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18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9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59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DC4E355B-63B8-496E-82A1-A08E7120FA09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19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07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0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38CF7E00-4DBC-44CD-B956-C8E8D1A8D539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20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17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17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BB1A3F2F-198E-4D5E-BFF5-6632A86D55A0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21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28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2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48001C40-07D4-4750-BA64-47D000FC16F3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22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3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3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353C4352-50D4-4029-A53C-91743D18437A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23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4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4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70B429E5-5C57-4C1C-920E-01A94542FEBE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24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589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58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461EC890-4849-405F-ABAD-861DE380BD5A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25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69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69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B97B7E8A-D032-43F8-9EC7-3028D79BCFFE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26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79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79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227EA835-29C7-4321-983A-B8EC3B90EB6D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27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89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89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4282A658-5F44-4763-B31E-CA8DA7F112A2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28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9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69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17528DF8-DAD8-4032-9D5A-9826CC34F245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29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10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10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D682B5C8-0022-428E-ADF8-0E8E6AEDD594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30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20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20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u-RU" altLang="ru-RU" smtClean="0">
              <a:latin typeface="Calibri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203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2A9017E-DD5D-40AA-9431-409E050E11CD}" type="slidenum">
              <a:rPr lang="ru-RU" altLang="ru-RU" sz="1200">
                <a:solidFill>
                  <a:srgbClr val="000000"/>
                </a:solidFill>
              </a:rPr>
              <a:pPr algn="r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30</a:t>
            </a:fld>
            <a:endParaRPr lang="ru-RU" altLang="ru-RU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F4799C21-8A29-4B2E-BD99-229FF64F40D6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31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30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3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2BED5E96-C2B0-4355-A80B-41D3DCA7E6A8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32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40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40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2248C03E-4750-4673-A8AA-4CDAD81F9D95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33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51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51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D5FACEA5-AE9E-49B8-A837-3B29D26B84CE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34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61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61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9963BB70-73BB-41D0-B7D4-1BE01267568A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35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71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71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3709CD6F-20EE-42A1-8C2B-B0FEBC9F4420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36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81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81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FD353F68-40A0-4BAD-A3BB-D946E83894A3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37</a:t>
            </a:fld>
            <a:endParaRPr lang="ru-RU" altLang="ru-RU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92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792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A5CB-993F-4BB9-90EE-E86233F629A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C7794-331B-429C-A48E-C82983330902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>
            <a:spLocks noChangeArrowheads="1"/>
          </p:cNvSpPr>
          <p:nvPr/>
        </p:nvSpPr>
        <p:spPr bwMode="auto">
          <a:xfrm>
            <a:off x="457200" y="252413"/>
            <a:ext cx="8229600" cy="1189037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000" b="1">
                <a:solidFill>
                  <a:srgbClr val="000000"/>
                </a:solidFill>
                <a:latin typeface="Calibri" pitchFamily="34" charset="0"/>
              </a:rPr>
              <a:t>Алгоритмы и анализ сложности</a:t>
            </a:r>
            <a:br>
              <a:rPr lang="ru-RU" altLang="ru-RU" sz="4000" b="1">
                <a:solidFill>
                  <a:srgbClr val="000000"/>
                </a:solidFill>
                <a:latin typeface="Calibri" pitchFamily="34" charset="0"/>
              </a:rPr>
            </a:b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Содержание курса</a:t>
            </a: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i="1">
                <a:solidFill>
                  <a:srgbClr val="000000"/>
                </a:solidFill>
                <a:latin typeface="Calibri" pitchFamily="34" charset="0"/>
              </a:rPr>
              <a:t>Введение в теорию алгоритмов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i="1">
                <a:solidFill>
                  <a:srgbClr val="000000"/>
                </a:solidFill>
                <a:latin typeface="Calibri" pitchFamily="34" charset="0"/>
              </a:rPr>
              <a:t>Основы теории вычислимости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i="1">
                <a:solidFill>
                  <a:srgbClr val="000000"/>
                </a:solidFill>
                <a:latin typeface="Calibri" pitchFamily="34" charset="0"/>
              </a:rPr>
              <a:t>Основы анализа сложности алгоритмов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i="1">
                <a:solidFill>
                  <a:srgbClr val="000000"/>
                </a:solidFill>
                <a:latin typeface="Calibri" pitchFamily="34" charset="0"/>
              </a:rPr>
              <a:t>Методы построения</a:t>
            </a:r>
            <a:r>
              <a:rPr lang="en-US" altLang="ru-RU" sz="3200" i="1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ru-RU" altLang="ru-RU" sz="3200" i="1">
                <a:solidFill>
                  <a:srgbClr val="000000"/>
                </a:solidFill>
                <a:latin typeface="Calibri" pitchFamily="34" charset="0"/>
              </a:rPr>
              <a:t>алгоритмов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i="1">
                <a:solidFill>
                  <a:srgbClr val="000000"/>
                </a:solidFill>
                <a:latin typeface="Calibri" pitchFamily="34" charset="0"/>
              </a:rPr>
              <a:t>Основные алгоритмы обработки информации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E1E8F5"/>
              </a:gs>
              <a:gs pos="100000">
                <a:srgbClr val="9AB5E4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400" b="1">
                <a:solidFill>
                  <a:srgbClr val="000000"/>
                </a:solidFill>
                <a:latin typeface="Calibri" pitchFamily="34" charset="0"/>
              </a:rPr>
              <a:t>Введение в теорию алгоритмов.</a:t>
            </a:r>
          </a:p>
        </p:txBody>
      </p:sp>
      <p:sp>
        <p:nvSpPr>
          <p:cNvPr id="3075" name="Text Box 2"/>
          <p:cNvSpPr txBox="1">
            <a:spLocks noChangeArrowheads="1"/>
          </p:cNvSpPr>
          <p:nvPr/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/>
          <p:cNvSpPr txBox="1">
            <a:spLocks noChangeArrowheads="1"/>
          </p:cNvSpPr>
          <p:nvPr/>
        </p:nvSpPr>
        <p:spPr bwMode="auto">
          <a:xfrm>
            <a:off x="457200" y="185738"/>
            <a:ext cx="8229600" cy="866775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800" b="1">
                <a:solidFill>
                  <a:srgbClr val="000000"/>
                </a:solidFill>
                <a:latin typeface="Calibri" pitchFamily="34" charset="0"/>
              </a:rPr>
              <a:t>Несколько примеров интуитивного понятия алгоритма:</a:t>
            </a: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285750" y="1125538"/>
            <a:ext cx="8643938" cy="5691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2400" i="1">
                <a:solidFill>
                  <a:srgbClr val="000000"/>
                </a:solidFill>
                <a:latin typeface="Calibri" pitchFamily="34" charset="0"/>
              </a:rPr>
              <a:t>Алгоритм </a:t>
            </a:r>
            <a:r>
              <a:rPr lang="ru-RU" altLang="ru-RU" sz="2400">
                <a:solidFill>
                  <a:srgbClr val="000000"/>
                </a:solidFill>
                <a:latin typeface="Calibri" pitchFamily="34" charset="0"/>
              </a:rPr>
              <a:t>— точный набор инструкций, описывающих </a:t>
            </a:r>
            <a:r>
              <a:rPr lang="ru-RU" altLang="ru-RU" sz="2400" i="1">
                <a:solidFill>
                  <a:srgbClr val="000000"/>
                </a:solidFill>
                <a:latin typeface="Calibri" pitchFamily="34" charset="0"/>
              </a:rPr>
              <a:t>порядок</a:t>
            </a:r>
            <a:r>
              <a:rPr lang="ru-RU" altLang="ru-RU" sz="2400">
                <a:solidFill>
                  <a:srgbClr val="000000"/>
                </a:solidFill>
                <a:latin typeface="Calibri" pitchFamily="34" charset="0"/>
              </a:rPr>
              <a:t> действий исполнителя для достижения результата решения задачи за конечное время.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ru-RU" altLang="ru-RU" sz="1000">
              <a:solidFill>
                <a:srgbClr val="000000"/>
              </a:solidFill>
              <a:latin typeface="Calibri" pitchFamily="34" charset="0"/>
            </a:endParaRPr>
          </a:p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2400" i="1">
                <a:solidFill>
                  <a:srgbClr val="000000"/>
                </a:solidFill>
                <a:latin typeface="Calibri" pitchFamily="34" charset="0"/>
              </a:rPr>
              <a:t>Алгоритм</a:t>
            </a:r>
            <a:r>
              <a:rPr lang="ru-RU" altLang="ru-RU" sz="2400">
                <a:solidFill>
                  <a:srgbClr val="000000"/>
                </a:solidFill>
                <a:latin typeface="Calibri" pitchFamily="34" charset="0"/>
              </a:rPr>
              <a:t> — это понятные и точные предписания исполнителю совершить конечное число шагов, направленных на решение поставленной задачи.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ru-RU" altLang="ru-RU" sz="1000">
              <a:solidFill>
                <a:srgbClr val="000000"/>
              </a:solidFill>
              <a:latin typeface="Calibri" pitchFamily="34" charset="0"/>
            </a:endParaRPr>
          </a:p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2400">
                <a:solidFill>
                  <a:srgbClr val="000000"/>
                </a:solidFill>
                <a:latin typeface="Calibri" pitchFamily="34" charset="0"/>
              </a:rPr>
              <a:t>«</a:t>
            </a:r>
            <a:r>
              <a:rPr lang="ru-RU" altLang="ru-RU" sz="2400" i="1">
                <a:solidFill>
                  <a:srgbClr val="000000"/>
                </a:solidFill>
                <a:latin typeface="Calibri" pitchFamily="34" charset="0"/>
              </a:rPr>
              <a:t>Алгоритм</a:t>
            </a:r>
            <a:r>
              <a:rPr lang="ru-RU" altLang="ru-RU" sz="2400">
                <a:solidFill>
                  <a:srgbClr val="000000"/>
                </a:solidFill>
                <a:latin typeface="Calibri" pitchFamily="34" charset="0"/>
              </a:rPr>
              <a:t> — это конечный набор правил, который определяет последовательность операций для решения конкретного множества задач и обладает пятью важными чертами: конечность, определённость, ввод, вывод, эффективность». (Д. Кнут)</a:t>
            </a:r>
          </a:p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ru-RU" altLang="ru-RU" sz="1000">
              <a:solidFill>
                <a:srgbClr val="000000"/>
              </a:solidFill>
              <a:latin typeface="Calibri" pitchFamily="34" charset="0"/>
            </a:endParaRPr>
          </a:p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2400">
                <a:solidFill>
                  <a:srgbClr val="000000"/>
                </a:solidFill>
                <a:latin typeface="Calibri" pitchFamily="34" charset="0"/>
              </a:rPr>
              <a:t>«</a:t>
            </a:r>
            <a:r>
              <a:rPr lang="ru-RU" altLang="ru-RU" sz="2400" i="1">
                <a:solidFill>
                  <a:srgbClr val="000000"/>
                </a:solidFill>
                <a:latin typeface="Calibri" pitchFamily="34" charset="0"/>
              </a:rPr>
              <a:t>Алгоритм</a:t>
            </a:r>
            <a:r>
              <a:rPr lang="ru-RU" altLang="ru-RU" sz="2400">
                <a:solidFill>
                  <a:srgbClr val="000000"/>
                </a:solidFill>
                <a:latin typeface="Calibri" pitchFamily="34" charset="0"/>
              </a:rPr>
              <a:t> — это точное предписание, определяющее вычислительный процесс, идущий от варьируемых исходных данных к искомому результату». (А. Марков)</a:t>
            </a:r>
          </a:p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ru-RU" altLang="ru-RU" sz="2400">
              <a:solidFill>
                <a:srgbClr val="000000"/>
              </a:solidFill>
              <a:latin typeface="Calibri" pitchFamily="34" charset="0"/>
            </a:endParaRPr>
          </a:p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ru-RU" altLang="ru-RU" sz="26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725487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000" b="1">
                <a:solidFill>
                  <a:srgbClr val="000000"/>
                </a:solidFill>
                <a:latin typeface="Calibri" pitchFamily="34" charset="0"/>
              </a:rPr>
              <a:t>Основные свойства алгоритмов</a:t>
            </a:r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457200" y="1143000"/>
            <a:ext cx="8229600" cy="5429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Дискретность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Детерминированность (определённость)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Понятность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Завершаемость (результативность, конечность)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Массовость (универсальность)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Однозначность результата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3" name="Rectangle 1"/>
          <p:cNvSpPr>
            <a:spLocks noChangeArrowheads="1"/>
          </p:cNvSpPr>
          <p:nvPr/>
        </p:nvSpPr>
        <p:spPr bwMode="auto">
          <a:xfrm>
            <a:off x="251520" y="-1617"/>
            <a:ext cx="8712968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ru-RU" sz="2000" b="1" dirty="0" smtClean="0">
                <a:solidFill>
                  <a:schemeClr val="tx1"/>
                </a:solidFill>
                <a:latin typeface="+mj-lt"/>
              </a:rPr>
              <a:t>Дискретность</a:t>
            </a:r>
            <a:r>
              <a:rPr lang="ru-RU" sz="2000" b="1" dirty="0">
                <a:solidFill>
                  <a:schemeClr val="tx1"/>
                </a:solidFill>
                <a:latin typeface="+mj-lt"/>
              </a:rPr>
              <a:t>.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Алгоритм должен представлять процесс решения задачи как порядок выполнения некоторого конечного множества элементарных шагов. При этом для выполнения каждого шага алгоритма требуется конечный отрезок времени, то есть преобразование исходных данных в результат осуществляется во времени дискретно.</a:t>
            </a:r>
          </a:p>
          <a:p>
            <a:pPr marL="0" marR="0" lvl="0" indent="450850" algn="just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Детерминированность (определённость).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 В каждый момент времени следующий шаг работы алгоритма однозначно определяется состоянием системы, т.е. после каждого шага указывается, какой шаг следует выполнять дальше либо указывается, когда следует работу алгоритма считать законченной. </a:t>
            </a:r>
          </a:p>
          <a:p>
            <a:pPr marL="0" marR="0" lvl="0" indent="450850" algn="just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Понятность.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 Алгоритм должен включать только те команды, которые доступны исполнителю и входят в его систему команд.</a:t>
            </a:r>
          </a:p>
          <a:p>
            <a:pPr marL="0" marR="0" lvl="0" indent="450850" algn="just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Завершаемость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 (результативность, конечность). При корректно заданных исходных данных алгоритм должен завершать работу и выдавать результат за конечное число шагов.</a:t>
            </a:r>
          </a:p>
          <a:p>
            <a:pPr marL="0" marR="0" lvl="0" indent="450850" algn="just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Массовость (универсальность).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 Это свойство состоит в том, что алгоритм решения задачи разрабатывается в общем виде и должен быть применим для некоторого класса задач, различающихся лишь исходными данными.</a:t>
            </a:r>
          </a:p>
          <a:p>
            <a:pPr marL="0" marR="0" lvl="0" indent="450850" algn="just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Однозначность результата.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 Unicode MS" pitchFamily="34" charset="-128"/>
                <a:cs typeface="Arial Unicode MS" pitchFamily="34" charset="-128"/>
              </a:rPr>
              <a:t>В какой бы форме не был записан алгоритм при одних и тех же данных должен быть получен один и тот же результат.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 b="1">
                <a:solidFill>
                  <a:srgbClr val="000000"/>
                </a:solidFill>
                <a:latin typeface="Calibri" pitchFamily="34" charset="0"/>
              </a:rPr>
              <a:t>Основные задачи теории алгоритмов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68313" y="1052513"/>
            <a:ext cx="8207375" cy="529431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buFont typeface="Arial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+mj-lt"/>
              </a:rPr>
              <a:t>формализация понятия «алгоритм» и  исследование формальных алгоритмических систем;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+mj-lt"/>
              </a:rPr>
              <a:t>формальное доказательство алгоритмической неразрешимости ряда задач;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+mj-lt"/>
              </a:rPr>
              <a:t>классификация задач, определение и исследование сложностных классов;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+mj-lt"/>
              </a:rPr>
              <a:t>асимптотический анализ сложности алгоритмов;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+mj-lt"/>
              </a:rPr>
              <a:t>исследование и анализ рекурсивных алгоритмов;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+mj-lt"/>
              </a:rPr>
              <a:t>получение явных функций трудоемкости в целях сравнительного анализа алгоритмов;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ru-RU" sz="2600" dirty="0">
                <a:solidFill>
                  <a:schemeClr val="tx1"/>
                </a:solidFill>
                <a:latin typeface="+mj-lt"/>
              </a:rPr>
              <a:t>разработка критериев сравнительной оценки качества алгоритмов.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457200" y="1571625"/>
            <a:ext cx="8229600" cy="45545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Понятие данных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Память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Элементарный шаг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Детерминированность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Результативность</a:t>
            </a: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457200" y="214313"/>
            <a:ext cx="8229600" cy="1357312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000" b="1">
                <a:solidFill>
                  <a:srgbClr val="000000"/>
                </a:solidFill>
                <a:latin typeface="Calibri" pitchFamily="34" charset="0"/>
              </a:rPr>
              <a:t>Схема определения понятия «алгоритм»: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457200" y="1285875"/>
            <a:ext cx="8229600" cy="5270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2800">
                <a:solidFill>
                  <a:srgbClr val="000000"/>
                </a:solidFill>
                <a:latin typeface="Calibri" pitchFamily="34" charset="0"/>
              </a:rPr>
              <a:t>Алгоритм как некое детерминированное устройство - абстрактные машины. Машина Тьюринга и машина Поста.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2800">
                <a:solidFill>
                  <a:srgbClr val="000000"/>
                </a:solidFill>
                <a:latin typeface="Calibri" pitchFamily="34" charset="0"/>
              </a:rPr>
              <a:t>Алгоритм как процедура вычисления некой числовой функции. Рекурсивные функции Черча.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2800">
                <a:solidFill>
                  <a:srgbClr val="000000"/>
                </a:solidFill>
                <a:latin typeface="Calibri" pitchFamily="34" charset="0"/>
              </a:rPr>
              <a:t>Алгоритм как последовательность преобразований цепочек в каком-либо алфавите.(Комбинаторные операции над словами). Нормальные алгоритмы Маркова.</a:t>
            </a:r>
          </a:p>
          <a:p>
            <a:pPr marL="341313" indent="-341313">
              <a:spcBef>
                <a:spcPts val="80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ru-RU" altLang="ru-RU" sz="3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939800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Основные типы алгоритмических моделей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E1E8F5"/>
              </a:gs>
              <a:gs pos="100000">
                <a:srgbClr val="9AB5E4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400" b="1">
                <a:solidFill>
                  <a:srgbClr val="000000"/>
                </a:solidFill>
                <a:latin typeface="Calibri" pitchFamily="34" charset="0"/>
              </a:rPr>
              <a:t>Машина Поста.</a:t>
            </a:r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800"/>
              </a:spcBef>
              <a:buClr>
                <a:srgbClr val="953735"/>
              </a:buClr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953735"/>
                </a:solidFill>
                <a:latin typeface="Calibri" pitchFamily="34" charset="0"/>
              </a:rPr>
              <a:t>Тезис Поста</a:t>
            </a: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ru-RU" altLang="ru-RU" sz="3200">
                <a:solidFill>
                  <a:srgbClr val="000000"/>
                </a:solidFill>
                <a:latin typeface="Calibri" pitchFamily="34" charset="0"/>
              </a:rPr>
              <a:t>- “Всякий алгоритм представим в форме машины Поста”.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>
                <a:solidFill>
                  <a:srgbClr val="000000"/>
                </a:solidFill>
                <a:latin typeface="Calibri" pitchFamily="34" charset="0"/>
              </a:rPr>
              <a:t>Алгоритм (по Посту) — программа для машины Поста, приводящая к решению поставленной задачи.</a:t>
            </a:r>
          </a:p>
          <a:p>
            <a:pPr marL="341313" indent="-341313">
              <a:spcBef>
                <a:spcPts val="800"/>
              </a:spcBef>
              <a:buClr>
                <a:srgbClr val="953735"/>
              </a:buClr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953735"/>
                </a:solidFill>
                <a:latin typeface="Calibri" pitchFamily="34" charset="0"/>
              </a:rPr>
              <a:t>Если задача имеет алгоритмическое решение, то она представима в форме команд для машины Поста.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5938" y="357188"/>
            <a:ext cx="5500687" cy="17668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357188" y="2143125"/>
            <a:ext cx="8429625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b="1">
                <a:solidFill>
                  <a:srgbClr val="000000"/>
                </a:solidFill>
                <a:latin typeface="Calibri" pitchFamily="34" charset="0"/>
              </a:rPr>
              <a:t>Всего для машины Поста существует шесть типов команд:</a:t>
            </a:r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57313" y="2786063"/>
            <a:ext cx="6667500" cy="3494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8013" cy="4924425"/>
          </a:xfrm>
        </p:spPr>
        <p:txBody>
          <a:bodyPr/>
          <a:lstStyle/>
          <a:p>
            <a:r>
              <a:rPr lang="ru-RU" altLang="ru-RU" smtClean="0"/>
              <a:t>останов по команде "стоп". Такой останов называется результативным и указывает на корректность алгоритма;</a:t>
            </a:r>
          </a:p>
          <a:p>
            <a:r>
              <a:rPr lang="ru-RU" altLang="ru-RU" smtClean="0"/>
              <a:t>останов при выполнении недопустимой команды. Случаи, когда указатель должен записать метку там, где она уже есть, или стереть метку там, где ее нет;</a:t>
            </a:r>
          </a:p>
          <a:p>
            <a:r>
              <a:rPr lang="ru-RU" altLang="ru-RU" smtClean="0"/>
              <a:t>машина не останавливается никогда. Уход в бесконечность, зацикливание.</a:t>
            </a:r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468313" y="188913"/>
            <a:ext cx="8301037" cy="936625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800" b="1" dirty="0">
                <a:solidFill>
                  <a:schemeClr val="tx1"/>
                </a:solidFill>
                <a:latin typeface="+mj-lt"/>
              </a:rPr>
              <a:t>Варианты окончания выполнения программы на машине Поста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/>
          <p:cNvSpPr txBox="1">
            <a:spLocks noChangeArrowheads="1"/>
          </p:cNvSpPr>
          <p:nvPr/>
        </p:nvSpPr>
        <p:spPr bwMode="auto">
          <a:xfrm>
            <a:off x="285750" y="96982"/>
            <a:ext cx="8643938" cy="661814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700"/>
              </a:spcBef>
              <a:buClr>
                <a:srgbClr val="953735"/>
              </a:buClr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ru-RU" sz="2800" dirty="0">
                <a:solidFill>
                  <a:srgbClr val="953735"/>
                </a:solidFill>
                <a:latin typeface="Calibri" pitchFamily="34" charset="0"/>
              </a:rPr>
              <a:t>Пример:</a:t>
            </a:r>
            <a:r>
              <a:rPr lang="ru-RU" sz="2800" dirty="0">
                <a:solidFill>
                  <a:srgbClr val="000000"/>
                </a:solidFill>
                <a:latin typeface="Calibri" pitchFamily="34" charset="0"/>
              </a:rPr>
              <a:t> покажем, как можно воспользоваться командой условного перехода для организации циклического процесса. Пусть на ленте имеется запись из нескольких меток подряд, и головка находится над самой крайней меткой справа. Требуется перевести головку влево до первой пустой </a:t>
            </a:r>
            <a:r>
              <a:rPr lang="ru-RU" sz="2800" dirty="0">
                <a:solidFill>
                  <a:schemeClr val="tx1"/>
                </a:solidFill>
                <a:latin typeface="Calibri" pitchFamily="34" charset="0"/>
              </a:rPr>
              <a:t>позиции.</a:t>
            </a:r>
          </a:p>
          <a:p>
            <a:pPr>
              <a:defRPr/>
            </a:pPr>
            <a:r>
              <a:rPr lang="ru-RU" sz="2800" dirty="0" smtClean="0">
                <a:solidFill>
                  <a:schemeClr val="tx1"/>
                </a:solidFill>
              </a:rPr>
              <a:t>			1</a:t>
            </a:r>
            <a:r>
              <a:rPr lang="ru-RU" sz="2800" dirty="0">
                <a:solidFill>
                  <a:schemeClr val="tx1"/>
                </a:solidFill>
                <a:sym typeface="Symbol"/>
              </a:rPr>
              <a:t></a:t>
            </a:r>
            <a:r>
              <a:rPr lang="ru-RU" sz="2800" dirty="0">
                <a:solidFill>
                  <a:schemeClr val="tx1"/>
                </a:solidFill>
              </a:rPr>
              <a:t>2</a:t>
            </a:r>
          </a:p>
          <a:p>
            <a:pPr>
              <a:defRPr/>
            </a:pPr>
            <a:r>
              <a:rPr lang="ru-RU" sz="2800" dirty="0" smtClean="0">
                <a:solidFill>
                  <a:schemeClr val="tx1"/>
                </a:solidFill>
              </a:rPr>
              <a:t>			2 </a:t>
            </a:r>
            <a:r>
              <a:rPr lang="ru-RU" sz="2800" dirty="0">
                <a:solidFill>
                  <a:schemeClr val="tx1"/>
                </a:solidFill>
              </a:rPr>
              <a:t>? 3; </a:t>
            </a:r>
            <a:r>
              <a:rPr lang="ru-RU" sz="2800" dirty="0" smtClean="0">
                <a:solidFill>
                  <a:schemeClr val="tx1"/>
                </a:solidFill>
              </a:rPr>
              <a:t>1</a:t>
            </a:r>
          </a:p>
          <a:p>
            <a:pPr>
              <a:defRPr/>
            </a:pPr>
            <a:r>
              <a:rPr lang="ru-RU" sz="2800" smtClean="0">
                <a:solidFill>
                  <a:schemeClr val="tx1"/>
                </a:solidFill>
              </a:rPr>
              <a:t>			3 </a:t>
            </a:r>
            <a:r>
              <a:rPr lang="ru-RU" sz="2800" dirty="0">
                <a:solidFill>
                  <a:schemeClr val="tx1"/>
                </a:solidFill>
              </a:rPr>
              <a:t>!</a:t>
            </a:r>
          </a:p>
          <a:p>
            <a:pPr>
              <a:defRPr/>
            </a:pPr>
            <a:endParaRPr lang="ru-RU" sz="28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457200" y="2857500"/>
            <a:ext cx="8229600" cy="3524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1 -&gt; 2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2 ? 1;3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3 &lt;- 4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4 V 5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5 !</a:t>
            </a:r>
          </a:p>
          <a:p>
            <a:pPr marL="341313" indent="-341313">
              <a:spcBef>
                <a:spcPts val="80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ru-RU" altLang="ru-RU" sz="3200" b="1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500063" y="352425"/>
            <a:ext cx="8229600" cy="2651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just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800">
                <a:solidFill>
                  <a:srgbClr val="C00000"/>
                </a:solidFill>
                <a:latin typeface="Calibri" pitchFamily="34" charset="0"/>
              </a:rPr>
              <a:t>Пример: </a:t>
            </a:r>
            <a:r>
              <a:rPr lang="ru-RU" altLang="ru-RU" sz="2800">
                <a:solidFill>
                  <a:srgbClr val="000000"/>
                </a:solidFill>
                <a:latin typeface="Calibri" pitchFamily="34" charset="0"/>
              </a:rPr>
              <a:t>увеличить число 3 на единицу (изменить значение в памяти с 3 на 4). Допустим, точно известно, что каретка стоит где-то слева от меток и обозревает пустую ячейку. Тогда программа увеличения числа на единицу может выглядеть так:</a:t>
            </a:r>
            <a:br>
              <a:rPr lang="ru-RU" altLang="ru-RU" sz="2800">
                <a:solidFill>
                  <a:srgbClr val="000000"/>
                </a:solidFill>
                <a:latin typeface="Calibri" pitchFamily="34" charset="0"/>
              </a:rPr>
            </a:br>
            <a:endParaRPr lang="ru-RU" altLang="ru-RU" sz="28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/>
          <p:cNvSpPr txBox="1">
            <a:spLocks noChangeArrowheads="1"/>
          </p:cNvSpPr>
          <p:nvPr/>
        </p:nvSpPr>
        <p:spPr bwMode="auto">
          <a:xfrm>
            <a:off x="457200" y="-177800"/>
            <a:ext cx="8229600" cy="2347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just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>
                <a:solidFill>
                  <a:srgbClr val="000000"/>
                </a:solidFill>
                <a:latin typeface="Calibri" pitchFamily="34" charset="0"/>
              </a:rPr>
              <a:t/>
            </a:r>
            <a:br>
              <a:rPr lang="ru-RU" altLang="ru-RU">
                <a:solidFill>
                  <a:srgbClr val="000000"/>
                </a:solidFill>
                <a:latin typeface="Calibri" pitchFamily="34" charset="0"/>
              </a:rPr>
            </a:br>
            <a:r>
              <a:rPr lang="ru-RU" altLang="ru-RU">
                <a:solidFill>
                  <a:srgbClr val="000000"/>
                </a:solidFill>
                <a:latin typeface="Calibri" pitchFamily="34" charset="0"/>
              </a:rPr>
              <a:t/>
            </a:r>
            <a:br>
              <a:rPr lang="ru-RU" altLang="ru-RU">
                <a:solidFill>
                  <a:srgbClr val="000000"/>
                </a:solidFill>
                <a:latin typeface="Calibri" pitchFamily="34" charset="0"/>
              </a:rPr>
            </a:br>
            <a:endParaRPr lang="ru-RU" altLang="ru-RU" sz="4000" b="1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363" name="Заголовок 10"/>
          <p:cNvSpPr>
            <a:spLocks noGrp="1"/>
          </p:cNvSpPr>
          <p:nvPr>
            <p:ph type="title"/>
          </p:nvPr>
        </p:nvSpPr>
        <p:spPr>
          <a:xfrm>
            <a:off x="468313" y="188913"/>
            <a:ext cx="8228012" cy="2663825"/>
          </a:xfrm>
        </p:spPr>
        <p:txBody>
          <a:bodyPr>
            <a:normAutofit fontScale="90000"/>
          </a:bodyPr>
          <a:lstStyle/>
          <a:p>
            <a:pPr algn="l"/>
            <a:r>
              <a:rPr lang="ru-RU" altLang="ru-RU" sz="3200" smtClean="0">
                <a:solidFill>
                  <a:srgbClr val="C00000"/>
                </a:solidFill>
              </a:rPr>
              <a:t>Пример: </a:t>
            </a:r>
            <a:r>
              <a:rPr lang="ru-RU" altLang="ru-RU" sz="3200" smtClean="0"/>
              <a:t>на ленте машины Поста расположен массив из n меток. Составить программу, действуя по которой машина выяснит, делится ли число n на 3. Если да, то после массива через одну пустую ячейку поставить метку.</a:t>
            </a:r>
          </a:p>
        </p:txBody>
      </p:sp>
      <p:pic>
        <p:nvPicPr>
          <p:cNvPr id="15364" name="Содержимое 12" descr="http://inf.1september.ru/2007/01/04-14.gif"/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619250" y="3284538"/>
            <a:ext cx="5400675" cy="2520950"/>
          </a:xfr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3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779462"/>
          </a:xfrm>
        </p:spPr>
        <p:txBody>
          <a:bodyPr/>
          <a:lstStyle/>
          <a:p>
            <a:pPr algn="l"/>
            <a:r>
              <a:rPr lang="ru-RU" altLang="ru-RU" sz="3200" smtClean="0">
                <a:solidFill>
                  <a:srgbClr val="C00000"/>
                </a:solidFill>
              </a:rPr>
              <a:t>Пример: </a:t>
            </a:r>
            <a:r>
              <a:rPr lang="ru-RU" altLang="ru-RU" sz="3200" smtClean="0"/>
              <a:t>зацикливание. </a:t>
            </a:r>
          </a:p>
        </p:txBody>
      </p:sp>
      <p:sp>
        <p:nvSpPr>
          <p:cNvPr id="16387" name="Содержимое 4"/>
          <p:cNvSpPr>
            <a:spLocks noGrp="1"/>
          </p:cNvSpPr>
          <p:nvPr>
            <p:ph idx="1"/>
          </p:nvPr>
        </p:nvSpPr>
        <p:spPr>
          <a:xfrm>
            <a:off x="457200" y="981075"/>
            <a:ext cx="8228013" cy="5143500"/>
          </a:xfrm>
        </p:spPr>
        <p:txBody>
          <a:bodyPr/>
          <a:lstStyle/>
          <a:p>
            <a:pPr algn="ctr"/>
            <a:r>
              <a:rPr lang="ru-RU" altLang="ru-RU" smtClean="0"/>
              <a:t>1 </a:t>
            </a:r>
            <a:r>
              <a:rPr lang="ru-RU" altLang="ru-RU" smtClean="0">
                <a:sym typeface="Symbol" pitchFamily="18" charset="2"/>
              </a:rPr>
              <a:t></a:t>
            </a:r>
            <a:r>
              <a:rPr lang="ru-RU" altLang="ru-RU" smtClean="0"/>
              <a:t> 2</a:t>
            </a:r>
          </a:p>
          <a:p>
            <a:pPr algn="ctr"/>
            <a:r>
              <a:rPr lang="ru-RU" altLang="ru-RU" smtClean="0"/>
              <a:t>2 </a:t>
            </a:r>
            <a:r>
              <a:rPr lang="ru-RU" altLang="ru-RU" smtClean="0">
                <a:sym typeface="Symbol" pitchFamily="18" charset="2"/>
              </a:rPr>
              <a:t></a:t>
            </a:r>
            <a:r>
              <a:rPr lang="ru-RU" altLang="ru-RU" smtClean="0"/>
              <a:t> 1</a:t>
            </a:r>
          </a:p>
          <a:p>
            <a:endParaRPr lang="ru-RU" altLang="ru-RU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/>
          <p:cNvSpPr txBox="1">
            <a:spLocks noChangeArrowheads="1"/>
          </p:cNvSpPr>
          <p:nvPr/>
        </p:nvSpPr>
        <p:spPr bwMode="auto">
          <a:xfrm>
            <a:off x="371475" y="1"/>
            <a:ext cx="8229600" cy="134076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dirty="0">
                <a:solidFill>
                  <a:srgbClr val="000000"/>
                </a:solidFill>
                <a:latin typeface="Calibri" pitchFamily="34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ru-RU" dirty="0">
                <a:solidFill>
                  <a:srgbClr val="000000"/>
                </a:solidFill>
                <a:latin typeface="Calibri" pitchFamily="34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ru-RU" b="1" dirty="0">
                <a:solidFill>
                  <a:srgbClr val="000000"/>
                </a:solidFill>
                <a:latin typeface="Calibri" pitchFamily="34" charset="0"/>
              </a:rPr>
              <a:t>Выяснить, применимы ли программы к заданным состояниям машины Поста, указать результат работы машины Поста для каждого состояния. </a:t>
            </a:r>
            <a:br>
              <a:rPr lang="ru-RU" b="1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ru-RU" b="1" dirty="0" smtClean="0">
                <a:solidFill>
                  <a:srgbClr val="000000"/>
                </a:solidFill>
                <a:latin typeface="Calibri" pitchFamily="34" charset="0"/>
              </a:rPr>
              <a:t>В начальный </a:t>
            </a:r>
            <a:r>
              <a:rPr lang="ru-RU" b="1" dirty="0">
                <a:solidFill>
                  <a:srgbClr val="000000"/>
                </a:solidFill>
                <a:latin typeface="Calibri" pitchFamily="34" charset="0"/>
              </a:rPr>
              <a:t>момент </a:t>
            </a:r>
            <a:r>
              <a:rPr lang="ru-RU" b="1" dirty="0" smtClean="0">
                <a:solidFill>
                  <a:srgbClr val="000000"/>
                </a:solidFill>
                <a:latin typeface="Calibri" pitchFamily="34" charset="0"/>
              </a:rPr>
              <a:t>времени каретка </a:t>
            </a:r>
            <a:r>
              <a:rPr lang="ru-RU" b="1" dirty="0">
                <a:solidFill>
                  <a:srgbClr val="000000"/>
                </a:solidFill>
                <a:latin typeface="Calibri" pitchFamily="34" charset="0"/>
              </a:rPr>
              <a:t>обозревает ячейку с самой </a:t>
            </a:r>
            <a:r>
              <a:rPr lang="ru-RU" b="1" dirty="0" smtClean="0">
                <a:solidFill>
                  <a:srgbClr val="000000"/>
                </a:solidFill>
                <a:latin typeface="Calibri" pitchFamily="34" charset="0"/>
              </a:rPr>
              <a:t>левой меткой</a:t>
            </a:r>
            <a:r>
              <a:rPr lang="ru-RU" b="1" dirty="0">
                <a:solidFill>
                  <a:srgbClr val="000000"/>
                </a:solidFill>
                <a:latin typeface="Calibri" pitchFamily="34" charset="0"/>
              </a:rPr>
              <a:t>.</a:t>
            </a:r>
            <a:r>
              <a:rPr lang="ru-RU" sz="4000" b="1" dirty="0">
                <a:solidFill>
                  <a:srgbClr val="000000"/>
                </a:solidFill>
                <a:latin typeface="Calibri" pitchFamily="34" charset="0"/>
              </a:rPr>
              <a:t/>
            </a:r>
            <a:br>
              <a:rPr lang="ru-RU" sz="4000" b="1" dirty="0">
                <a:solidFill>
                  <a:srgbClr val="000000"/>
                </a:solidFill>
                <a:latin typeface="Calibri" pitchFamily="34" charset="0"/>
              </a:rPr>
            </a:br>
            <a:endParaRPr lang="ru-RU" sz="40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00063" y="1785938"/>
            <a:ext cx="4678362" cy="1479550"/>
            <a:chOff x="315" y="1125"/>
            <a:chExt cx="2947" cy="932"/>
          </a:xfrm>
        </p:grpSpPr>
        <p:pic>
          <p:nvPicPr>
            <p:cNvPr id="15366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5" y="1125"/>
              <a:ext cx="2947" cy="9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15367" name="Text Box 4"/>
            <p:cNvSpPr txBox="1">
              <a:spLocks noChangeArrowheads="1"/>
            </p:cNvSpPr>
            <p:nvPr/>
          </p:nvSpPr>
          <p:spPr bwMode="auto">
            <a:xfrm>
              <a:off x="315" y="1125"/>
              <a:ext cx="2947" cy="9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57438" y="3286125"/>
            <a:ext cx="4257675" cy="163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5365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3438" y="4857750"/>
            <a:ext cx="4191000" cy="16525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40431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E1E8F5"/>
              </a:gs>
              <a:gs pos="100000">
                <a:srgbClr val="9AB5E4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400" b="1">
                <a:solidFill>
                  <a:srgbClr val="000000"/>
                </a:solidFill>
                <a:latin typeface="Calibri" pitchFamily="34" charset="0"/>
              </a:rPr>
              <a:t>Машина Тьюринга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457200" y="214313"/>
            <a:ext cx="8229600" cy="6159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2900" indent="-341313" algn="just">
              <a:spcBef>
                <a:spcPts val="6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4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6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4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6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4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6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4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6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4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6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4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5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0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5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0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 algn="just">
              <a:spcBef>
                <a:spcPts val="5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000" b="1">
                <a:solidFill>
                  <a:srgbClr val="953735"/>
                </a:solidFill>
                <a:latin typeface="Calibri" pitchFamily="34" charset="0"/>
              </a:rPr>
              <a:t>В зависимости от считываемого символа и собственного состояния, управляющий модуль может производить следующие операции:</a:t>
            </a:r>
          </a:p>
          <a:p>
            <a:pPr marL="342900" indent="-341313" algn="just">
              <a:spcBef>
                <a:spcPts val="500"/>
              </a:spcBef>
              <a:buFont typeface="Arial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000" b="1">
                <a:solidFill>
                  <a:srgbClr val="000000"/>
                </a:solidFill>
                <a:latin typeface="Calibri" pitchFamily="34" charset="0"/>
              </a:rPr>
              <a:t>записывать символ алфавита в ячейку (в том числе и пустой), заменяя находившийся в ней (в том числе и пустой); </a:t>
            </a:r>
          </a:p>
          <a:p>
            <a:pPr marL="342900" indent="-341313" algn="just">
              <a:spcBef>
                <a:spcPts val="500"/>
              </a:spcBef>
              <a:buFont typeface="Arial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000" b="1">
                <a:solidFill>
                  <a:srgbClr val="000000"/>
                </a:solidFill>
                <a:latin typeface="Calibri" pitchFamily="34" charset="0"/>
              </a:rPr>
              <a:t>передвигать головку на одну ячейку влево, вправо или оставаться на месте; </a:t>
            </a:r>
          </a:p>
          <a:p>
            <a:pPr marL="342900" indent="-341313" algn="just">
              <a:spcBef>
                <a:spcPts val="500"/>
              </a:spcBef>
              <a:buFont typeface="Arial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000" b="1">
                <a:solidFill>
                  <a:srgbClr val="000000"/>
                </a:solidFill>
                <a:latin typeface="Calibri" pitchFamily="34" charset="0"/>
              </a:rPr>
              <a:t>менять свое внутреннее состояние;</a:t>
            </a:r>
          </a:p>
          <a:p>
            <a:pPr marL="342900" indent="-341313">
              <a:spcBef>
                <a:spcPts val="500"/>
              </a:spcBef>
              <a:buFont typeface="Arial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000" b="1">
              <a:solidFill>
                <a:srgbClr val="000000"/>
              </a:solidFill>
              <a:latin typeface="Calibri" pitchFamily="34" charset="0"/>
            </a:endParaRP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88" y="428625"/>
            <a:ext cx="6519862" cy="302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868362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400" b="1">
                <a:solidFill>
                  <a:srgbClr val="000000"/>
                </a:solidFill>
                <a:latin typeface="Calibri" pitchFamily="34" charset="0"/>
              </a:rPr>
              <a:t>Формально машина Тьюринга может быть описана следующим образом: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85875" y="1143000"/>
            <a:ext cx="7029450" cy="3833813"/>
            <a:chOff x="810" y="720"/>
            <a:chExt cx="4428" cy="2415"/>
          </a:xfrm>
        </p:grpSpPr>
        <p:pic>
          <p:nvPicPr>
            <p:cNvPr id="1946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10" y="720"/>
              <a:ext cx="4428" cy="241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19462" name="Text Box 4"/>
            <p:cNvSpPr txBox="1">
              <a:spLocks noChangeArrowheads="1"/>
            </p:cNvSpPr>
            <p:nvPr/>
          </p:nvSpPr>
          <p:spPr bwMode="auto">
            <a:xfrm>
              <a:off x="810" y="720"/>
              <a:ext cx="4428" cy="241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5875" y="4929188"/>
            <a:ext cx="6967538" cy="1141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457200" y="220663"/>
            <a:ext cx="8229600" cy="762000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400">
                <a:solidFill>
                  <a:srgbClr val="000000"/>
                </a:solidFill>
                <a:latin typeface="Calibri" pitchFamily="34" charset="0"/>
              </a:rPr>
              <a:t>Способы задания МТ</a:t>
            </a: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5" y="1071563"/>
            <a:ext cx="5075238" cy="2686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00063" y="4000500"/>
            <a:ext cx="8288337" cy="2324100"/>
            <a:chOff x="315" y="2520"/>
            <a:chExt cx="5221" cy="1464"/>
          </a:xfrm>
        </p:grpSpPr>
        <p:pic>
          <p:nvPicPr>
            <p:cNvPr id="20485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15" y="2520"/>
              <a:ext cx="5221" cy="146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20486" name="Text Box 5"/>
            <p:cNvSpPr txBox="1">
              <a:spLocks noChangeArrowheads="1"/>
            </p:cNvSpPr>
            <p:nvPr/>
          </p:nvSpPr>
          <p:spPr bwMode="auto">
            <a:xfrm>
              <a:off x="315" y="2520"/>
              <a:ext cx="5221" cy="146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428625"/>
            <a:ext cx="6516688" cy="5616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796925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400">
                <a:solidFill>
                  <a:srgbClr val="000000"/>
                </a:solidFill>
                <a:latin typeface="Calibri" pitchFamily="34" charset="0"/>
              </a:rPr>
              <a:t>Конфигурации МТ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5750" y="1214438"/>
            <a:ext cx="8532813" cy="1196975"/>
            <a:chOff x="180" y="765"/>
            <a:chExt cx="5375" cy="754"/>
          </a:xfrm>
        </p:grpSpPr>
        <p:pic>
          <p:nvPicPr>
            <p:cNvPr id="2253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0" y="765"/>
              <a:ext cx="5375" cy="7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22534" name="Text Box 4"/>
            <p:cNvSpPr txBox="1">
              <a:spLocks noChangeArrowheads="1"/>
            </p:cNvSpPr>
            <p:nvPr/>
          </p:nvSpPr>
          <p:spPr bwMode="auto">
            <a:xfrm>
              <a:off x="180" y="765"/>
              <a:ext cx="5375" cy="7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313" y="2500313"/>
            <a:ext cx="8466137" cy="3797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57188" y="214313"/>
            <a:ext cx="7545387" cy="3711575"/>
            <a:chOff x="225" y="135"/>
            <a:chExt cx="4753" cy="2338"/>
          </a:xfrm>
        </p:grpSpPr>
        <p:pic>
          <p:nvPicPr>
            <p:cNvPr id="2355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5" y="135"/>
              <a:ext cx="4753" cy="23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23557" name="Text Box 3"/>
            <p:cNvSpPr txBox="1">
              <a:spLocks noChangeArrowheads="1"/>
            </p:cNvSpPr>
            <p:nvPr/>
          </p:nvSpPr>
          <p:spPr bwMode="auto">
            <a:xfrm>
              <a:off x="225" y="135"/>
              <a:ext cx="4753" cy="23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63" y="3857625"/>
            <a:ext cx="7032625" cy="2749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457200" y="155575"/>
            <a:ext cx="8229600" cy="1189038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>
                <a:solidFill>
                  <a:srgbClr val="000000"/>
                </a:solidFill>
                <a:latin typeface="Calibri" pitchFamily="34" charset="0"/>
              </a:rPr>
              <a:t>Приведение конфигураций к стандартному виду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5750" y="1357313"/>
            <a:ext cx="8437563" cy="569912"/>
            <a:chOff x="180" y="855"/>
            <a:chExt cx="5315" cy="359"/>
          </a:xfrm>
        </p:grpSpPr>
        <p:pic>
          <p:nvPicPr>
            <p:cNvPr id="24582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0" y="855"/>
              <a:ext cx="5315" cy="35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24583" name="Text Box 4"/>
            <p:cNvSpPr txBox="1">
              <a:spLocks noChangeArrowheads="1"/>
            </p:cNvSpPr>
            <p:nvPr/>
          </p:nvSpPr>
          <p:spPr bwMode="auto">
            <a:xfrm>
              <a:off x="180" y="855"/>
              <a:ext cx="5315" cy="35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pic>
        <p:nvPicPr>
          <p:cNvPr id="2458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8" y="1928813"/>
            <a:ext cx="5657850" cy="552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4581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5750" y="2643188"/>
            <a:ext cx="8543925" cy="3441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457200" y="252413"/>
            <a:ext cx="8229600" cy="1189037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 b="1">
                <a:solidFill>
                  <a:srgbClr val="000000"/>
                </a:solidFill>
                <a:latin typeface="Calibri" pitchFamily="34" charset="0"/>
              </a:rPr>
              <a:t>Определение вычислимости по Тьюрингу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34963" y="1571625"/>
            <a:ext cx="8807450" cy="2686050"/>
            <a:chOff x="211" y="990"/>
            <a:chExt cx="5548" cy="1692"/>
          </a:xfrm>
        </p:grpSpPr>
        <p:pic>
          <p:nvPicPr>
            <p:cNvPr id="2560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1" y="990"/>
              <a:ext cx="5548" cy="169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25605" name="Text Box 4"/>
            <p:cNvSpPr txBox="1">
              <a:spLocks noChangeArrowheads="1"/>
            </p:cNvSpPr>
            <p:nvPr/>
          </p:nvSpPr>
          <p:spPr bwMode="auto">
            <a:xfrm>
              <a:off x="211" y="990"/>
              <a:ext cx="5548" cy="169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457200" y="252413"/>
            <a:ext cx="8229600" cy="1189037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>
                <a:solidFill>
                  <a:srgbClr val="000000"/>
                </a:solidFill>
                <a:latin typeface="Calibri" pitchFamily="34" charset="0"/>
              </a:rPr>
              <a:t>Определение вычислимости для функций нескольких переменных 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57188" y="1714500"/>
            <a:ext cx="8428037" cy="1017588"/>
            <a:chOff x="225" y="1080"/>
            <a:chExt cx="5309" cy="641"/>
          </a:xfrm>
        </p:grpSpPr>
        <p:pic>
          <p:nvPicPr>
            <p:cNvPr id="2662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5" y="1080"/>
              <a:ext cx="5309" cy="64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26630" name="Text Box 4"/>
            <p:cNvSpPr txBox="1">
              <a:spLocks noChangeArrowheads="1"/>
            </p:cNvSpPr>
            <p:nvPr/>
          </p:nvSpPr>
          <p:spPr bwMode="auto">
            <a:xfrm>
              <a:off x="225" y="1080"/>
              <a:ext cx="5309" cy="64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50" y="2643188"/>
            <a:ext cx="8601075" cy="3698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868362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>
                <a:solidFill>
                  <a:srgbClr val="000000"/>
                </a:solidFill>
                <a:latin typeface="Calibri" pitchFamily="34" charset="0"/>
              </a:rPr>
              <a:t>Примеры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33" y="1533525"/>
            <a:ext cx="8536231" cy="340764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14313" y="357188"/>
            <a:ext cx="8631237" cy="5199062"/>
            <a:chOff x="135" y="225"/>
            <a:chExt cx="5437" cy="3275"/>
          </a:xfrm>
        </p:grpSpPr>
        <p:pic>
          <p:nvPicPr>
            <p:cNvPr id="2867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5" y="225"/>
              <a:ext cx="5437" cy="32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28676" name="Text Box 3"/>
            <p:cNvSpPr txBox="1">
              <a:spLocks noChangeArrowheads="1"/>
            </p:cNvSpPr>
            <p:nvPr/>
          </p:nvSpPr>
          <p:spPr bwMode="auto">
            <a:xfrm>
              <a:off x="135" y="225"/>
              <a:ext cx="5437" cy="32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" y="361950"/>
            <a:ext cx="8115300" cy="6134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868362"/>
          </a:xfrm>
          <a:prstGeom prst="rect">
            <a:avLst/>
          </a:prstGeom>
          <a:solidFill>
            <a:srgbClr val="C6D9F1"/>
          </a:solidFill>
          <a:ln w="9360" cap="sq">
            <a:solidFill>
              <a:srgbClr val="C6D9F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 b="1">
                <a:solidFill>
                  <a:srgbClr val="000000"/>
                </a:solidFill>
                <a:latin typeface="Calibri" pitchFamily="34" charset="0"/>
              </a:rPr>
              <a:t>Операции над машинами Тьюринга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538" y="3500438"/>
            <a:ext cx="8653462" cy="2732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57188" y="1428750"/>
            <a:ext cx="8555037" cy="2016125"/>
            <a:chOff x="225" y="900"/>
            <a:chExt cx="5389" cy="1270"/>
          </a:xfrm>
        </p:grpSpPr>
        <p:pic>
          <p:nvPicPr>
            <p:cNvPr id="30725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5" y="900"/>
              <a:ext cx="5389" cy="127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30726" name="Text Box 5"/>
            <p:cNvSpPr txBox="1">
              <a:spLocks noChangeArrowheads="1"/>
            </p:cNvSpPr>
            <p:nvPr/>
          </p:nvSpPr>
          <p:spPr bwMode="auto">
            <a:xfrm>
              <a:off x="225" y="900"/>
              <a:ext cx="5389" cy="127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3" y="428625"/>
            <a:ext cx="8259762" cy="3987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57438" y="4714875"/>
            <a:ext cx="4702175" cy="777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8" y="214313"/>
            <a:ext cx="8553450" cy="60547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" y="214313"/>
            <a:ext cx="8624888" cy="3810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50" y="4143375"/>
            <a:ext cx="8345488" cy="1312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875" y="285750"/>
            <a:ext cx="8874125" cy="322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3500607"/>
            <a:ext cx="8810625" cy="26955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>
                <a:solidFill>
                  <a:srgbClr val="000000"/>
                </a:solidFill>
                <a:latin typeface="Calibri" pitchFamily="34" charset="0"/>
              </a:rPr>
              <a:t>Построение универсальной МТ.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1" y="5013176"/>
            <a:ext cx="8469312" cy="6318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4313" y="1571625"/>
            <a:ext cx="8604250" cy="1657350"/>
            <a:chOff x="135" y="990"/>
            <a:chExt cx="5420" cy="1044"/>
          </a:xfrm>
        </p:grpSpPr>
        <p:pic>
          <p:nvPicPr>
            <p:cNvPr id="3584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5" y="990"/>
              <a:ext cx="5420" cy="104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35847" name="Text Box 5"/>
            <p:cNvSpPr txBox="1">
              <a:spLocks noChangeArrowheads="1"/>
            </p:cNvSpPr>
            <p:nvPr/>
          </p:nvSpPr>
          <p:spPr bwMode="auto">
            <a:xfrm>
              <a:off x="135" y="990"/>
              <a:ext cx="5420" cy="104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4313" y="3286125"/>
            <a:ext cx="8494712" cy="668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230089" y="3954463"/>
            <a:ext cx="85884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Универсальную машину можно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рассматривать  как  вычислительную  машину  общего  назначения,  которая  достаточно мощна  для  того,  чтобы  моделировать  любую  вычислительную  машину,  включая саму  себя.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5" y="428625"/>
            <a:ext cx="8469313" cy="2897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950</Words>
  <Application>Microsoft Office PowerPoint</Application>
  <PresentationFormat>Экран (4:3)</PresentationFormat>
  <Paragraphs>128</Paragraphs>
  <Slides>37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Arial Unicode MS</vt:lpstr>
      <vt:lpstr>Calibri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Пример: на ленте машины Поста расположен массив из n меток. Составить программу, действуя по которой машина выяснит, делится ли число n на 3. Если да, то после массива через одну пустую ячейку поставить метку.</vt:lpstr>
      <vt:lpstr>Пример: зацикливание.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Mary</dc:creator>
  <cp:lastModifiedBy>Mary Hamster</cp:lastModifiedBy>
  <cp:revision>7</cp:revision>
  <dcterms:created xsi:type="dcterms:W3CDTF">2017-03-06T03:29:46Z</dcterms:created>
  <dcterms:modified xsi:type="dcterms:W3CDTF">2022-02-14T19:50:05Z</dcterms:modified>
</cp:coreProperties>
</file>