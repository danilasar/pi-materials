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126B8-B8C8-4278-B0F9-688DE5DDDEB3}" type="datetimeFigureOut">
              <a:rPr lang="ru-RU" smtClean="0"/>
              <a:t>11.04.2022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991F6-8E51-4719-AAE6-4E829C0B3E7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Заголовок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8013" cy="936625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sz="2800" b="1" smtClean="0"/>
              <a:t/>
            </a:r>
            <a:br>
              <a:rPr lang="ru-RU" altLang="ru-RU" sz="2800" b="1" smtClean="0"/>
            </a:br>
            <a:r>
              <a:rPr lang="ru-RU" altLang="ru-RU" sz="2800" b="1" smtClean="0"/>
              <a:t/>
            </a:r>
            <a:br>
              <a:rPr lang="ru-RU" altLang="ru-RU" sz="2800" b="1" smtClean="0"/>
            </a:br>
            <a:r>
              <a:rPr lang="ru-RU" altLang="ru-RU" sz="2800" b="1" smtClean="0"/>
              <a:t>Методы анализа сложности рекурсивных алгоритмов.</a:t>
            </a:r>
            <a:r>
              <a:rPr lang="ru-RU" altLang="ru-RU" b="1" smtClean="0"/>
              <a:t/>
            </a:r>
            <a:br>
              <a:rPr lang="ru-RU" altLang="ru-RU" b="1" smtClean="0"/>
            </a:br>
            <a:endParaRPr lang="ru-RU" altLang="ru-RU" smtClean="0"/>
          </a:p>
        </p:txBody>
      </p:sp>
      <p:sp>
        <p:nvSpPr>
          <p:cNvPr id="139267" name="Содержимое 2"/>
          <p:cNvSpPr>
            <a:spLocks noGrp="1"/>
          </p:cNvSpPr>
          <p:nvPr>
            <p:ph idx="1"/>
          </p:nvPr>
        </p:nvSpPr>
        <p:spPr>
          <a:xfrm>
            <a:off x="457200" y="1196975"/>
            <a:ext cx="8228013" cy="5446713"/>
          </a:xfrm>
        </p:spPr>
        <p:txBody>
          <a:bodyPr/>
          <a:lstStyle/>
          <a:p>
            <a:r>
              <a:rPr lang="ru-RU" altLang="ru-RU" b="1" smtClean="0"/>
              <a:t>Итерационные алгоритмы</a:t>
            </a:r>
            <a:r>
              <a:rPr lang="ru-RU" altLang="ru-RU" smtClean="0"/>
              <a:t/>
            </a:r>
            <a:br>
              <a:rPr lang="ru-RU" altLang="ru-RU" smtClean="0"/>
            </a:br>
            <a:r>
              <a:rPr lang="ru-RU" altLang="ru-RU" sz="2800" smtClean="0"/>
              <a:t>Анализ сложности  - определение трудоемкости  конструкций «следование», «ветвление», «цикл» с использованием правил суммы и произведения.</a:t>
            </a:r>
          </a:p>
          <a:p>
            <a:r>
              <a:rPr lang="ru-RU" altLang="ru-RU" b="1" smtClean="0"/>
              <a:t>Рекурсивные алгоритмы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800" smtClean="0"/>
              <a:t>Основные элементы: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800" smtClean="0"/>
              <a:t>1)метод рекуррентных соотношений (только временная сложность) 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800" smtClean="0"/>
              <a:t>2) Теоретико - графовый метод исследования дерева рекурсии.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Содержимое 2"/>
          <p:cNvSpPr>
            <a:spLocks noGrp="1"/>
          </p:cNvSpPr>
          <p:nvPr>
            <p:ph idx="1"/>
          </p:nvPr>
        </p:nvSpPr>
        <p:spPr>
          <a:xfrm>
            <a:off x="214313" y="214313"/>
            <a:ext cx="8715375" cy="6429375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altLang="ru-RU" sz="2800" b="1" dirty="0" smtClean="0">
                <a:solidFill>
                  <a:srgbClr val="C00000"/>
                </a:solidFill>
              </a:rPr>
              <a:t>	Метод рекуррентных соотношений 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en-US" sz="2800" dirty="0" smtClean="0"/>
              <a:t>C </a:t>
            </a:r>
            <a:r>
              <a:rPr lang="ru-RU" sz="2800" dirty="0" smtClean="0"/>
              <a:t>каждой рекурсивной процедурой связывают временную функцию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), где </a:t>
            </a:r>
            <a:r>
              <a:rPr lang="en-US" sz="2800" dirty="0" smtClean="0"/>
              <a:t>n</a:t>
            </a:r>
            <a:r>
              <a:rPr lang="ru-RU" sz="2800" dirty="0" smtClean="0"/>
              <a:t> определяет объем аргументов процедуры. Затем пытаются построить и решить рекуррентное соотношение, которому удовлетворяет функция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).</a:t>
            </a:r>
            <a:endParaRPr lang="en-US" sz="2800" dirty="0" smtClean="0"/>
          </a:p>
          <a:p>
            <a:pPr indent="0">
              <a:buFont typeface="Times New Roman" pitchFamily="18" charset="0"/>
              <a:buNone/>
              <a:defRPr/>
            </a:pPr>
            <a:endParaRPr lang="ru-RU" altLang="ru-RU" sz="2800" b="1" dirty="0" smtClean="0">
              <a:solidFill>
                <a:srgbClr val="C00000"/>
              </a:solidFill>
            </a:endParaRPr>
          </a:p>
          <a:p>
            <a:pPr indent="342900">
              <a:buFont typeface="Times New Roman" pitchFamily="18" charset="0"/>
              <a:buNone/>
              <a:defRPr/>
            </a:pPr>
            <a:r>
              <a:rPr lang="ru-RU" altLang="ru-RU" sz="2800" b="1" dirty="0" smtClean="0"/>
              <a:t>Рекуррентное соотношение </a:t>
            </a:r>
            <a:r>
              <a:rPr lang="ru-RU" altLang="ru-RU" sz="2800" dirty="0" smtClean="0"/>
              <a:t>– это уравнение или неравенство, описывающее функцию с использованием её самой, но только с меньшими аргументами. Обычно рекуррентное соотношение описывается в виде системы граничных условий и формулы для общего случая.</a:t>
            </a:r>
          </a:p>
          <a:p>
            <a:pPr>
              <a:buFont typeface="Times New Roman" pitchFamily="18" charset="0"/>
              <a:buNone/>
              <a:defRPr/>
            </a:pPr>
            <a:endParaRPr lang="ru-RU" altLang="ru-RU" sz="2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264275"/>
          </a:xfrm>
        </p:spPr>
        <p:txBody>
          <a:bodyPr/>
          <a:lstStyle/>
          <a:p>
            <a:pPr indent="0">
              <a:buFont typeface="Times New Roman" pitchFamily="18" charset="0"/>
              <a:buNone/>
            </a:pPr>
            <a:r>
              <a:rPr lang="ru-RU" sz="2800" b="1" smtClean="0"/>
              <a:t>Метод не является универсальным, существует ряд ограничений!</a:t>
            </a:r>
          </a:p>
          <a:p>
            <a:pPr indent="0"/>
            <a:r>
              <a:rPr lang="ru-RU" sz="2800" b="1" smtClean="0"/>
              <a:t> </a:t>
            </a:r>
            <a:r>
              <a:rPr lang="ru-RU" sz="2800" smtClean="0"/>
              <a:t>Применим только для оценки временной сложности.</a:t>
            </a:r>
          </a:p>
          <a:p>
            <a:pPr indent="0"/>
            <a:r>
              <a:rPr lang="ru-RU" sz="2800" smtClean="0"/>
              <a:t>Позволяет получить только верхнюю оценку для </a:t>
            </a:r>
            <a:r>
              <a:rPr lang="en-US" sz="2800" smtClean="0"/>
              <a:t>t(n)</a:t>
            </a:r>
            <a:r>
              <a:rPr lang="ru-RU" sz="2800" smtClean="0"/>
              <a:t>.</a:t>
            </a:r>
          </a:p>
          <a:p>
            <a:pPr indent="0"/>
            <a:r>
              <a:rPr lang="ru-RU" sz="2800" smtClean="0"/>
              <a:t>Рекуррентное соотношение для </a:t>
            </a:r>
            <a:r>
              <a:rPr lang="en-US" sz="2800" smtClean="0"/>
              <a:t>t(n)</a:t>
            </a:r>
            <a:r>
              <a:rPr lang="ru-RU" sz="2800" smtClean="0"/>
              <a:t> удается найти только тогда, когда преобразование, уменьшающее значение параметра рекурсии </a:t>
            </a:r>
            <a:r>
              <a:rPr lang="en-US" sz="2800" smtClean="0"/>
              <a:t>n</a:t>
            </a:r>
            <a:r>
              <a:rPr lang="ru-RU" sz="2800" smtClean="0"/>
              <a:t>, линейно относительно </a:t>
            </a:r>
            <a:r>
              <a:rPr lang="en-US" sz="2800" smtClean="0"/>
              <a:t>n</a:t>
            </a:r>
            <a:r>
              <a:rPr lang="ru-RU" sz="2800" smtClean="0"/>
              <a:t>.</a:t>
            </a:r>
          </a:p>
          <a:p>
            <a:pPr indent="0"/>
            <a:r>
              <a:rPr lang="ru-RU" sz="2800" smtClean="0"/>
              <a:t> Если рекуррентное соотношение для </a:t>
            </a:r>
            <a:r>
              <a:rPr lang="en-US" sz="2800" smtClean="0"/>
              <a:t>t(n)</a:t>
            </a:r>
            <a:r>
              <a:rPr lang="ru-RU" sz="2800" smtClean="0"/>
              <a:t> найдено, нет ни какой гарантии, что удастся получить асимптотическую оценку</a:t>
            </a:r>
            <a:r>
              <a:rPr lang="en-US" sz="2800" smtClean="0"/>
              <a:t> </a:t>
            </a:r>
            <a:r>
              <a:rPr lang="ru-RU" sz="2800" smtClean="0"/>
              <a:t>так как </a:t>
            </a:r>
            <a:r>
              <a:rPr lang="ru-RU" sz="2800" b="1" i="1" smtClean="0">
                <a:solidFill>
                  <a:srgbClr val="C00000"/>
                </a:solidFill>
              </a:rPr>
              <a:t>общих методов решения рекуррентных соотношений  - нет!</a:t>
            </a:r>
            <a:endParaRPr lang="ru-RU" sz="2800" smtClean="0">
              <a:solidFill>
                <a:srgbClr val="C00000"/>
              </a:solidFill>
            </a:endParaRPr>
          </a:p>
          <a:p>
            <a:pPr indent="0"/>
            <a:endParaRPr lang="ru-RU" sz="2800" smtClean="0"/>
          </a:p>
          <a:p>
            <a:pPr indent="0"/>
            <a:endParaRPr lang="ru-RU" sz="28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923925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b="1" smtClean="0"/>
              <a:t/>
            </a:r>
            <a:br>
              <a:rPr lang="ru-RU" altLang="ru-RU" b="1" smtClean="0"/>
            </a:br>
            <a:r>
              <a:rPr lang="ru-RU" altLang="ru-RU" sz="3200" b="1" smtClean="0"/>
              <a:t>Методы решения рекуррентных соотношений</a:t>
            </a:r>
            <a:r>
              <a:rPr lang="ru-RU" altLang="ru-RU" b="1" smtClean="0"/>
              <a:t/>
            </a:r>
            <a:br>
              <a:rPr lang="ru-RU" altLang="ru-RU" b="1" smtClean="0"/>
            </a:br>
            <a:endParaRPr lang="ru-RU" altLang="ru-RU" smtClean="0"/>
          </a:p>
        </p:txBody>
      </p:sp>
      <p:sp>
        <p:nvSpPr>
          <p:cNvPr id="119811" name="Содержимое 2"/>
          <p:cNvSpPr>
            <a:spLocks noGrp="1"/>
          </p:cNvSpPr>
          <p:nvPr>
            <p:ph idx="1"/>
          </p:nvPr>
        </p:nvSpPr>
        <p:spPr>
          <a:xfrm>
            <a:off x="179388" y="1196975"/>
            <a:ext cx="8785225" cy="5472113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altLang="ru-RU" b="1" dirty="0" smtClean="0">
                <a:solidFill>
                  <a:srgbClr val="C00000"/>
                </a:solidFill>
              </a:rPr>
              <a:t>1. Метод математической индукции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sz="2800" dirty="0" smtClean="0"/>
              <a:t>Заключается в нахождении функции </a:t>
            </a:r>
            <a:r>
              <a:rPr lang="en-US" sz="2800" dirty="0" smtClean="0"/>
              <a:t>f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), которая мажорировала бы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 для всех значений </a:t>
            </a:r>
            <a:r>
              <a:rPr lang="en-US" sz="2800" dirty="0" smtClean="0"/>
              <a:t>n</a:t>
            </a:r>
            <a:r>
              <a:rPr lang="ru-RU" sz="2800" dirty="0" smtClean="0"/>
              <a:t> (т.е. для всех </a:t>
            </a:r>
            <a:r>
              <a:rPr lang="en-US" sz="2800" dirty="0" smtClean="0"/>
              <a:t>n </a:t>
            </a:r>
            <a:r>
              <a:rPr lang="ru-RU" sz="2800" dirty="0" smtClean="0">
                <a:sym typeface="Symbol"/>
              </a:rPr>
              <a:t></a:t>
            </a:r>
            <a:r>
              <a:rPr lang="ru-RU" sz="2800" dirty="0" smtClean="0"/>
              <a:t> 1 должно выполняться неравенство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 &lt; </a:t>
            </a:r>
            <a:r>
              <a:rPr lang="en-US" sz="2800" dirty="0" smtClean="0"/>
              <a:t>f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)). Часто, для начала, определяется только вид функции </a:t>
            </a:r>
            <a:r>
              <a:rPr lang="en-US" sz="2800" dirty="0" smtClean="0"/>
              <a:t>f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), предполагая, что она зависит от некоторых пока неопределенных параметров (например, </a:t>
            </a:r>
            <a:r>
              <a:rPr lang="en-US" sz="2800" dirty="0" smtClean="0"/>
              <a:t>f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 = an</a:t>
            </a:r>
            <a:r>
              <a:rPr lang="ru-RU" sz="2800" baseline="30000" dirty="0" smtClean="0"/>
              <a:t>2</a:t>
            </a:r>
            <a:r>
              <a:rPr lang="ru-RU" sz="2800" dirty="0" smtClean="0"/>
              <a:t>, где а — неопределенный параметр), затем подбираются такие значения параметров, чтобы для всех значений </a:t>
            </a:r>
            <a:r>
              <a:rPr lang="en-US" sz="2800" dirty="0" smtClean="0"/>
              <a:t>n</a:t>
            </a:r>
            <a:r>
              <a:rPr lang="ru-RU" sz="2800" dirty="0" smtClean="0"/>
              <a:t> выполнялось неравенство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 &lt; f(</a:t>
            </a:r>
            <a:r>
              <a:rPr lang="ru-RU" sz="2800" dirty="0" err="1" smtClean="0"/>
              <a:t>n</a:t>
            </a:r>
            <a:r>
              <a:rPr lang="ru-RU" sz="2800" dirty="0" smtClean="0"/>
              <a:t>). </a:t>
            </a:r>
          </a:p>
          <a:p>
            <a:pPr>
              <a:defRPr/>
            </a:pPr>
            <a:endParaRPr lang="ru-RU" altLang="ru-RU" b="1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2808287"/>
          </a:xfrm>
        </p:spPr>
        <p:txBody>
          <a:bodyPr/>
          <a:lstStyle/>
          <a:p>
            <a:pPr>
              <a:buFont typeface="Times New Roman" pitchFamily="18" charset="0"/>
              <a:buNone/>
            </a:pPr>
            <a:r>
              <a:rPr lang="ru-RU" sz="2400" b="1" smtClean="0"/>
              <a:t>Метод состоит из трех шагов:</a:t>
            </a:r>
          </a:p>
          <a:p>
            <a:r>
              <a:rPr lang="ru-RU" sz="2400" smtClean="0"/>
              <a:t>делается догадка о виде решения;</a:t>
            </a:r>
          </a:p>
          <a:p>
            <a:r>
              <a:rPr lang="ru-RU" sz="2400" smtClean="0"/>
              <a:t>с помощью метода математической индукции доказывается, что решение правильное;</a:t>
            </a:r>
          </a:p>
          <a:p>
            <a:r>
              <a:rPr lang="ru-RU" sz="2400" smtClean="0"/>
              <a:t>вычисляются константы.</a:t>
            </a:r>
          </a:p>
          <a:p>
            <a:pPr>
              <a:buFont typeface="Times New Roman" pitchFamily="18" charset="0"/>
              <a:buNone/>
            </a:pPr>
            <a:r>
              <a:rPr lang="ru-RU" sz="2400" b="1" smtClean="0"/>
              <a:t>Пример 1: </a:t>
            </a:r>
            <a:r>
              <a:rPr lang="ru-RU" sz="2400" smtClean="0"/>
              <a:t>(точное решение).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780928"/>
            <a:ext cx="855345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431800"/>
          </a:xfrm>
        </p:spPr>
        <p:txBody>
          <a:bodyPr>
            <a:normAutofit lnSpcReduction="10000"/>
          </a:bodyPr>
          <a:lstStyle/>
          <a:p>
            <a:r>
              <a:rPr lang="ru-RU" sz="2400" b="1" dirty="0" smtClean="0"/>
              <a:t>Пример 2: </a:t>
            </a:r>
            <a:r>
              <a:rPr lang="ru-RU" sz="2400" dirty="0" smtClean="0"/>
              <a:t>(асимптотическая оценка).</a:t>
            </a:r>
          </a:p>
          <a:p>
            <a:endParaRPr lang="ru-RU" sz="2400" dirty="0" smtClean="0"/>
          </a:p>
        </p:txBody>
      </p:sp>
      <p:sp>
        <p:nvSpPr>
          <p:cNvPr id="144388" name="Rectangle 1"/>
          <p:cNvSpPr>
            <a:spLocks noChangeArrowheads="1"/>
          </p:cNvSpPr>
          <p:nvPr/>
        </p:nvSpPr>
        <p:spPr bwMode="auto">
          <a:xfrm>
            <a:off x="179388" y="1484313"/>
            <a:ext cx="8785225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	Предположим, что T(n)≤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an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log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(n) , где а пока неопределенный параметр. При n=1 эта оценка «не работает», т.к. выражение 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an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log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(n)=0 независимо от значения a. Добавим константу к функции: T(n)≤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an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log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(n)+b. При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n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= 1 эта оценка правильная, если положить b 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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с</a:t>
            </a:r>
            <a:r>
              <a:rPr lang="ru-RU" sz="2400" baseline="-300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. </a:t>
            </a:r>
          </a:p>
          <a:p>
            <a:pPr eaLnBrk="0" hangingPunct="0">
              <a:buClrTx/>
              <a:buSzTx/>
              <a:buFontTx/>
              <a:buNone/>
            </a:pP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	Далее в соответствии с методом математической индукции предполагаем, что для всех k &lt; n выполняется неравенство</a:t>
            </a:r>
          </a:p>
          <a:p>
            <a:pPr eaLnBrk="0" hangingPunct="0">
              <a:buClrTx/>
              <a:buSzTx/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k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 log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k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) +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b 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и попытаемся доказать, что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an log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) +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b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</a:p>
          <a:p>
            <a:pPr eaLnBrk="0" hangingPunct="0">
              <a:buClrTx/>
              <a:buSzTx/>
              <a:buFontTx/>
              <a:buNone/>
            </a:pP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Пусть эта оценка верна для k=n/2, т.е. T(n/2)≤a(n/2)</a:t>
            </a:r>
            <a:r>
              <a:rPr lang="ru-RU" sz="2400" dirty="0" err="1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log</a:t>
            </a:r>
            <a:r>
              <a:rPr lang="ru-RU" sz="2400" dirty="0">
                <a:solidFill>
                  <a:schemeClr val="tx1"/>
                </a:solidFill>
                <a:latin typeface="Calibri" pitchFamily="34" charset="0"/>
                <a:cs typeface="Times New Roman" pitchFamily="18" charset="0"/>
                <a:sym typeface="Symbol" pitchFamily="18" charset="2"/>
              </a:rPr>
              <a:t>(n/2)+b. Подставим ее в исходное соотношение: </a:t>
            </a:r>
          </a:p>
        </p:txBody>
      </p:sp>
      <p:pic>
        <p:nvPicPr>
          <p:cNvPr id="144389" name="Рисунок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713" y="5157788"/>
            <a:ext cx="524986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4390" name="Прямоугольник 6"/>
          <p:cNvSpPr>
            <a:spLocks noChangeArrowheads="1"/>
          </p:cNvSpPr>
          <p:nvPr/>
        </p:nvSpPr>
        <p:spPr bwMode="auto">
          <a:xfrm>
            <a:off x="250825" y="6308725"/>
            <a:ext cx="8713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>
                <a:solidFill>
                  <a:schemeClr val="tx1"/>
                </a:solidFill>
              </a:rPr>
              <a:t>Последнее неравенство получено в предположении, что а </a:t>
            </a:r>
            <a:r>
              <a:rPr lang="ru-RU" sz="2000">
                <a:solidFill>
                  <a:schemeClr val="tx1"/>
                </a:solidFill>
                <a:sym typeface="Symbol" pitchFamily="18" charset="2"/>
              </a:rPr>
              <a:t></a:t>
            </a:r>
            <a:r>
              <a:rPr lang="ru-RU" sz="2000">
                <a:solidFill>
                  <a:schemeClr val="tx1"/>
                </a:solidFill>
              </a:rPr>
              <a:t> с</a:t>
            </a:r>
            <a:r>
              <a:rPr lang="ru-RU" sz="2000" baseline="-25000">
                <a:solidFill>
                  <a:schemeClr val="tx1"/>
                </a:solidFill>
              </a:rPr>
              <a:t>2</a:t>
            </a:r>
            <a:r>
              <a:rPr lang="ru-RU" sz="2000">
                <a:solidFill>
                  <a:schemeClr val="tx1"/>
                </a:solidFill>
              </a:rPr>
              <a:t> + </a:t>
            </a:r>
            <a:r>
              <a:rPr lang="en-US" sz="2000">
                <a:solidFill>
                  <a:schemeClr val="tx1"/>
                </a:solidFill>
              </a:rPr>
              <a:t>b</a:t>
            </a:r>
            <a:r>
              <a:rPr lang="ru-RU" sz="200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547688"/>
            <a:ext cx="5305425" cy="865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400" dirty="0" smtClean="0"/>
              <a:t>Таким образом, оценка </a:t>
            </a:r>
            <a:r>
              <a:rPr lang="en-US" sz="2400" dirty="0" smtClean="0"/>
              <a:t>t</a:t>
            </a:r>
            <a:r>
              <a:rPr lang="ru-RU" sz="2400" dirty="0" smtClean="0"/>
              <a:t>(</a:t>
            </a:r>
            <a:r>
              <a:rPr lang="en-US" sz="2400" dirty="0" smtClean="0"/>
              <a:t>n</a:t>
            </a:r>
            <a:r>
              <a:rPr lang="ru-RU" sz="2400" dirty="0" smtClean="0"/>
              <a:t>) &lt; </a:t>
            </a:r>
            <a:r>
              <a:rPr lang="en-US" sz="2400" dirty="0" smtClean="0"/>
              <a:t>an </a:t>
            </a:r>
            <a:r>
              <a:rPr lang="en-US" sz="2400" dirty="0" err="1" smtClean="0"/>
              <a:t>logn</a:t>
            </a:r>
            <a:r>
              <a:rPr lang="ru-RU" sz="2400" dirty="0" smtClean="0"/>
              <a:t> + </a:t>
            </a:r>
            <a:r>
              <a:rPr lang="en-US" sz="2400" dirty="0" smtClean="0"/>
              <a:t>b</a:t>
            </a:r>
            <a:r>
              <a:rPr lang="ru-RU" sz="2400" dirty="0" smtClean="0"/>
              <a:t> справедлива, если будут выполняться неравенства </a:t>
            </a:r>
            <a:r>
              <a:rPr lang="en-US" sz="2400" dirty="0" smtClean="0"/>
              <a:t>b </a:t>
            </a:r>
            <a:r>
              <a:rPr lang="ru-RU" sz="2400" dirty="0" smtClean="0">
                <a:sym typeface="Symbol"/>
              </a:rPr>
              <a:t></a:t>
            </a:r>
            <a:r>
              <a:rPr lang="ru-RU" sz="2400" dirty="0" smtClean="0"/>
              <a:t> с</a:t>
            </a:r>
            <a:r>
              <a:rPr lang="ru-RU" sz="2400" baseline="-25000" dirty="0" smtClean="0"/>
              <a:t>1</a:t>
            </a:r>
            <a:r>
              <a:rPr lang="ru-RU" sz="2400" dirty="0" smtClean="0"/>
              <a:t> и а </a:t>
            </a:r>
            <a:r>
              <a:rPr lang="ru-RU" sz="2400" dirty="0" smtClean="0">
                <a:sym typeface="Symbol"/>
              </a:rPr>
              <a:t></a:t>
            </a:r>
            <a:r>
              <a:rPr lang="ru-RU" sz="2400" dirty="0" smtClean="0"/>
              <a:t> с</a:t>
            </a:r>
            <a:r>
              <a:rPr lang="ru-RU" sz="2400" baseline="-25000" dirty="0" smtClean="0"/>
              <a:t>2</a:t>
            </a:r>
            <a:r>
              <a:rPr lang="ru-RU" sz="2400" dirty="0" smtClean="0"/>
              <a:t> + </a:t>
            </a:r>
            <a:r>
              <a:rPr lang="en-US" sz="2400" dirty="0" smtClean="0"/>
              <a:t>b</a:t>
            </a:r>
            <a:r>
              <a:rPr lang="ru-RU" sz="2400" dirty="0" smtClean="0"/>
              <a:t>. В данном случае можно удовлетворить этим неравенствам, если положить </a:t>
            </a:r>
            <a:r>
              <a:rPr lang="en-US" sz="2400" dirty="0" smtClean="0"/>
              <a:t>b</a:t>
            </a:r>
            <a:r>
              <a:rPr lang="ru-RU" sz="2400" dirty="0" smtClean="0"/>
              <a:t> = с</a:t>
            </a:r>
            <a:r>
              <a:rPr lang="ru-RU" sz="2400" baseline="-25000" dirty="0" smtClean="0"/>
              <a:t>1</a:t>
            </a:r>
            <a:r>
              <a:rPr lang="ru-RU" sz="2400" dirty="0" smtClean="0"/>
              <a:t> и а = с</a:t>
            </a:r>
            <a:r>
              <a:rPr lang="ru-RU" sz="2400" baseline="-25000" dirty="0" smtClean="0"/>
              <a:t>1</a:t>
            </a:r>
            <a:r>
              <a:rPr lang="ru-RU" sz="2400" dirty="0" smtClean="0"/>
              <a:t> + с</a:t>
            </a:r>
            <a:r>
              <a:rPr lang="ru-RU" sz="2400" baseline="-25000" dirty="0" smtClean="0"/>
              <a:t>2</a:t>
            </a:r>
            <a:r>
              <a:rPr lang="ru-RU" sz="2400" dirty="0" smtClean="0"/>
              <a:t>. Вывод: для всех </a:t>
            </a:r>
            <a:r>
              <a:rPr lang="en-US" sz="2400" dirty="0" smtClean="0"/>
              <a:t>n</a:t>
            </a:r>
            <a:r>
              <a:rPr lang="ru-RU" sz="2400" dirty="0" smtClean="0"/>
              <a:t> &gt; 1 выполняется неравенство                                                      и следовательно </a:t>
            </a:r>
            <a:r>
              <a:rPr lang="en-US" sz="2400" dirty="0" smtClean="0"/>
              <a:t>t</a:t>
            </a:r>
            <a:r>
              <a:rPr lang="ru-RU" sz="2400" dirty="0" smtClean="0"/>
              <a:t>(n) имеет порядок O(</a:t>
            </a:r>
            <a:r>
              <a:rPr lang="ru-RU" sz="2400" dirty="0" err="1" smtClean="0"/>
              <a:t>nlog</a:t>
            </a:r>
            <a:r>
              <a:rPr lang="ru-RU" sz="2400" dirty="0" smtClean="0"/>
              <a:t>(n)).</a:t>
            </a:r>
            <a:endParaRPr lang="en-US" sz="2400" dirty="0" smtClean="0"/>
          </a:p>
          <a:p>
            <a:pPr>
              <a:defRPr/>
            </a:pPr>
            <a:endParaRPr lang="ru-RU" dirty="0"/>
          </a:p>
        </p:txBody>
      </p:sp>
      <p:pic>
        <p:nvPicPr>
          <p:cNvPr id="14541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1700213"/>
            <a:ext cx="36290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/>
            </a:r>
            <a:br>
              <a:rPr lang="ru-RU" smtClean="0"/>
            </a:br>
            <a:endParaRPr lang="ru-RU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sz="2800" b="1" dirty="0" smtClean="0">
                <a:solidFill>
                  <a:srgbClr val="C00000"/>
                </a:solidFill>
              </a:rPr>
              <a:t>2</a:t>
            </a:r>
            <a:r>
              <a:rPr lang="ru-RU" b="1" dirty="0" smtClean="0">
                <a:solidFill>
                  <a:srgbClr val="C00000"/>
                </a:solidFill>
              </a:rPr>
              <a:t>. Оценка решения рекуррентного соотношения методом подстановки. </a:t>
            </a:r>
            <a:endParaRPr lang="ru-RU" altLang="ru-RU" b="1" dirty="0" smtClean="0">
              <a:solidFill>
                <a:srgbClr val="C00000"/>
              </a:solidFill>
            </a:endParaRPr>
          </a:p>
          <a:p>
            <a:pPr indent="0">
              <a:buFont typeface="Times New Roman" pitchFamily="18" charset="0"/>
              <a:buNone/>
              <a:defRPr/>
            </a:pPr>
            <a:r>
              <a:rPr lang="ru-RU" sz="2800" dirty="0" smtClean="0"/>
              <a:t>Суть метода состоит в последовательной подстановке рекурсивного определения, с последующим выявлением общих закономерностей.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sz="2800" dirty="0" smtClean="0"/>
              <a:t>В рекуррентном соотношении в правую часть последовательно подставляются выражения для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m</a:t>
            </a:r>
            <a:r>
              <a:rPr lang="ru-RU" sz="2800" dirty="0" smtClean="0"/>
              <a:t>), </a:t>
            </a:r>
            <a:r>
              <a:rPr lang="ru-RU" sz="2800" dirty="0" err="1" smtClean="0"/>
              <a:t>m</a:t>
            </a:r>
            <a:r>
              <a:rPr lang="ru-RU" sz="2800" dirty="0" smtClean="0"/>
              <a:t> &lt; </a:t>
            </a:r>
            <a:r>
              <a:rPr lang="en-US" sz="2800" dirty="0" smtClean="0"/>
              <a:t>n</a:t>
            </a:r>
            <a:r>
              <a:rPr lang="ru-RU" sz="2800" dirty="0" smtClean="0"/>
              <a:t>, так, чтобы исключить из правой части все выражения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m</a:t>
            </a:r>
            <a:r>
              <a:rPr lang="ru-RU" sz="2800" dirty="0" smtClean="0"/>
              <a:t>) для </a:t>
            </a:r>
            <a:r>
              <a:rPr lang="en-US" sz="2800" dirty="0" smtClean="0"/>
              <a:t>m</a:t>
            </a:r>
            <a:r>
              <a:rPr lang="ru-RU" sz="2800" dirty="0" smtClean="0"/>
              <a:t> &gt; 1, оставляя только </a:t>
            </a:r>
            <a:r>
              <a:rPr lang="en-US" sz="2800" dirty="0" smtClean="0"/>
              <a:t>t</a:t>
            </a:r>
            <a:r>
              <a:rPr lang="ru-RU" sz="2800" dirty="0" smtClean="0"/>
              <a:t>(1). Поскольку </a:t>
            </a:r>
            <a:r>
              <a:rPr lang="en-US" sz="2800" dirty="0" smtClean="0"/>
              <a:t>t</a:t>
            </a:r>
            <a:r>
              <a:rPr lang="ru-RU" sz="2800" dirty="0" smtClean="0"/>
              <a:t>(1) всегда является константой, то в результате получим формулу для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), содержащую только </a:t>
            </a:r>
            <a:r>
              <a:rPr lang="en-US" sz="2800" dirty="0" smtClean="0"/>
              <a:t>n</a:t>
            </a:r>
            <a:r>
              <a:rPr lang="ru-RU" sz="2800" dirty="0" smtClean="0"/>
              <a:t> и константы. Такая формула называется "замкнутой формой" для </a:t>
            </a:r>
            <a:r>
              <a:rPr lang="en-US" sz="2800" dirty="0" smtClean="0"/>
              <a:t>t</a:t>
            </a:r>
            <a:r>
              <a:rPr lang="ru-RU" sz="2800" dirty="0" smtClean="0"/>
              <a:t>(</a:t>
            </a:r>
            <a:r>
              <a:rPr lang="en-US" sz="2800" dirty="0" smtClean="0"/>
              <a:t>n</a:t>
            </a:r>
            <a:r>
              <a:rPr lang="ru-RU" sz="2800" dirty="0" smtClean="0"/>
              <a:t>). </a:t>
            </a:r>
            <a:endParaRPr lang="ru-RU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505825" cy="431800"/>
          </a:xfrm>
        </p:spPr>
        <p:txBody>
          <a:bodyPr>
            <a:normAutofit lnSpcReduction="10000"/>
          </a:bodyPr>
          <a:lstStyle/>
          <a:p>
            <a:pPr>
              <a:buFont typeface="Times New Roman" pitchFamily="18" charset="0"/>
              <a:buNone/>
            </a:pPr>
            <a:r>
              <a:rPr lang="ru-RU" sz="2400" b="1" smtClean="0"/>
              <a:t>Пример 3.</a:t>
            </a:r>
            <a:endParaRPr lang="ru-RU" sz="2400" smtClean="0"/>
          </a:p>
          <a:p>
            <a:endParaRPr lang="ru-RU" smtClean="0"/>
          </a:p>
        </p:txBody>
      </p:sp>
      <p:pic>
        <p:nvPicPr>
          <p:cNvPr id="14745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836613"/>
            <a:ext cx="8837612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431800"/>
          </a:xfrm>
        </p:spPr>
        <p:txBody>
          <a:bodyPr>
            <a:normAutofit lnSpcReduction="10000"/>
          </a:bodyPr>
          <a:lstStyle/>
          <a:p>
            <a:pPr>
              <a:buFont typeface="Times New Roman" pitchFamily="18" charset="0"/>
              <a:buNone/>
            </a:pPr>
            <a:r>
              <a:rPr lang="ru-RU" sz="2400" b="1" smtClean="0"/>
              <a:t>Пример 4: </a:t>
            </a:r>
            <a:r>
              <a:rPr lang="ru-RU" sz="2400" smtClean="0"/>
              <a:t>рекурсивная программа вычисления факториала.</a:t>
            </a:r>
          </a:p>
          <a:p>
            <a:endParaRPr lang="ru-RU" smtClean="0"/>
          </a:p>
        </p:txBody>
      </p:sp>
      <p:pic>
        <p:nvPicPr>
          <p:cNvPr id="148483" name="Рисунок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836613"/>
            <a:ext cx="874395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431800"/>
          </a:xfrm>
        </p:spPr>
        <p:txBody>
          <a:bodyPr>
            <a:normAutofit lnSpcReduction="10000"/>
          </a:bodyPr>
          <a:lstStyle/>
          <a:p>
            <a:pPr>
              <a:buFont typeface="Times New Roman" pitchFamily="18" charset="0"/>
              <a:buNone/>
            </a:pPr>
            <a:r>
              <a:rPr lang="ru-RU" sz="2400" b="1" smtClean="0"/>
              <a:t>Пример 5: </a:t>
            </a:r>
            <a:r>
              <a:rPr lang="ru-RU" sz="2400" smtClean="0"/>
              <a:t>(Вернемся к рекуррентному соотношению(*).</a:t>
            </a:r>
          </a:p>
          <a:p>
            <a:endParaRPr lang="ru-RU" smtClean="0"/>
          </a:p>
        </p:txBody>
      </p:sp>
      <p:pic>
        <p:nvPicPr>
          <p:cNvPr id="14950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765175"/>
            <a:ext cx="8677275" cy="493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694</Words>
  <Application>Microsoft Office PowerPoint</Application>
  <PresentationFormat>Экран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Тема Office</vt:lpstr>
      <vt:lpstr>  Методы анализа сложности рекурсивных алгоритмов. </vt:lpstr>
      <vt:lpstr>Презентация PowerPoint</vt:lpstr>
      <vt:lpstr>Презентация PowerPoint</vt:lpstr>
      <vt:lpstr> Методы решения рекуррентных соотношений </vt:lpstr>
      <vt:lpstr>Презентация PowerPoint</vt:lpstr>
      <vt:lpstr>Презентация PowerPoint</vt:lpstr>
      <vt:lpstr>Презентация PowerPoint</vt:lpstr>
      <vt:lpstr>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Методы анализа сложности рекурсивных алгоритмов. </dc:title>
  <dc:creator>Mary</dc:creator>
  <cp:lastModifiedBy>Mary Hamster</cp:lastModifiedBy>
  <cp:revision>3</cp:revision>
  <dcterms:created xsi:type="dcterms:W3CDTF">2017-04-24T11:50:00Z</dcterms:created>
  <dcterms:modified xsi:type="dcterms:W3CDTF">2022-04-11T15:10:56Z</dcterms:modified>
</cp:coreProperties>
</file>