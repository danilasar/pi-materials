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5" r:id="rId2"/>
    <p:sldId id="306" r:id="rId3"/>
    <p:sldId id="307" r:id="rId4"/>
    <p:sldId id="308" r:id="rId5"/>
    <p:sldId id="309" r:id="rId6"/>
    <p:sldId id="311" r:id="rId7"/>
    <p:sldId id="312" r:id="rId8"/>
    <p:sldId id="313" r:id="rId9"/>
    <p:sldId id="324" r:id="rId10"/>
    <p:sldId id="332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9" r:id="rId21"/>
    <p:sldId id="325" r:id="rId22"/>
    <p:sldId id="326" r:id="rId23"/>
    <p:sldId id="327" r:id="rId24"/>
    <p:sldId id="328" r:id="rId25"/>
    <p:sldId id="330" r:id="rId26"/>
    <p:sldId id="331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C2694-9C20-4D77-B30D-F231A55AAC93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59B67-DC7B-4505-A0A4-C77105E9C20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11775-370F-43E5-B317-D1C1DB3A6EE7}" type="datetimeFigureOut">
              <a:rPr lang="ru-RU" smtClean="0"/>
              <a:pPr/>
              <a:t>03.04.2023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F969B-4542-4858-A42A-0FDF641BD19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923925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r>
              <a:rPr lang="ru-RU" altLang="ru-RU" sz="3200" b="1" dirty="0"/>
              <a:t>Вычисление времени выполнения </a:t>
            </a:r>
            <a:r>
              <a:rPr lang="ru-RU" altLang="ru-RU" sz="3200" b="1" dirty="0" err="1"/>
              <a:t>нерекурсивных</a:t>
            </a:r>
            <a:r>
              <a:rPr lang="ru-RU" altLang="ru-RU" sz="3200" b="1" dirty="0"/>
              <a:t> алгоритмов </a:t>
            </a:r>
            <a:endParaRPr lang="ru-RU" altLang="ru-RU" sz="32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179388" y="1052513"/>
            <a:ext cx="8785225" cy="5472112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I</a:t>
            </a:r>
            <a:r>
              <a:rPr lang="ru-RU" sz="2800" b="1" dirty="0">
                <a:solidFill>
                  <a:srgbClr val="C00000"/>
                </a:solidFill>
              </a:rPr>
              <a:t>. Нахождение функции трудоемкости по фактическому количеству элементарных операций.</a:t>
            </a:r>
            <a:endParaRPr lang="en-US" sz="2800" b="1" dirty="0">
              <a:solidFill>
                <a:srgbClr val="C00000"/>
              </a:solidFill>
            </a:endParaRPr>
          </a:p>
          <a:p>
            <a:pPr indent="0">
              <a:buFont typeface="Times New Roman" pitchFamily="18" charset="0"/>
              <a:buNone/>
              <a:defRPr/>
            </a:pPr>
            <a:r>
              <a:rPr lang="ru-RU" sz="2800" dirty="0"/>
              <a:t>В качестве «элементарных» операций алгоритма, представленного в формальной системе </a:t>
            </a:r>
            <a:r>
              <a:rPr lang="en-US" sz="2800" dirty="0"/>
              <a:t>RAM </a:t>
            </a:r>
            <a:r>
              <a:rPr lang="ru-RU" sz="2800" dirty="0"/>
              <a:t>будем использовать следующие: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800" dirty="0"/>
              <a:t>1) простое присваивание: </a:t>
            </a:r>
            <a:r>
              <a:rPr lang="ru-RU" sz="2800" i="1" dirty="0"/>
              <a:t>а </a:t>
            </a:r>
            <a:r>
              <a:rPr lang="en-US" sz="2800" i="1" dirty="0">
                <a:sym typeface="Symbol"/>
              </a:rPr>
              <a:t></a:t>
            </a:r>
            <a:r>
              <a:rPr lang="en-US" sz="2800" i="1" dirty="0"/>
              <a:t> b</a:t>
            </a:r>
            <a:r>
              <a:rPr lang="ru-RU" sz="2800" dirty="0"/>
              <a:t>;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800" dirty="0"/>
              <a:t>2) одномерная индексация </a:t>
            </a:r>
            <a:r>
              <a:rPr lang="en-US" sz="2800" i="1" dirty="0"/>
              <a:t>a</a:t>
            </a:r>
            <a:r>
              <a:rPr lang="ru-RU" sz="2800" i="1" dirty="0"/>
              <a:t>[</a:t>
            </a:r>
            <a:r>
              <a:rPr lang="en-US" sz="2800" i="1" dirty="0" err="1"/>
              <a:t>i</a:t>
            </a:r>
            <a:r>
              <a:rPr lang="ru-RU" sz="2800" i="1" dirty="0"/>
              <a:t>]</a:t>
            </a:r>
            <a:r>
              <a:rPr lang="ru-RU" sz="2800" dirty="0"/>
              <a:t>;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800" dirty="0"/>
              <a:t>3) арифметические операции: </a:t>
            </a:r>
            <a:r>
              <a:rPr lang="ru-RU" sz="2800" i="1" dirty="0"/>
              <a:t>(*, /, -, +);</a:t>
            </a:r>
            <a:endParaRPr lang="ru-RU" sz="2800" dirty="0"/>
          </a:p>
          <a:p>
            <a:pPr>
              <a:buFont typeface="Times New Roman" pitchFamily="18" charset="0"/>
              <a:buNone/>
              <a:defRPr/>
            </a:pPr>
            <a:r>
              <a:rPr lang="ru-RU" sz="2800" dirty="0"/>
              <a:t>4) операции сравнения;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800" dirty="0"/>
              <a:t>5) логические операции. </a:t>
            </a: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936625"/>
          </a:xfrm>
        </p:spPr>
        <p:txBody>
          <a:bodyPr>
            <a:normAutofit lnSpcReduction="10000"/>
          </a:bodyPr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sz="2800" b="1" dirty="0"/>
              <a:t>Анализ трудоемкости основных алгоритмических конструкций</a:t>
            </a:r>
          </a:p>
          <a:p>
            <a:pPr>
              <a:buFont typeface="Times New Roman" pitchFamily="18" charset="0"/>
              <a:buNone/>
              <a:defRPr/>
            </a:pPr>
            <a:endParaRPr lang="ru-RU" sz="2800" b="1" dirty="0"/>
          </a:p>
        </p:txBody>
      </p:sp>
      <p:pic>
        <p:nvPicPr>
          <p:cNvPr id="11264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96975"/>
            <a:ext cx="83439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4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3213100"/>
            <a:ext cx="835342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260350"/>
            <a:ext cx="87820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Заголовок 2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563562"/>
          </a:xfrm>
        </p:spPr>
        <p:txBody>
          <a:bodyPr>
            <a:normAutofit fontScale="90000"/>
          </a:bodyPr>
          <a:lstStyle/>
          <a:p>
            <a:br>
              <a:rPr lang="ru-RU" altLang="ru-RU" sz="2800" b="1"/>
            </a:br>
            <a:r>
              <a:rPr lang="ru-RU" altLang="ru-RU" sz="2800" b="1">
                <a:solidFill>
                  <a:srgbClr val="C00000"/>
                </a:solidFill>
              </a:rPr>
              <a:t>Примеры анализа простых алгоритмов</a:t>
            </a:r>
            <a:br>
              <a:rPr lang="ru-RU" altLang="ru-RU" b="1"/>
            </a:br>
            <a:endParaRPr lang="ru-RU" altLang="ru-RU"/>
          </a:p>
        </p:txBody>
      </p:sp>
      <p:sp>
        <p:nvSpPr>
          <p:cNvPr id="97282" name="Заголовок 1"/>
          <p:cNvSpPr>
            <a:spLocks noGrp="1"/>
          </p:cNvSpPr>
          <p:nvPr>
            <p:ph idx="1"/>
          </p:nvPr>
        </p:nvSpPr>
        <p:spPr>
          <a:xfrm>
            <a:off x="250825" y="549275"/>
            <a:ext cx="8642350" cy="6308725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sz="2800" b="1" i="1" dirty="0"/>
              <a:t>Пример 1. Задача суммирования элементов квадратной матрицы</a:t>
            </a:r>
            <a:endParaRPr lang="ru-RU" sz="2800" b="1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400" dirty="0"/>
              <a:t>Алгоритм выполняет одинаковое количество операций при фиксированном значении </a:t>
            </a:r>
            <a:r>
              <a:rPr lang="en-US" sz="2400" dirty="0"/>
              <a:t>n</a:t>
            </a:r>
            <a:r>
              <a:rPr lang="ru-RU" sz="2400" dirty="0"/>
              <a:t>, и следовательно является количественно-зависимым.</a:t>
            </a:r>
          </a:p>
          <a:p>
            <a:pPr marL="0" indent="0">
              <a:buFont typeface="Times New Roman" pitchFamily="18" charset="0"/>
              <a:buNone/>
              <a:defRPr/>
            </a:pPr>
            <a:r>
              <a:rPr lang="en-US" sz="2400" i="1" dirty="0"/>
              <a:t>Sum </a:t>
            </a:r>
            <a:r>
              <a:rPr lang="en-US" sz="2400" i="1" dirty="0">
                <a:sym typeface="Symbol"/>
              </a:rPr>
              <a:t></a:t>
            </a:r>
            <a:r>
              <a:rPr lang="en-US" sz="2400" i="1" dirty="0"/>
              <a:t> 0</a:t>
            </a:r>
            <a:endParaRPr lang="ru-RU" sz="2400" i="1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For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i="1" dirty="0">
                <a:sym typeface="Symbol"/>
              </a:rPr>
              <a:t></a:t>
            </a:r>
            <a:r>
              <a:rPr lang="en-US" sz="2400" i="1" dirty="0"/>
              <a:t> 0 to n-1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For j </a:t>
            </a:r>
            <a:r>
              <a:rPr lang="en-US" sz="2400" i="1" dirty="0">
                <a:sym typeface="Symbol"/>
              </a:rPr>
              <a:t></a:t>
            </a:r>
            <a:r>
              <a:rPr lang="en-US" sz="2400" i="1" dirty="0"/>
              <a:t> 0 to n-1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			Sum </a:t>
            </a:r>
            <a:r>
              <a:rPr lang="en-US" sz="2400" i="1" dirty="0">
                <a:sym typeface="Symbol"/>
              </a:rPr>
              <a:t></a:t>
            </a:r>
            <a:r>
              <a:rPr lang="en-US" sz="2400" i="1" dirty="0"/>
              <a:t> Sum + A[</a:t>
            </a:r>
            <a:r>
              <a:rPr lang="en-US" sz="2400" i="1" dirty="0" err="1"/>
              <a:t>i</a:t>
            </a:r>
            <a:r>
              <a:rPr lang="en-US" sz="2400" i="1" dirty="0"/>
              <a:t>][j]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end for</a:t>
            </a:r>
            <a:endParaRPr lang="ru-RU" sz="2400" dirty="0"/>
          </a:p>
          <a:p>
            <a:pPr indent="0">
              <a:buFont typeface="Times New Roman" pitchFamily="18" charset="0"/>
              <a:buNone/>
              <a:defRPr/>
            </a:pPr>
            <a:r>
              <a:rPr lang="en-US" sz="2800" b="1" i="1" dirty="0"/>
              <a:t>T</a:t>
            </a:r>
            <a:r>
              <a:rPr lang="en-US" sz="2800" b="1" i="1" baseline="-25000" dirty="0"/>
              <a:t>A</a:t>
            </a:r>
            <a:r>
              <a:rPr lang="ru-RU" sz="2800" b="1" i="1" dirty="0"/>
              <a:t>(</a:t>
            </a:r>
            <a:r>
              <a:rPr lang="en-US" sz="2800" b="1" i="1" dirty="0"/>
              <a:t>n</a:t>
            </a:r>
            <a:r>
              <a:rPr lang="ru-RU" sz="2800" b="1" i="1" dirty="0"/>
              <a:t>)=</a:t>
            </a:r>
            <a:r>
              <a:rPr lang="en-US" sz="2800" b="1" i="1" dirty="0"/>
              <a:t>1+</a:t>
            </a:r>
            <a:r>
              <a:rPr lang="ru-RU" sz="2800" b="1" i="1" dirty="0"/>
              <a:t>1</a:t>
            </a:r>
            <a:r>
              <a:rPr lang="en-US" sz="2800" b="1" i="1" dirty="0"/>
              <a:t>+3n</a:t>
            </a:r>
            <a:r>
              <a:rPr lang="ru-RU" sz="2800" b="1" i="1" dirty="0"/>
              <a:t> </a:t>
            </a:r>
            <a:r>
              <a:rPr lang="en-US" sz="2800" b="1" i="1" dirty="0"/>
              <a:t>+</a:t>
            </a:r>
            <a:r>
              <a:rPr lang="ru-RU" sz="2800" b="1" i="1" dirty="0"/>
              <a:t> </a:t>
            </a:r>
            <a:r>
              <a:rPr lang="en-US" sz="2800" b="1" i="1" dirty="0"/>
              <a:t>n</a:t>
            </a:r>
            <a:r>
              <a:rPr lang="ru-RU" sz="2800" b="1" i="1" dirty="0"/>
              <a:t> (</a:t>
            </a:r>
            <a:r>
              <a:rPr lang="en-US" sz="2800" b="1" i="1" dirty="0"/>
              <a:t>1+</a:t>
            </a:r>
            <a:r>
              <a:rPr lang="ru-RU" sz="2800" b="1" i="1" dirty="0"/>
              <a:t>3</a:t>
            </a:r>
            <a:r>
              <a:rPr lang="en-US" sz="2800" b="1" i="1" dirty="0"/>
              <a:t>n</a:t>
            </a:r>
            <a:r>
              <a:rPr lang="ru-RU" sz="2800" b="1" i="1" dirty="0"/>
              <a:t>+4</a:t>
            </a:r>
            <a:r>
              <a:rPr lang="en-US" sz="2800" b="1" i="1" dirty="0"/>
              <a:t>n</a:t>
            </a:r>
            <a:r>
              <a:rPr lang="ru-RU" sz="2800" b="1" i="1" dirty="0"/>
              <a:t>)=7 </a:t>
            </a:r>
            <a:r>
              <a:rPr lang="en-US" sz="2800" b="1" i="1" dirty="0"/>
              <a:t>n</a:t>
            </a:r>
            <a:r>
              <a:rPr lang="ru-RU" sz="2800" b="1" i="1" baseline="30000" dirty="0"/>
              <a:t> 2</a:t>
            </a:r>
            <a:r>
              <a:rPr lang="ru-RU" sz="2800" b="1" i="1" dirty="0"/>
              <a:t>+4*</a:t>
            </a:r>
            <a:r>
              <a:rPr lang="en-US" sz="2800" b="1" i="1" dirty="0"/>
              <a:t>n</a:t>
            </a:r>
            <a:r>
              <a:rPr lang="ru-RU" sz="2800" b="1" i="1" dirty="0"/>
              <a:t> +</a:t>
            </a:r>
            <a:r>
              <a:rPr lang="en-US" sz="2800" b="1" i="1" dirty="0"/>
              <a:t>2</a:t>
            </a:r>
            <a:r>
              <a:rPr lang="ru-RU" sz="2800" b="1" i="1" dirty="0"/>
              <a:t> = </a:t>
            </a:r>
            <a:r>
              <a:rPr lang="en-US" sz="2800" b="1" i="1" dirty="0">
                <a:sym typeface="Symbol" pitchFamily="18" charset="2"/>
              </a:rPr>
              <a:t></a:t>
            </a:r>
            <a:r>
              <a:rPr lang="ru-RU" sz="2800" b="1" i="1" dirty="0"/>
              <a:t>(</a:t>
            </a:r>
            <a:r>
              <a:rPr lang="en-US" sz="2800" b="1" i="1" dirty="0"/>
              <a:t>n</a:t>
            </a:r>
            <a:r>
              <a:rPr lang="ru-RU" sz="2800" b="1" i="1" baseline="30000" dirty="0"/>
              <a:t> 2</a:t>
            </a:r>
            <a:r>
              <a:rPr lang="ru-RU" sz="2800" b="1" i="1" dirty="0"/>
              <a:t>)</a:t>
            </a:r>
            <a:r>
              <a:rPr lang="ru-RU" sz="2400" dirty="0"/>
              <a:t>.</a:t>
            </a:r>
          </a:p>
          <a:p>
            <a:pPr>
              <a:buFont typeface="Times New Roman" pitchFamily="18" charset="0"/>
              <a:buNone/>
              <a:defRPr/>
            </a:pPr>
            <a:endParaRPr lang="ru-RU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852487"/>
          </a:xfrm>
        </p:spPr>
        <p:txBody>
          <a:bodyPr>
            <a:normAutofit fontScale="90000"/>
          </a:bodyPr>
          <a:lstStyle/>
          <a:p>
            <a:br>
              <a:rPr lang="ru-RU" altLang="ru-RU" sz="2800" b="1" i="1"/>
            </a:br>
            <a:br>
              <a:rPr lang="ru-RU" altLang="ru-RU" sz="2800" b="1" i="1"/>
            </a:br>
            <a:br>
              <a:rPr lang="ru-RU" altLang="ru-RU" b="1"/>
            </a:br>
            <a:endParaRPr lang="ru-RU" altLang="ru-RU"/>
          </a:p>
        </p:txBody>
      </p:sp>
      <p:sp>
        <p:nvSpPr>
          <p:cNvPr id="98307" name="Содержимое 4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669087"/>
          </a:xfrm>
        </p:spPr>
        <p:txBody>
          <a:bodyPr>
            <a:normAutofit fontScale="92500" lnSpcReduction="20000"/>
          </a:bodyPr>
          <a:lstStyle/>
          <a:p>
            <a:pPr>
              <a:buFont typeface="Times New Roman" pitchFamily="18" charset="0"/>
              <a:buNone/>
              <a:defRPr/>
            </a:pPr>
            <a:r>
              <a:rPr lang="ru-RU" sz="2800" b="1" i="1" dirty="0"/>
              <a:t>Пример 2. Задача поиска максимума в массиве</a:t>
            </a:r>
            <a:endParaRPr lang="ru-RU" sz="2800" b="1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400" dirty="0"/>
              <a:t>Данный алгоритм является</a:t>
            </a:r>
            <a:r>
              <a:rPr lang="en-US" sz="2400" dirty="0"/>
              <a:t> </a:t>
            </a:r>
            <a:r>
              <a:rPr lang="ru-RU" sz="2400" dirty="0" err="1"/>
              <a:t>порядкого</a:t>
            </a:r>
            <a:r>
              <a:rPr lang="ru-RU" sz="2400" dirty="0"/>
              <a:t>-зависимым, поэтому для фиксированной размерности исходных данных необходимо проводить анализ для худшего, лучшего и среднего случая.</a:t>
            </a:r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Max </a:t>
            </a:r>
            <a:r>
              <a:rPr lang="ru-RU" sz="2400" i="1" dirty="0">
                <a:sym typeface="Symbol"/>
              </a:rPr>
              <a:t></a:t>
            </a:r>
            <a:r>
              <a:rPr lang="en-US" sz="2400" i="1" dirty="0"/>
              <a:t> S[0]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For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i="1" dirty="0">
                <a:sym typeface="Symbol"/>
              </a:rPr>
              <a:t></a:t>
            </a:r>
            <a:r>
              <a:rPr lang="en-US" sz="2400" i="1" dirty="0"/>
              <a:t> 1 to n</a:t>
            </a:r>
            <a:r>
              <a:rPr lang="ru-RU" sz="2400" i="1" dirty="0"/>
              <a:t>-1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	if Max &lt; S[</a:t>
            </a:r>
            <a:r>
              <a:rPr lang="en-US" sz="2400" i="1" dirty="0" err="1"/>
              <a:t>i</a:t>
            </a:r>
            <a:r>
              <a:rPr lang="en-US" sz="2400" i="1" dirty="0"/>
              <a:t>]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 		then 	Max </a:t>
            </a:r>
            <a:r>
              <a:rPr lang="ru-RU" sz="2400" i="1" dirty="0">
                <a:sym typeface="Symbol"/>
              </a:rPr>
              <a:t></a:t>
            </a:r>
            <a:r>
              <a:rPr lang="en-US" sz="2400" i="1" dirty="0"/>
              <a:t> S[</a:t>
            </a:r>
            <a:r>
              <a:rPr lang="en-US" sz="2400" i="1" dirty="0" err="1"/>
              <a:t>i</a:t>
            </a:r>
            <a:r>
              <a:rPr lang="en-US" sz="2400" i="1" dirty="0"/>
              <a:t>] 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en-US" sz="2400" i="1" dirty="0"/>
              <a:t>end for</a:t>
            </a: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ru-RU" sz="2800" b="1" dirty="0"/>
              <a:t>Худший случай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sz="2400" dirty="0"/>
              <a:t>Максимальное количество </a:t>
            </a:r>
            <a:r>
              <a:rPr lang="ru-RU" sz="2400" dirty="0" err="1"/>
              <a:t>переприсваиваний</a:t>
            </a:r>
            <a:r>
              <a:rPr lang="ru-RU" sz="2400" dirty="0"/>
              <a:t> максимума (на каждом проходе цикла) будет в том случае, если элементы массива отсортированы по возрастанию. Трудоемкость алгоритма в этом случае равна: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400" i="1" dirty="0"/>
              <a:t>	</a:t>
            </a:r>
            <a:r>
              <a:rPr lang="de-DE" sz="2400" b="1" i="1" dirty="0"/>
              <a:t>T</a:t>
            </a:r>
            <a:r>
              <a:rPr lang="de-DE" sz="2400" b="1" i="1" baseline="-25000" dirty="0"/>
              <a:t>A</a:t>
            </a:r>
            <a:r>
              <a:rPr lang="de-DE" sz="2400" b="1" i="1" baseline="30000" dirty="0"/>
              <a:t>^</a:t>
            </a:r>
            <a:r>
              <a:rPr lang="de-DE" sz="2400" b="1" i="1" dirty="0"/>
              <a:t>(n)=</a:t>
            </a:r>
            <a:r>
              <a:rPr lang="ru-RU" sz="2400" b="1" i="1" dirty="0"/>
              <a:t>2</a:t>
            </a:r>
            <a:r>
              <a:rPr lang="de-DE" sz="2400" b="1" i="1" dirty="0"/>
              <a:t>+1+</a:t>
            </a:r>
            <a:r>
              <a:rPr lang="ru-RU" sz="2400" b="1" i="1" dirty="0"/>
              <a:t>3</a:t>
            </a:r>
            <a:r>
              <a:rPr lang="de-DE" sz="2400" b="1" i="1" dirty="0"/>
              <a:t> (n-1)</a:t>
            </a:r>
            <a:r>
              <a:rPr lang="ru-RU" sz="2400" b="1" i="1" dirty="0"/>
              <a:t>+(</a:t>
            </a:r>
            <a:r>
              <a:rPr lang="en-US" sz="2400" b="1" i="1" dirty="0"/>
              <a:t>n</a:t>
            </a:r>
            <a:r>
              <a:rPr lang="ru-RU" sz="2400" b="1" i="1" dirty="0"/>
              <a:t>-1)</a:t>
            </a:r>
            <a:r>
              <a:rPr lang="de-DE" sz="2400" b="1" i="1" dirty="0"/>
              <a:t> (2+2)=7 n - 4.</a:t>
            </a:r>
            <a:endParaRPr lang="ru-RU" sz="2400" b="1" dirty="0"/>
          </a:p>
          <a:p>
            <a:pPr>
              <a:buFont typeface="Times New Roman" pitchFamily="18" charset="0"/>
              <a:buNone/>
              <a:defRPr/>
            </a:pPr>
            <a:r>
              <a:rPr lang="ru-RU" sz="2800" b="1" dirty="0"/>
              <a:t>Лучший случай</a:t>
            </a:r>
          </a:p>
          <a:p>
            <a:pPr>
              <a:defRPr/>
            </a:pPr>
            <a:r>
              <a:rPr lang="ru-RU" sz="2400" dirty="0"/>
              <a:t>Минимальное количество </a:t>
            </a:r>
            <a:r>
              <a:rPr lang="ru-RU" sz="2400" dirty="0" err="1"/>
              <a:t>переприсваивания</a:t>
            </a:r>
            <a:r>
              <a:rPr lang="ru-RU" sz="2400" dirty="0"/>
              <a:t> максимума будет в том случае, если максимальный элемент расположен на первом месте в массиве. Трудоемкость алгоритма в этом случае равна: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400" b="1" i="1" dirty="0"/>
              <a:t>	</a:t>
            </a:r>
            <a:r>
              <a:rPr lang="en-US" sz="2400" b="1" i="1" dirty="0"/>
              <a:t> T</a:t>
            </a:r>
            <a:r>
              <a:rPr lang="ru-RU" sz="2400" b="1" i="1" baseline="-25000" dirty="0"/>
              <a:t>a</a:t>
            </a:r>
            <a:r>
              <a:rPr lang="ru-RU" sz="2400" b="1" i="1" baseline="30000" dirty="0">
                <a:sym typeface="Symbol"/>
              </a:rPr>
              <a:t></a:t>
            </a:r>
            <a:r>
              <a:rPr lang="ru-RU" sz="2400" b="1" i="1" dirty="0"/>
              <a:t>(</a:t>
            </a:r>
            <a:r>
              <a:rPr lang="en-US" sz="2400" b="1" i="1" dirty="0"/>
              <a:t>n</a:t>
            </a:r>
            <a:r>
              <a:rPr lang="ru-RU" sz="2400" b="1" i="1" dirty="0"/>
              <a:t>)</a:t>
            </a:r>
            <a:r>
              <a:rPr lang="ru-RU" sz="2400" b="1" dirty="0"/>
              <a:t> </a:t>
            </a:r>
            <a:r>
              <a:rPr lang="de-DE" sz="2400" b="1" i="1" dirty="0"/>
              <a:t>=2+1+3 (n-1) +2(n-1)=5 n - 2.</a:t>
            </a:r>
            <a:endParaRPr lang="ru-RU" sz="2400" b="1" i="1" dirty="0"/>
          </a:p>
          <a:p>
            <a:pPr>
              <a:buFont typeface="Times New Roman" pitchFamily="18" charset="0"/>
              <a:buNone/>
              <a:defRPr/>
            </a:pPr>
            <a:endParaRPr lang="ru-RU" sz="2400" b="1" dirty="0"/>
          </a:p>
          <a:p>
            <a:pPr>
              <a:buFont typeface="Times New Roman" pitchFamily="18" charset="0"/>
              <a:buNone/>
              <a:defRPr/>
            </a:pPr>
            <a:endParaRPr lang="ru-RU" sz="2400" b="1" dirty="0"/>
          </a:p>
          <a:p>
            <a:pPr>
              <a:buFont typeface="Times New Roman" pitchFamily="18" charset="0"/>
              <a:buNone/>
              <a:defRPr/>
            </a:pPr>
            <a:endParaRPr lang="ru-RU" sz="2400" b="1" dirty="0"/>
          </a:p>
          <a:p>
            <a:pPr>
              <a:buFont typeface="Times New Roman" pitchFamily="18" charset="0"/>
              <a:buNone/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3716338"/>
          </a:xfrm>
        </p:spPr>
        <p:txBody>
          <a:bodyPr>
            <a:normAutofit fontScale="55000" lnSpcReduction="20000"/>
          </a:bodyPr>
          <a:lstStyle/>
          <a:p>
            <a:pPr>
              <a:buFont typeface="Times New Roman" pitchFamily="18" charset="0"/>
              <a:buNone/>
              <a:defRPr/>
            </a:pPr>
            <a:r>
              <a:rPr lang="ru-RU" sz="2800" b="1" dirty="0"/>
              <a:t>Средний случай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400" dirty="0"/>
              <a:t>	</a:t>
            </a:r>
            <a:r>
              <a:rPr lang="ru-RU" sz="3400" b="1" i="1" dirty="0">
                <a:solidFill>
                  <a:srgbClr val="C00000"/>
                </a:solidFill>
              </a:rPr>
              <a:t>Элементарное усреднение 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3400" b="1" i="1" dirty="0">
                <a:solidFill>
                  <a:srgbClr val="C00000"/>
                </a:solidFill>
              </a:rPr>
              <a:t>	</a:t>
            </a:r>
            <a:r>
              <a:rPr lang="en-US" sz="3400" b="1" i="1" dirty="0"/>
              <a:t>T</a:t>
            </a:r>
            <a:r>
              <a:rPr lang="ru-RU" sz="3400" b="1" i="1" dirty="0" err="1"/>
              <a:t>cр</a:t>
            </a:r>
            <a:r>
              <a:rPr lang="ru-RU" sz="3400" b="1" i="1" dirty="0"/>
              <a:t>(</a:t>
            </a:r>
            <a:r>
              <a:rPr lang="ru-RU" sz="3400" b="1" i="1" dirty="0" err="1"/>
              <a:t>n</a:t>
            </a:r>
            <a:r>
              <a:rPr lang="ru-RU" sz="3400" b="1" i="1" dirty="0"/>
              <a:t>) =(</a:t>
            </a:r>
            <a:r>
              <a:rPr lang="en-US" sz="3400" b="1" i="1" dirty="0"/>
              <a:t>T</a:t>
            </a:r>
            <a:r>
              <a:rPr lang="ru-RU" sz="3400" b="1" i="1" baseline="-25000" dirty="0" err="1"/>
              <a:t>a</a:t>
            </a:r>
            <a:r>
              <a:rPr lang="ru-RU" sz="3400" b="1" i="1" baseline="30000" dirty="0">
                <a:sym typeface="Symbol"/>
              </a:rPr>
              <a:t></a:t>
            </a:r>
            <a:r>
              <a:rPr lang="ru-RU" sz="3400" b="1" i="1" dirty="0"/>
              <a:t>(</a:t>
            </a:r>
            <a:r>
              <a:rPr lang="en-US" sz="3400" b="1" i="1" dirty="0"/>
              <a:t>n</a:t>
            </a:r>
            <a:r>
              <a:rPr lang="ru-RU" sz="3400" b="1" i="1" dirty="0"/>
              <a:t>) + </a:t>
            </a:r>
            <a:r>
              <a:rPr lang="de-DE" sz="3400" b="1" i="1" dirty="0"/>
              <a:t>T</a:t>
            </a:r>
            <a:r>
              <a:rPr lang="de-DE" sz="3400" b="1" i="1" baseline="-25000" dirty="0"/>
              <a:t>A</a:t>
            </a:r>
            <a:r>
              <a:rPr lang="de-DE" sz="3400" b="1" i="1" baseline="30000" dirty="0"/>
              <a:t>^</a:t>
            </a:r>
            <a:r>
              <a:rPr lang="de-DE" sz="3400" b="1" i="1" dirty="0"/>
              <a:t>(n)</a:t>
            </a:r>
            <a:r>
              <a:rPr lang="ru-RU" sz="3400" b="1" i="1" dirty="0"/>
              <a:t>)/2= 6n-3.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3400" b="1" i="1" dirty="0">
                <a:solidFill>
                  <a:srgbClr val="C00000"/>
                </a:solidFill>
              </a:rPr>
              <a:t>	Вероятностный подход</a:t>
            </a:r>
          </a:p>
          <a:p>
            <a:pPr>
              <a:defRPr/>
            </a:pPr>
            <a:r>
              <a:rPr lang="ru-RU" sz="3400" dirty="0" err="1"/>
              <a:t>Переприсваивание</a:t>
            </a:r>
            <a:r>
              <a:rPr lang="ru-RU" sz="3400" dirty="0"/>
              <a:t> максимума при просмотре </a:t>
            </a:r>
            <a:r>
              <a:rPr lang="ru-RU" sz="3400" i="1" dirty="0" err="1"/>
              <a:t>к-го</a:t>
            </a:r>
            <a:r>
              <a:rPr lang="ru-RU" sz="3400" dirty="0"/>
              <a:t> элемента происходит, если в </a:t>
            </a:r>
            <a:r>
              <a:rPr lang="ru-RU" sz="3400" dirty="0" err="1"/>
              <a:t>подмассиве</a:t>
            </a:r>
            <a:r>
              <a:rPr lang="ru-RU" sz="3400" dirty="0"/>
              <a:t> из первых </a:t>
            </a:r>
            <a:r>
              <a:rPr lang="ru-RU" sz="3400" i="1" dirty="0"/>
              <a:t>к</a:t>
            </a:r>
            <a:r>
              <a:rPr lang="ru-RU" sz="3400" dirty="0"/>
              <a:t> элементов максимальным элементом является последний. В случае равномерного распределения вероятность этого равна </a:t>
            </a:r>
            <a:r>
              <a:rPr lang="ru-RU" sz="3400" i="1" dirty="0"/>
              <a:t>1/к</a:t>
            </a:r>
            <a:r>
              <a:rPr lang="ru-RU" sz="3400" dirty="0"/>
              <a:t>. Тогда в массиве из </a:t>
            </a:r>
            <a:r>
              <a:rPr lang="en-US" sz="3400" i="1" dirty="0"/>
              <a:t>n</a:t>
            </a:r>
            <a:r>
              <a:rPr lang="ru-RU" sz="3400" dirty="0"/>
              <a:t> элементов математическое ожидание среднего количества операций присваивания определяется как:</a:t>
            </a:r>
          </a:p>
          <a:p>
            <a:pPr>
              <a:defRPr/>
            </a:pPr>
            <a:endParaRPr lang="ru-RU" sz="2400" dirty="0"/>
          </a:p>
          <a:p>
            <a:pPr indent="0">
              <a:buFont typeface="Times New Roman" pitchFamily="18" charset="0"/>
              <a:buNone/>
              <a:defRPr/>
            </a:pPr>
            <a:endParaRPr lang="ru-RU" sz="2400" b="1" i="1" dirty="0">
              <a:solidFill>
                <a:srgbClr val="C00000"/>
              </a:solidFill>
            </a:endParaRPr>
          </a:p>
          <a:p>
            <a:pPr>
              <a:buFont typeface="Times New Roman" pitchFamily="18" charset="0"/>
              <a:buNone/>
              <a:defRPr/>
            </a:pPr>
            <a:endParaRPr lang="ru-RU" sz="2400" dirty="0"/>
          </a:p>
          <a:p>
            <a:pPr>
              <a:buFont typeface="Times New Roman" pitchFamily="18" charset="0"/>
              <a:buNone/>
              <a:defRPr/>
            </a:pPr>
            <a:r>
              <a:rPr lang="ru-RU" sz="2400" dirty="0"/>
              <a:t>	</a:t>
            </a:r>
          </a:p>
          <a:p>
            <a:pPr>
              <a:buFont typeface="Times New Roman" pitchFamily="18" charset="0"/>
              <a:buNone/>
              <a:defRPr/>
            </a:pPr>
            <a:r>
              <a:rPr lang="en-US" sz="2400" b="1" dirty="0"/>
              <a:t> </a:t>
            </a:r>
            <a:endParaRPr lang="ru-RU" sz="2400" b="1" dirty="0"/>
          </a:p>
        </p:txBody>
      </p:sp>
      <p:pic>
        <p:nvPicPr>
          <p:cNvPr id="11776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7" y="2743994"/>
            <a:ext cx="8582025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64" name="Прямоугольник 6"/>
          <p:cNvSpPr>
            <a:spLocks noChangeArrowheads="1"/>
          </p:cNvSpPr>
          <p:nvPr/>
        </p:nvSpPr>
        <p:spPr bwMode="auto">
          <a:xfrm>
            <a:off x="0" y="5085184"/>
            <a:ext cx="9144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dirty="0">
                <a:solidFill>
                  <a:schemeClr val="tx1"/>
                </a:solidFill>
              </a:rPr>
              <a:t>Величина </a:t>
            </a:r>
            <a:r>
              <a:rPr lang="ru-RU" altLang="ru-RU" i="1" dirty="0" err="1">
                <a:solidFill>
                  <a:schemeClr val="tx1"/>
                </a:solidFill>
              </a:rPr>
              <a:t>H</a:t>
            </a:r>
            <a:r>
              <a:rPr lang="ru-RU" altLang="ru-RU" sz="1600" i="1" dirty="0" err="1">
                <a:solidFill>
                  <a:schemeClr val="tx1"/>
                </a:solidFill>
              </a:rPr>
              <a:t>n</a:t>
            </a:r>
            <a:r>
              <a:rPr lang="ru-RU" altLang="ru-RU" dirty="0">
                <a:solidFill>
                  <a:schemeClr val="tx1"/>
                </a:solidFill>
              </a:rPr>
              <a:t> называется </a:t>
            </a:r>
            <a:r>
              <a:rPr lang="ru-RU" altLang="ru-RU" i="1" dirty="0">
                <a:solidFill>
                  <a:schemeClr val="tx1"/>
                </a:solidFill>
              </a:rPr>
              <a:t>n-</a:t>
            </a:r>
            <a:r>
              <a:rPr lang="ru-RU" altLang="ru-RU" i="1" dirty="0" err="1">
                <a:solidFill>
                  <a:schemeClr val="tx1"/>
                </a:solidFill>
              </a:rPr>
              <a:t>ым</a:t>
            </a:r>
            <a:r>
              <a:rPr lang="ru-RU" altLang="ru-RU" dirty="0">
                <a:solidFill>
                  <a:schemeClr val="tx1"/>
                </a:solidFill>
              </a:rPr>
              <a:t> гармоническим числом.</a:t>
            </a:r>
            <a:endParaRPr lang="en-US" altLang="ru-RU" dirty="0">
              <a:solidFill>
                <a:schemeClr val="tx1"/>
              </a:solidFill>
            </a:endParaRPr>
          </a:p>
          <a:p>
            <a:endParaRPr lang="en-US" altLang="ru-RU" dirty="0">
              <a:solidFill>
                <a:schemeClr val="tx1"/>
              </a:solidFill>
            </a:endParaRPr>
          </a:p>
          <a:p>
            <a:r>
              <a:rPr lang="ru-RU" i="1" dirty="0">
                <a:solidFill>
                  <a:schemeClr val="tx1"/>
                </a:solidFill>
                <a:sym typeface="Symbol" pitchFamily="18" charset="2"/>
              </a:rPr>
              <a:t>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en-US" b="1" i="1" dirty="0">
                <a:solidFill>
                  <a:schemeClr val="tx1"/>
                </a:solidFill>
              </a:rPr>
              <a:t>T</a:t>
            </a:r>
            <a:r>
              <a:rPr lang="en-US" b="1" i="1" baseline="-25000" dirty="0">
                <a:solidFill>
                  <a:schemeClr val="tx1"/>
                </a:solidFill>
              </a:rPr>
              <a:t>a</a:t>
            </a:r>
            <a:r>
              <a:rPr lang="en-US" b="1" i="1" dirty="0">
                <a:solidFill>
                  <a:schemeClr val="tx1"/>
                </a:solidFill>
              </a:rPr>
              <a:t>(n) </a:t>
            </a:r>
            <a:r>
              <a:rPr lang="de-DE" b="1" i="1" dirty="0">
                <a:solidFill>
                  <a:schemeClr val="tx1"/>
                </a:solidFill>
              </a:rPr>
              <a:t>=</a:t>
            </a:r>
            <a:r>
              <a:rPr lang="de-DE" altLang="ru-RU" b="1" i="1" dirty="0">
                <a:solidFill>
                  <a:srgbClr val="000000"/>
                </a:solidFill>
              </a:rPr>
              <a:t>2+1 +3 (n-1) + 2</a:t>
            </a:r>
            <a:r>
              <a:rPr lang="ru-RU" altLang="ru-RU" b="1" i="1" dirty="0">
                <a:solidFill>
                  <a:srgbClr val="000000"/>
                </a:solidFill>
              </a:rPr>
              <a:t>(</a:t>
            </a:r>
            <a:r>
              <a:rPr lang="en-US" altLang="ru-RU" b="1" i="1" dirty="0">
                <a:solidFill>
                  <a:srgbClr val="000000"/>
                </a:solidFill>
              </a:rPr>
              <a:t>n</a:t>
            </a:r>
            <a:r>
              <a:rPr lang="ru-RU" altLang="ru-RU" b="1" i="1" dirty="0">
                <a:solidFill>
                  <a:srgbClr val="000000"/>
                </a:solidFill>
              </a:rPr>
              <a:t>-1)</a:t>
            </a:r>
            <a:r>
              <a:rPr lang="de-DE" altLang="ru-RU" b="1" i="1" dirty="0">
                <a:solidFill>
                  <a:srgbClr val="000000"/>
                </a:solidFill>
              </a:rPr>
              <a:t>+2 (</a:t>
            </a:r>
            <a:r>
              <a:rPr lang="de-DE" altLang="ru-RU" b="1" i="1" dirty="0" err="1">
                <a:solidFill>
                  <a:srgbClr val="000000"/>
                </a:solidFill>
              </a:rPr>
              <a:t>Ln</a:t>
            </a:r>
            <a:r>
              <a:rPr lang="de-DE" altLang="ru-RU" b="1" i="1" dirty="0">
                <a:solidFill>
                  <a:srgbClr val="000000"/>
                </a:solidFill>
              </a:rPr>
              <a:t>(n) + </a:t>
            </a:r>
            <a:r>
              <a:rPr lang="en-US" altLang="ru-RU" b="1" i="1" dirty="0">
                <a:solidFill>
                  <a:srgbClr val="000000"/>
                </a:solidFill>
                <a:sym typeface="Symbol" pitchFamily="18" charset="2"/>
              </a:rPr>
              <a:t></a:t>
            </a:r>
            <a:r>
              <a:rPr lang="de-DE" altLang="ru-RU" b="1" i="1" dirty="0">
                <a:solidFill>
                  <a:srgbClr val="000000"/>
                </a:solidFill>
              </a:rPr>
              <a:t>))=5 n-2 +2Ln(n) +2 </a:t>
            </a:r>
            <a:r>
              <a:rPr lang="en-US" altLang="ru-RU" b="1" i="1" dirty="0">
                <a:solidFill>
                  <a:srgbClr val="000000"/>
                </a:solidFill>
                <a:sym typeface="Symbol" pitchFamily="18" charset="2"/>
              </a:rPr>
              <a:t></a:t>
            </a:r>
            <a:r>
              <a:rPr lang="de-DE" altLang="ru-RU" b="1" i="1" dirty="0">
                <a:solidFill>
                  <a:srgbClr val="000000"/>
                </a:solidFill>
              </a:rPr>
              <a:t> .</a:t>
            </a:r>
            <a:endParaRPr lang="ru-RU" altLang="ru-RU" b="1" i="1" dirty="0">
              <a:solidFill>
                <a:srgbClr val="000000"/>
              </a:solidFill>
            </a:endParaRPr>
          </a:p>
          <a:p>
            <a:endParaRPr lang="ru-RU" altLang="ru-RU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923925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br>
              <a:rPr lang="en-US" altLang="ru-RU" sz="2800" b="1"/>
            </a:br>
            <a:br>
              <a:rPr lang="en-US" altLang="ru-RU" sz="2800" b="1"/>
            </a:br>
            <a:br>
              <a:rPr lang="ru-RU" altLang="ru-RU" sz="2800" b="1"/>
            </a:br>
            <a:r>
              <a:rPr lang="ru-RU" sz="2800" b="1"/>
              <a:t>Некоторые математические формулы, необходимые для анализа алгоритмов.</a:t>
            </a:r>
            <a:br>
              <a:rPr lang="ru-RU"/>
            </a:br>
            <a:br>
              <a:rPr lang="ru-RU" altLang="ru-RU"/>
            </a:br>
            <a:endParaRPr lang="ru-RU" altLang="ru-RU"/>
          </a:p>
        </p:txBody>
      </p:sp>
      <p:sp>
        <p:nvSpPr>
          <p:cNvPr id="118787" name="Содержимое 2"/>
          <p:cNvSpPr>
            <a:spLocks noGrp="1"/>
          </p:cNvSpPr>
          <p:nvPr>
            <p:ph idx="1"/>
          </p:nvPr>
        </p:nvSpPr>
        <p:spPr>
          <a:xfrm>
            <a:off x="179388" y="1052513"/>
            <a:ext cx="8785225" cy="576262"/>
          </a:xfrm>
        </p:spPr>
        <p:txBody>
          <a:bodyPr>
            <a:normAutofit fontScale="62500" lnSpcReduction="20000"/>
          </a:bodyPr>
          <a:lstStyle/>
          <a:p>
            <a:pPr>
              <a:buFont typeface="Times New Roman" pitchFamily="18" charset="0"/>
              <a:buNone/>
            </a:pPr>
            <a:r>
              <a:rPr lang="ru-RU" altLang="ru-RU" sz="2800" b="1">
                <a:solidFill>
                  <a:srgbClr val="C00000"/>
                </a:solidFill>
              </a:rPr>
              <a:t>Логарифмы						Формулы суммирования</a:t>
            </a:r>
            <a:endParaRPr lang="ru-RU" altLang="ru-RU" sz="2800">
              <a:solidFill>
                <a:srgbClr val="C00000"/>
              </a:solidFill>
            </a:endParaRPr>
          </a:p>
          <a:p>
            <a:pPr>
              <a:buFont typeface="Times New Roman" pitchFamily="18" charset="0"/>
              <a:buNone/>
            </a:pPr>
            <a:endParaRPr lang="ru-RU" altLang="ru-RU" sz="2800" b="1">
              <a:solidFill>
                <a:srgbClr val="C00000"/>
              </a:solidFill>
            </a:endParaRPr>
          </a:p>
          <a:p>
            <a:pPr>
              <a:buFont typeface="Times New Roman" pitchFamily="18" charset="0"/>
              <a:buNone/>
            </a:pPr>
            <a:endParaRPr lang="ru-RU" altLang="ru-RU"/>
          </a:p>
          <a:p>
            <a:endParaRPr lang="ru-RU" altLang="ru-RU"/>
          </a:p>
        </p:txBody>
      </p:sp>
      <p:pic>
        <p:nvPicPr>
          <p:cNvPr id="118788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363" y="1700213"/>
            <a:ext cx="3159125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8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13" y="1628775"/>
            <a:ext cx="37560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333375"/>
            <a:ext cx="163195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1" name="Рисунок 5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4663" y="981075"/>
            <a:ext cx="2001837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2" name="Рисунок 6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313" y="2420938"/>
            <a:ext cx="4803775" cy="385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260350"/>
            <a:ext cx="8785225" cy="6597650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sz="2000" b="1" dirty="0"/>
              <a:t>Математическое ожидание дискретной случайной величины.</a:t>
            </a:r>
            <a:endParaRPr lang="ru-RU" sz="2000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000" dirty="0"/>
              <a:t>Если известен закон распределения случайной величины </a:t>
            </a:r>
            <a:r>
              <a:rPr lang="ru-RU" sz="2000" dirty="0" err="1"/>
              <a:t>x</a:t>
            </a:r>
            <a:r>
              <a:rPr lang="ru-RU" sz="2000" dirty="0"/>
              <a:t>, то есть известно, что случайная величина </a:t>
            </a:r>
            <a:r>
              <a:rPr lang="ru-RU" sz="2000" dirty="0" err="1"/>
              <a:t>x</a:t>
            </a:r>
            <a:r>
              <a:rPr lang="ru-RU" sz="2000" dirty="0"/>
              <a:t> может принимать значения x</a:t>
            </a:r>
            <a:r>
              <a:rPr lang="ru-RU" sz="2000" baseline="-25000" dirty="0"/>
              <a:t>1</a:t>
            </a:r>
            <a:r>
              <a:rPr lang="ru-RU" sz="2000" dirty="0"/>
              <a:t>, x</a:t>
            </a:r>
            <a:r>
              <a:rPr lang="ru-RU" sz="2000" baseline="-25000" dirty="0"/>
              <a:t>2</a:t>
            </a:r>
            <a:r>
              <a:rPr lang="ru-RU" sz="2000" dirty="0"/>
              <a:t>, ..., </a:t>
            </a:r>
            <a:r>
              <a:rPr lang="ru-RU" sz="2000" dirty="0" err="1"/>
              <a:t>x</a:t>
            </a:r>
            <a:r>
              <a:rPr lang="ru-RU" sz="2000" baseline="-25000" dirty="0" err="1"/>
              <a:t>k</a:t>
            </a:r>
            <a:r>
              <a:rPr lang="ru-RU" sz="2000" dirty="0"/>
              <a:t> с вероятностями p</a:t>
            </a:r>
            <a:r>
              <a:rPr lang="ru-RU" sz="2000" baseline="-25000" dirty="0"/>
              <a:t>1</a:t>
            </a:r>
            <a:r>
              <a:rPr lang="ru-RU" sz="2000" dirty="0"/>
              <a:t>, p</a:t>
            </a:r>
            <a:r>
              <a:rPr lang="ru-RU" sz="2000" baseline="-25000" dirty="0"/>
              <a:t>2</a:t>
            </a:r>
            <a:r>
              <a:rPr lang="ru-RU" sz="2000" dirty="0"/>
              <a:t>, ..., </a:t>
            </a:r>
            <a:r>
              <a:rPr lang="ru-RU" sz="2000" dirty="0" err="1"/>
              <a:t>p</a:t>
            </a:r>
            <a:r>
              <a:rPr lang="ru-RU" sz="2000" baseline="-25000" dirty="0" err="1"/>
              <a:t>k</a:t>
            </a:r>
            <a:r>
              <a:rPr lang="ru-RU" sz="2000" dirty="0"/>
              <a:t>, тогда математическое ожидание </a:t>
            </a:r>
            <a:r>
              <a:rPr lang="ru-RU" sz="2000" dirty="0" err="1"/>
              <a:t>M</a:t>
            </a:r>
            <a:r>
              <a:rPr lang="ru-RU" sz="2000" baseline="-25000" dirty="0" err="1"/>
              <a:t>x</a:t>
            </a:r>
            <a:r>
              <a:rPr lang="ru-RU" sz="2000" dirty="0"/>
              <a:t> случайной величины </a:t>
            </a:r>
            <a:r>
              <a:rPr lang="ru-RU" sz="2000" dirty="0" err="1"/>
              <a:t>x</a:t>
            </a:r>
            <a:r>
              <a:rPr lang="ru-RU" sz="2000" dirty="0"/>
              <a:t> равно</a:t>
            </a:r>
            <a:r>
              <a:rPr lang="ru-RU" sz="2400" dirty="0"/>
              <a:t> 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dirty="0"/>
              <a:t> 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sz="2000" dirty="0"/>
              <a:t>Если случайная величина </a:t>
            </a:r>
            <a:r>
              <a:rPr lang="en-US" sz="2000" dirty="0"/>
              <a:t>x </a:t>
            </a:r>
            <a:r>
              <a:rPr lang="ru-RU" sz="2000" dirty="0"/>
              <a:t>имеет дискретное равномерное распределение:</a:t>
            </a:r>
          </a:p>
          <a:p>
            <a:pPr indent="0">
              <a:buFont typeface="Times New Roman" pitchFamily="18" charset="0"/>
              <a:buNone/>
              <a:defRPr/>
            </a:pPr>
            <a:endParaRPr lang="ru-RU" sz="2400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000" dirty="0"/>
              <a:t>, то её математическое ожидание равно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000" b="1" dirty="0"/>
              <a:t>Свойства математического ожидания</a:t>
            </a:r>
            <a:r>
              <a:rPr lang="en-US" sz="2000" b="1" dirty="0"/>
              <a:t>:</a:t>
            </a:r>
          </a:p>
          <a:p>
            <a:pPr>
              <a:buNone/>
            </a:pPr>
            <a:r>
              <a:rPr lang="ru-RU" sz="2000" dirty="0"/>
              <a:t>Математическое ожидание постоянной равно этой постоянной</a:t>
            </a:r>
            <a:r>
              <a:rPr lang="en-US" sz="2000" dirty="0"/>
              <a:t> M</a:t>
            </a:r>
            <a:r>
              <a:rPr lang="en-US" sz="2000" baseline="-25000" dirty="0"/>
              <a:t>c</a:t>
            </a:r>
            <a:r>
              <a:rPr lang="ru-RU" sz="2000" dirty="0"/>
              <a:t>=</a:t>
            </a:r>
            <a:r>
              <a:rPr lang="en-US" sz="2000" dirty="0"/>
              <a:t>C</a:t>
            </a:r>
          </a:p>
          <a:p>
            <a:pPr marL="0" indent="0">
              <a:buNone/>
            </a:pPr>
            <a:r>
              <a:rPr lang="ru-RU" sz="2000" dirty="0"/>
              <a:t>Математическое ожидание суммы случайных величин равно сумме их</a:t>
            </a:r>
            <a:r>
              <a:rPr lang="en-US" sz="2000" dirty="0"/>
              <a:t> </a:t>
            </a:r>
            <a:r>
              <a:rPr lang="ru-RU" sz="2000" dirty="0"/>
              <a:t>математических ожиданий: </a:t>
            </a:r>
            <a:r>
              <a:rPr lang="en-US" sz="2000" dirty="0" err="1"/>
              <a:t>M</a:t>
            </a:r>
            <a:r>
              <a:rPr lang="en-US" sz="2000" baseline="-25000" dirty="0" err="1"/>
              <a:t>x</a:t>
            </a:r>
            <a:r>
              <a:rPr lang="ru-RU" sz="2000" baseline="-25000" dirty="0"/>
              <a:t>+</a:t>
            </a:r>
            <a:r>
              <a:rPr lang="en-US" sz="2000" baseline="-25000" dirty="0"/>
              <a:t>y </a:t>
            </a:r>
            <a:r>
              <a:rPr lang="ru-RU" sz="2000" dirty="0"/>
              <a:t>=</a:t>
            </a:r>
            <a:r>
              <a:rPr lang="en-US" sz="2000" dirty="0" err="1"/>
              <a:t>M</a:t>
            </a:r>
            <a:r>
              <a:rPr lang="en-US" sz="2000" baseline="-25000" dirty="0" err="1"/>
              <a:t>x</a:t>
            </a:r>
            <a:r>
              <a:rPr lang="ru-RU" sz="2000" dirty="0"/>
              <a:t>+</a:t>
            </a:r>
            <a:r>
              <a:rPr lang="en-US" sz="2000" dirty="0"/>
              <a:t>M</a:t>
            </a:r>
            <a:r>
              <a:rPr lang="en-US" sz="2000" baseline="-25000" dirty="0"/>
              <a:t>y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Математическое ожидание произведения независимых случайных величин  равно произведению математических ожиданий этих величин: </a:t>
            </a:r>
            <a:r>
              <a:rPr lang="en-US" sz="2000" dirty="0" err="1"/>
              <a:t>M</a:t>
            </a:r>
            <a:r>
              <a:rPr lang="en-US" sz="2000" baseline="-25000" dirty="0" err="1"/>
              <a:t>x</a:t>
            </a:r>
            <a:r>
              <a:rPr lang="ru-RU" sz="2000" baseline="-25000" dirty="0"/>
              <a:t>*</a:t>
            </a:r>
            <a:r>
              <a:rPr lang="en-US" sz="2000" baseline="-25000" dirty="0"/>
              <a:t>y </a:t>
            </a:r>
            <a:r>
              <a:rPr lang="ru-RU" sz="2000" dirty="0"/>
              <a:t>=</a:t>
            </a:r>
            <a:r>
              <a:rPr lang="en-US" sz="2000" dirty="0" err="1"/>
              <a:t>M</a:t>
            </a:r>
            <a:r>
              <a:rPr lang="en-US" sz="2000" baseline="-25000" dirty="0" err="1"/>
              <a:t>x</a:t>
            </a:r>
            <a:r>
              <a:rPr lang="ru-RU" sz="2000" dirty="0"/>
              <a:t>*</a:t>
            </a:r>
            <a:r>
              <a:rPr lang="en-US" sz="2000" dirty="0"/>
              <a:t>M</a:t>
            </a:r>
            <a:r>
              <a:rPr lang="en-US" sz="2000" baseline="-25000" dirty="0"/>
              <a:t>y</a:t>
            </a:r>
            <a:endParaRPr lang="ru-RU" sz="2000" dirty="0"/>
          </a:p>
          <a:p>
            <a:pPr>
              <a:buNone/>
              <a:defRPr/>
            </a:pPr>
            <a:endParaRPr lang="en-US" sz="2000" dirty="0"/>
          </a:p>
        </p:txBody>
      </p:sp>
      <p:pic>
        <p:nvPicPr>
          <p:cNvPr id="120835" name="Рисунок 11" descr="http://www.mathematics.ru/courses/algebra/content/javagifs/63261551651231-7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1988840"/>
            <a:ext cx="135724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836" name="Рисунок 1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3068960"/>
            <a:ext cx="2740568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837" name="Рисунок 1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65146" y="3582351"/>
            <a:ext cx="1418356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8674802" cy="54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5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одержимое 12"/>
          <p:cNvSpPr>
            <a:spLocks noGrp="1"/>
          </p:cNvSpPr>
          <p:nvPr>
            <p:ph idx="1"/>
          </p:nvPr>
        </p:nvSpPr>
        <p:spPr>
          <a:xfrm>
            <a:off x="251520" y="188640"/>
            <a:ext cx="8642350" cy="863600"/>
          </a:xfrm>
        </p:spPr>
        <p:txBody>
          <a:bodyPr>
            <a:normAutofit fontScale="92500" lnSpcReduction="10000"/>
          </a:bodyPr>
          <a:lstStyle/>
          <a:p>
            <a:pPr indent="0"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II. </a:t>
            </a:r>
            <a:r>
              <a:rPr lang="ru-RU" sz="2800" b="1" dirty="0">
                <a:solidFill>
                  <a:srgbClr val="C00000"/>
                </a:solidFill>
              </a:rPr>
              <a:t>Нахождение вида функции трудоемкости без подсчета фактической стоимости команд.</a:t>
            </a:r>
            <a:endParaRPr lang="ru-RU" sz="2800" dirty="0">
              <a:solidFill>
                <a:srgbClr val="C00000"/>
              </a:solidFill>
            </a:endParaRPr>
          </a:p>
          <a:p>
            <a:pPr>
              <a:defRPr/>
            </a:pP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17" y="1052240"/>
            <a:ext cx="7656155" cy="572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1800225"/>
          </a:xfrm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r>
              <a:rPr lang="ru-RU" sz="2800" b="1" dirty="0"/>
              <a:t>Анализ наилучшего случая.</a:t>
            </a:r>
            <a:endParaRPr lang="ru-RU" sz="2800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На вход подается уже отсортированный массив. При этом все внутренние циклы состоят всего из одной итерации, то есть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 =1 для всех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. Тогда время работы алгоритма составит: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  <a:p>
            <a:pPr>
              <a:defRPr/>
            </a:pPr>
            <a:endParaRPr lang="ru-RU" dirty="0"/>
          </a:p>
        </p:txBody>
      </p:sp>
      <p:pic>
        <p:nvPicPr>
          <p:cNvPr id="121859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2276475"/>
            <a:ext cx="8529638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250825" y="188913"/>
            <a:ext cx="8713788" cy="2519362"/>
          </a:xfrm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r>
              <a:rPr lang="ru-RU" sz="2800" b="1" dirty="0"/>
              <a:t>Анализ наихудшего случая.</a:t>
            </a:r>
            <a:endParaRPr lang="ru-RU" sz="2800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Входной массив, отсортирован в обратном порядке. При этом каждый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] элемент сравнивается со всеми уже отсортированными элементами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[0]…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-1]. Это означает, что все внутренние циклы состоят из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итераций, то есть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 =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 для всех 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. Тогда время работы алгоритма составит:</a:t>
            </a:r>
          </a:p>
          <a:p>
            <a:pPr>
              <a:defRPr/>
            </a:pPr>
            <a:endParaRPr lang="ru-RU" dirty="0"/>
          </a:p>
        </p:txBody>
      </p:sp>
      <p:pic>
        <p:nvPicPr>
          <p:cNvPr id="12288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850" y="2636838"/>
            <a:ext cx="894715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0825" y="188913"/>
            <a:ext cx="8713788" cy="3960812"/>
          </a:xfrm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r>
              <a:rPr lang="ru-RU" sz="2800" b="1" dirty="0"/>
              <a:t>Анализ среднего случая.</a:t>
            </a:r>
            <a:endParaRPr lang="ru-RU" sz="2800" dirty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Характер поведения "усредненного" времени работы часто ничем не лучше поведения времени работы для наихудшего случая. Предположим, что последовательность, к которой применяется сортировка методом вставок, сформирована случайным образом. Сколько времени понадобится, чтобы определить, в какое место подмассива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[0..i-1] следует поместить элемент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]? Предположим, что в среднем половина элементов этого подмассива меньше, чем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], а половина — больше его. Таким образом, в среднем нужно проверить половину элементов подмассива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[0..i-1], поэтому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приблизительно равно i/2.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Font typeface="Times New Roman" pitchFamily="18" charset="0"/>
              <a:buNone/>
              <a:defRPr/>
            </a:pP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27584" y="188640"/>
            <a:ext cx="7648894" cy="4068000"/>
          </a:xfrm>
          <a:noFill/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63" y="4290207"/>
            <a:ext cx="7745015" cy="20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503237"/>
          </a:xfrm>
        </p:spPr>
        <p:txBody>
          <a:bodyPr>
            <a:normAutofit lnSpcReduction="10000"/>
          </a:bodyPr>
          <a:lstStyle/>
          <a:p>
            <a:pPr>
              <a:buFont typeface="Times New Roman" pitchFamily="18" charset="0"/>
              <a:buNone/>
            </a:pPr>
            <a:r>
              <a:rPr lang="en-US" altLang="ru-RU" sz="2800" b="1">
                <a:solidFill>
                  <a:srgbClr val="C00000"/>
                </a:solidFill>
              </a:rPr>
              <a:t>III. </a:t>
            </a:r>
            <a:r>
              <a:rPr lang="ru-RU" altLang="ru-RU" sz="2800" b="1">
                <a:solidFill>
                  <a:srgbClr val="C00000"/>
                </a:solidFill>
              </a:rPr>
              <a:t>Оценивание порядков роста времени работы.</a:t>
            </a:r>
            <a:endParaRPr lang="ru-RU" altLang="ru-RU" sz="2800">
              <a:solidFill>
                <a:srgbClr val="C00000"/>
              </a:solidFill>
            </a:endParaRPr>
          </a:p>
        </p:txBody>
      </p:sp>
      <p:sp>
        <p:nvSpPr>
          <p:cNvPr id="125955" name="Rectangle 2"/>
          <p:cNvSpPr>
            <a:spLocks noChangeArrowheads="1"/>
          </p:cNvSpPr>
          <p:nvPr/>
        </p:nvSpPr>
        <p:spPr bwMode="auto">
          <a:xfrm>
            <a:off x="0" y="5661025"/>
            <a:ext cx="87852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eaLnBrk="0" hangingPunct="0"/>
            <a:r>
              <a:rPr lang="ru-RU" altLang="ru-RU" sz="20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Следствие. 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Из правила сумм также следует, что если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&lt;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для всех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превышающих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 baseline="-30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то выражение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)) эквивалентно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)). Например, О(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 baseline="30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то же самое, что О(</a:t>
            </a:r>
            <a:r>
              <a:rPr lang="en-US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000" baseline="30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12595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692150"/>
            <a:ext cx="81915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333375"/>
            <a:ext cx="862647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97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50825" y="2708275"/>
            <a:ext cx="8223250" cy="2484438"/>
          </a:xfrm>
          <a:noFill/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373216"/>
            <a:ext cx="681035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800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476250"/>
            <a:ext cx="8656638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5" y="476672"/>
            <a:ext cx="8886825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4FCA21-79D2-48C1-B5A9-831F3C8EF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1619250"/>
            <a:ext cx="82200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80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6633"/>
            <a:ext cx="8229600" cy="36003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000" b="1" dirty="0"/>
              <a:t>Анализ алгоритма сортировки «вставками»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35" y="476672"/>
            <a:ext cx="6847929" cy="633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25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04664"/>
            <a:ext cx="8737697" cy="209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16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6633"/>
            <a:ext cx="8229600" cy="504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Среднее время выполнения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620688"/>
            <a:ext cx="6797963" cy="4464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084688"/>
            <a:ext cx="6976404" cy="14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93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75" y="196102"/>
            <a:ext cx="7778581" cy="324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75" y="3434289"/>
            <a:ext cx="7894502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45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764704"/>
            <a:ext cx="8379256" cy="49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75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00" y="908720"/>
            <a:ext cx="8450726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907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3055</TotalTime>
  <Words>900</Words>
  <Application>Microsoft Office PowerPoint</Application>
  <PresentationFormat>Экран (4:3)</PresentationFormat>
  <Paragraphs>72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Тема Office</vt:lpstr>
      <vt:lpstr>Вычисление времени выполнения нерекурсивных алгоритмов </vt:lpstr>
      <vt:lpstr>Презентация PowerPoint</vt:lpstr>
      <vt:lpstr>Презентация PowerPoint</vt:lpstr>
      <vt:lpstr> Примеры анализа простых алгоритмов </vt:lpstr>
      <vt:lpstr>   </vt:lpstr>
      <vt:lpstr>Презентация PowerPoint</vt:lpstr>
      <vt:lpstr>   Некоторые математические формулы, необходимые для анализа алгоритмов.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Алгоритмически неразрешимые задачи</dc:title>
  <dc:creator>Mary</dc:creator>
  <cp:lastModifiedBy>Mary</cp:lastModifiedBy>
  <cp:revision>39</cp:revision>
  <dcterms:created xsi:type="dcterms:W3CDTF">2017-04-16T16:50:45Z</dcterms:created>
  <dcterms:modified xsi:type="dcterms:W3CDTF">2023-04-03T06:56:43Z</dcterms:modified>
</cp:coreProperties>
</file>