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10" r:id="rId14"/>
    <p:sldId id="307" r:id="rId15"/>
    <p:sldId id="308" r:id="rId16"/>
    <p:sldId id="304" r:id="rId17"/>
    <p:sldId id="309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ABBD9-483C-40E6-B909-71F76EABE841}" type="datetimeFigureOut">
              <a:rPr lang="ru-RU" smtClean="0"/>
              <a:pPr/>
              <a:t>02.03.2023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6B624-3F97-4EFB-813E-DA1BFBA57C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304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fld id="{28ED4AB2-B54D-4624-A92B-134230270726}" type="slidenum">
              <a:rPr lang="ru-RU" altLang="ru-RU" smtClean="0">
                <a:solidFill>
                  <a:srgbClr val="000000"/>
                </a:solidFill>
              </a:rPr>
              <a:pPr eaLnBrk="1" hangingPunct="1"/>
              <a:t>1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15462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462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fld id="{0263B59A-E947-451D-9D73-7D9FB579C5C3}" type="slidenum">
              <a:rPr lang="ru-RU" altLang="ru-RU" smtClean="0">
                <a:solidFill>
                  <a:srgbClr val="000000"/>
                </a:solidFill>
              </a:rPr>
              <a:pPr eaLnBrk="1" hangingPunct="1"/>
              <a:t>2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155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5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fld id="{3014FB68-A76E-42A9-AE7C-990C0C16A269}" type="slidenum">
              <a:rPr lang="ru-RU" altLang="ru-RU" smtClean="0">
                <a:solidFill>
                  <a:srgbClr val="000000"/>
                </a:solidFill>
              </a:rPr>
              <a:pPr eaLnBrk="1" hangingPunct="1"/>
              <a:t>3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15667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667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fld id="{4C6FF3A6-71A7-46E1-8A53-7E0C13C85514}" type="slidenum">
              <a:rPr lang="ru-RU" altLang="ru-RU" smtClean="0">
                <a:solidFill>
                  <a:srgbClr val="000000"/>
                </a:solidFill>
              </a:rPr>
              <a:pPr eaLnBrk="1" hangingPunct="1"/>
              <a:t>4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15769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77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fld id="{CB79AC95-9BB4-4E37-B9AB-F65E384CCCE9}" type="slidenum">
              <a:rPr lang="ru-RU" altLang="ru-RU" smtClean="0">
                <a:solidFill>
                  <a:srgbClr val="000000"/>
                </a:solidFill>
              </a:rPr>
              <a:pPr eaLnBrk="1" hangingPunct="1"/>
              <a:t>5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15872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872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fld id="{A4790436-4AE2-49FD-8A4A-37164C626F77}" type="slidenum">
              <a:rPr lang="ru-RU" altLang="ru-RU" smtClean="0">
                <a:solidFill>
                  <a:srgbClr val="000000"/>
                </a:solidFill>
              </a:rPr>
              <a:pPr eaLnBrk="1" hangingPunct="1"/>
              <a:t>8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159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9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fld id="{E24EBAE1-E7A1-4740-84CC-AAC6C7AFAFF5}" type="slidenum">
              <a:rPr lang="ru-RU" altLang="ru-RU" smtClean="0">
                <a:solidFill>
                  <a:srgbClr val="000000"/>
                </a:solidFill>
              </a:rPr>
              <a:pPr eaLnBrk="1" hangingPunct="1"/>
              <a:t>9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16077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07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fld id="{72AAD819-87CF-4106-8FED-B07E3FF35FFB}" type="slidenum">
              <a:rPr lang="ru-RU" altLang="ru-RU" smtClean="0">
                <a:solidFill>
                  <a:srgbClr val="000000"/>
                </a:solidFill>
              </a:rPr>
              <a:pPr eaLnBrk="1" hangingPunct="1"/>
              <a:t>10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16179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179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fld id="{F73E73D8-38E0-4444-9B9D-66E81960B512}" type="slidenum">
              <a:rPr lang="ru-RU" altLang="ru-RU" smtClean="0">
                <a:solidFill>
                  <a:srgbClr val="000000"/>
                </a:solidFill>
              </a:rPr>
              <a:pPr eaLnBrk="1" hangingPunct="1"/>
              <a:t>12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1628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28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fld id="{3150EDCF-5894-4A5C-BEB4-EC00EE88FF07}" type="slidenum">
              <a:rPr lang="ru-RU" altLang="ru-RU" smtClean="0">
                <a:solidFill>
                  <a:srgbClr val="000000"/>
                </a:solidFill>
              </a:rPr>
              <a:pPr eaLnBrk="1" hangingPunct="1"/>
              <a:t>16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163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3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5CA7-3E48-4382-B7E9-D4BA060E2E65}" type="datetimeFigureOut">
              <a:rPr lang="ru-RU" smtClean="0"/>
              <a:pPr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043C-D23E-437D-ABBA-F51BD19A1F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5CA7-3E48-4382-B7E9-D4BA060E2E65}" type="datetimeFigureOut">
              <a:rPr lang="ru-RU" smtClean="0"/>
              <a:pPr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043C-D23E-437D-ABBA-F51BD19A1F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98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5CA7-3E48-4382-B7E9-D4BA060E2E65}" type="datetimeFigureOut">
              <a:rPr lang="ru-RU" smtClean="0"/>
              <a:pPr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043C-D23E-437D-ABBA-F51BD19A1F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23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5CA7-3E48-4382-B7E9-D4BA060E2E65}" type="datetimeFigureOut">
              <a:rPr lang="ru-RU" smtClean="0"/>
              <a:pPr/>
              <a:t>02.03.2023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043C-D23E-437D-ABBA-F51BD19A1F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01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5CA7-3E48-4382-B7E9-D4BA060E2E65}" type="datetimeFigureOut">
              <a:rPr lang="ru-RU" smtClean="0"/>
              <a:pPr/>
              <a:t>02.03.2023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043C-D23E-437D-ABBA-F51BD19A1F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246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5CA7-3E48-4382-B7E9-D4BA060E2E65}" type="datetimeFigureOut">
              <a:rPr lang="ru-RU" smtClean="0"/>
              <a:pPr/>
              <a:t>02.03.2023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043C-D23E-437D-ABBA-F51BD19A1F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460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5CA7-3E48-4382-B7E9-D4BA060E2E65}" type="datetimeFigureOut">
              <a:rPr lang="ru-RU" smtClean="0"/>
              <a:pPr/>
              <a:t>02.03.2023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043C-D23E-437D-ABBA-F51BD19A1F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482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5CA7-3E48-4382-B7E9-D4BA060E2E65}" type="datetimeFigureOut">
              <a:rPr lang="ru-RU" smtClean="0"/>
              <a:pPr/>
              <a:t>02.03.2023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043C-D23E-437D-ABBA-F51BD19A1F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474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5CA7-3E48-4382-B7E9-D4BA060E2E65}" type="datetimeFigureOut">
              <a:rPr lang="ru-RU" smtClean="0"/>
              <a:pPr/>
              <a:t>02.03.2023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043C-D23E-437D-ABBA-F51BD19A1F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46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5CA7-3E48-4382-B7E9-D4BA060E2E65}" type="datetimeFigureOut">
              <a:rPr lang="ru-RU" smtClean="0"/>
              <a:pPr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043C-D23E-437D-ABBA-F51BD19A1F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072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5CA7-3E48-4382-B7E9-D4BA060E2E65}" type="datetimeFigureOut">
              <a:rPr lang="ru-RU" smtClean="0"/>
              <a:pPr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043C-D23E-437D-ABBA-F51BD19A1F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015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D5CA7-3E48-4382-B7E9-D4BA060E2E65}" type="datetimeFigureOut">
              <a:rPr lang="ru-RU" smtClean="0"/>
              <a:pPr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8043C-D23E-437D-ABBA-F51BD19A1F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332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E6EFFD"/>
              </a:gs>
              <a:gs pos="100000">
                <a:srgbClr val="B0CFFB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ru-RU" altLang="ru-RU" sz="4400" b="1">
                <a:solidFill>
                  <a:srgbClr val="000000"/>
                </a:solidFill>
                <a:latin typeface="Calibri" pitchFamily="34" charset="0"/>
              </a:rPr>
              <a:t>Рекурсивные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25561577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>
            <a:spLocks noChangeArrowheads="1"/>
          </p:cNvSpPr>
          <p:nvPr/>
        </p:nvSpPr>
        <p:spPr bwMode="auto">
          <a:xfrm>
            <a:off x="500063" y="273050"/>
            <a:ext cx="82296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just" eaLnBrk="1" hangingPunct="1">
              <a:buClrTx/>
              <a:buFontTx/>
              <a:buNone/>
            </a:pPr>
            <a:r>
              <a:rPr lang="ru-RU" altLang="ru-RU" sz="2000" b="1" i="1">
                <a:solidFill>
                  <a:srgbClr val="000000"/>
                </a:solidFill>
                <a:latin typeface="Calibri" pitchFamily="34" charset="0"/>
              </a:rPr>
              <a:t>	Эта модель рассматривает алгоритм как способ формирования одних вычислимых функций из других, т.е. одни функции конструктивно определяются из других.</a:t>
            </a:r>
            <a:br>
              <a:rPr lang="ru-RU" altLang="ru-RU" sz="2000" b="1" i="1">
                <a:solidFill>
                  <a:srgbClr val="000000"/>
                </a:solidFill>
                <a:latin typeface="Calibri" pitchFamily="34" charset="0"/>
              </a:rPr>
            </a:br>
            <a:endParaRPr lang="ru-RU" altLang="ru-RU" sz="2000" b="1" i="1">
              <a:solidFill>
                <a:srgbClr val="000000"/>
              </a:solidFill>
              <a:latin typeface="Calibri" pitchFamily="34" charset="0"/>
            </a:endParaRPr>
          </a:p>
        </p:txBody>
      </p:sp>
      <p:grpSp>
        <p:nvGrpSpPr>
          <p:cNvPr id="38915" name="Group 2"/>
          <p:cNvGrpSpPr>
            <a:grpSpLocks/>
          </p:cNvGrpSpPr>
          <p:nvPr/>
        </p:nvGrpSpPr>
        <p:grpSpPr bwMode="auto">
          <a:xfrm>
            <a:off x="179388" y="1428750"/>
            <a:ext cx="8824912" cy="4325938"/>
            <a:chOff x="113" y="900"/>
            <a:chExt cx="5559" cy="2725"/>
          </a:xfrm>
        </p:grpSpPr>
        <p:pic>
          <p:nvPicPr>
            <p:cNvPr id="38918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900"/>
              <a:ext cx="5559" cy="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38919" name="Text Box 4"/>
            <p:cNvSpPr txBox="1">
              <a:spLocks noChangeArrowheads="1"/>
            </p:cNvSpPr>
            <p:nvPr/>
          </p:nvSpPr>
          <p:spPr bwMode="auto">
            <a:xfrm>
              <a:off x="113" y="900"/>
              <a:ext cx="5559" cy="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u-RU" altLang="ru-RU"/>
            </a:p>
          </p:txBody>
        </p:sp>
      </p:grpSp>
      <p:sp>
        <p:nvSpPr>
          <p:cNvPr id="3891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49263" eaLnBrk="0" hangingPunct="0"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just"/>
            <a:r>
              <a:rPr lang="ru-RU" altLang="ru-RU" sz="1400">
                <a:latin typeface="Calibri" pitchFamily="34" charset="0"/>
              </a:rPr>
              <a:t>Все элементарные функции - всюду определенные и алгоритмически вычислимые.</a:t>
            </a:r>
            <a:endParaRPr lang="ru-RU" altLang="ru-RU"/>
          </a:p>
        </p:txBody>
      </p:sp>
      <p:pic>
        <p:nvPicPr>
          <p:cNvPr id="38917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949950"/>
            <a:ext cx="8512175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6111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939800"/>
          </a:xfrm>
          <a:prstGeom prst="rect">
            <a:avLst/>
          </a:prstGeom>
          <a:solidFill>
            <a:srgbClr val="C6D9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ru-RU" altLang="ru-RU" sz="3600" b="1">
                <a:solidFill>
                  <a:srgbClr val="000000"/>
                </a:solidFill>
                <a:latin typeface="Calibri" pitchFamily="34" charset="0"/>
              </a:rPr>
              <a:t>Оператор суперпозиции</a:t>
            </a:r>
          </a:p>
        </p:txBody>
      </p:sp>
      <p:pic>
        <p:nvPicPr>
          <p:cNvPr id="3993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412875"/>
            <a:ext cx="8789987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10443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ru-RU" altLang="ru-RU" sz="4400" b="1">
                <a:solidFill>
                  <a:srgbClr val="000000"/>
                </a:solidFill>
                <a:latin typeface="Calibri" pitchFamily="34" charset="0"/>
              </a:rPr>
              <a:t>Примеры</a:t>
            </a:r>
          </a:p>
        </p:txBody>
      </p:sp>
      <p:grpSp>
        <p:nvGrpSpPr>
          <p:cNvPr id="40963" name="Group 2"/>
          <p:cNvGrpSpPr>
            <a:grpSpLocks/>
          </p:cNvGrpSpPr>
          <p:nvPr/>
        </p:nvGrpSpPr>
        <p:grpSpPr bwMode="auto">
          <a:xfrm>
            <a:off x="285750" y="1357313"/>
            <a:ext cx="8648700" cy="3481387"/>
            <a:chOff x="180" y="855"/>
            <a:chExt cx="5448" cy="2193"/>
          </a:xfrm>
        </p:grpSpPr>
        <p:pic>
          <p:nvPicPr>
            <p:cNvPr id="40964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" y="855"/>
              <a:ext cx="5448" cy="2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40965" name="Text Box 4"/>
            <p:cNvSpPr txBox="1">
              <a:spLocks noChangeArrowheads="1"/>
            </p:cNvSpPr>
            <p:nvPr/>
          </p:nvSpPr>
          <p:spPr bwMode="auto">
            <a:xfrm>
              <a:off x="180" y="855"/>
              <a:ext cx="5448" cy="2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u-RU" altLang="ru-RU"/>
            </a:p>
          </p:txBody>
        </p:sp>
      </p:grpSp>
    </p:spTree>
    <p:extLst>
      <p:ext uri="{BB962C8B-B14F-4D97-AF65-F5344CB8AC3E}">
        <p14:creationId xmlns:p14="http://schemas.microsoft.com/office/powerpoint/2010/main" val="19741762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solidFill>
            <a:srgbClr val="C6D9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ru-RU" altLang="ru-RU" sz="3600" b="1">
                <a:solidFill>
                  <a:srgbClr val="000000"/>
                </a:solidFill>
                <a:latin typeface="Calibri" pitchFamily="34" charset="0"/>
              </a:rPr>
              <a:t>Оператор примитивной рекурсии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543769"/>
            <a:ext cx="7810500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61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/>
          <p:cNvSpPr>
            <a:spLocks noGrp="1" noChangeArrowheads="1"/>
          </p:cNvSpPr>
          <p:nvPr>
            <p:ph type="title"/>
          </p:nvPr>
        </p:nvSpPr>
        <p:spPr>
          <a:solidFill>
            <a:srgbClr val="C6D9F1"/>
          </a:solidFill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3600" b="1"/>
              <a:t>Оператор примитивной рекурсии</a:t>
            </a:r>
          </a:p>
        </p:txBody>
      </p:sp>
      <p:pic>
        <p:nvPicPr>
          <p:cNvPr id="4301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2781300"/>
            <a:ext cx="8770937" cy="15843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5013325"/>
            <a:ext cx="795655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7173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Содержимое 4"/>
          <p:cNvSpPr>
            <a:spLocks noGrp="1"/>
          </p:cNvSpPr>
          <p:nvPr>
            <p:ph idx="1"/>
          </p:nvPr>
        </p:nvSpPr>
        <p:spPr>
          <a:xfrm>
            <a:off x="457200" y="981075"/>
            <a:ext cx="8228013" cy="5143500"/>
          </a:xfrm>
        </p:spPr>
        <p:txBody>
          <a:bodyPr/>
          <a:lstStyle/>
          <a:p>
            <a:r>
              <a:rPr lang="ru-RU" altLang="ru-RU" sz="2000"/>
              <a:t>Функция называется </a:t>
            </a:r>
            <a:r>
              <a:rPr lang="ru-RU" altLang="ru-RU" sz="2000" b="1"/>
              <a:t>примитивно – рекурсивной,</a:t>
            </a:r>
            <a:r>
              <a:rPr lang="ru-RU" altLang="ru-RU" sz="2000"/>
              <a:t> если она является элементарной или может быть получена из элементарных функций с помощью конечного числа применений операторов тождества, суперпозиции и примитивной рекурсии. </a:t>
            </a:r>
          </a:p>
          <a:p>
            <a:r>
              <a:rPr lang="ru-RU" altLang="ru-RU" sz="2000"/>
              <a:t>Если некоторые функции являются примитивно-рекурсивными, то в результате применения к ним операторов суперпозиции или примитивной рекурсии можно получить новые примитивно-рекурсивные функции.</a:t>
            </a:r>
          </a:p>
          <a:p>
            <a:r>
              <a:rPr lang="ru-RU" altLang="ru-RU" sz="2000"/>
              <a:t>Существует три возможности доказательства того, что функция является примитивно-рекурсивной:</a:t>
            </a:r>
          </a:p>
          <a:p>
            <a:pPr>
              <a:buFont typeface="Times New Roman" pitchFamily="18" charset="0"/>
              <a:buNone/>
            </a:pPr>
            <a:r>
              <a:rPr lang="ru-RU" altLang="ru-RU" sz="2000"/>
              <a:t>а) показать, что заданная функция является простейшей;</a:t>
            </a:r>
          </a:p>
          <a:p>
            <a:pPr>
              <a:buFont typeface="Times New Roman" pitchFamily="18" charset="0"/>
              <a:buNone/>
            </a:pPr>
            <a:r>
              <a:rPr lang="ru-RU" altLang="ru-RU" sz="2000"/>
              <a:t>б) показать, что заданная функция построена с помощью оператора суперпозиции;</a:t>
            </a:r>
          </a:p>
          <a:p>
            <a:pPr>
              <a:buFont typeface="Times New Roman" pitchFamily="18" charset="0"/>
              <a:buNone/>
            </a:pPr>
            <a:r>
              <a:rPr lang="ru-RU" altLang="ru-RU" sz="2000"/>
              <a:t>в) показать, что заданная функция построена с помощью оператора примитивной рекурсии.</a:t>
            </a:r>
          </a:p>
          <a:p>
            <a:endParaRPr lang="ru-RU" altLang="ru-RU"/>
          </a:p>
        </p:txBody>
      </p:sp>
      <p:sp>
        <p:nvSpPr>
          <p:cNvPr id="44035" name="Text Box 1"/>
          <p:cNvSpPr>
            <a:spLocks noGrp="1" noChangeArrowheads="1"/>
          </p:cNvSpPr>
          <p:nvPr>
            <p:ph type="title"/>
          </p:nvPr>
        </p:nvSpPr>
        <p:spPr>
          <a:xfrm>
            <a:off x="457200" y="128588"/>
            <a:ext cx="8228013" cy="852487"/>
          </a:xfrm>
          <a:solidFill>
            <a:srgbClr val="C6D9F1"/>
          </a:solidFill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3600" b="1"/>
              <a:t>Оператор примитивной рекурсии</a:t>
            </a:r>
          </a:p>
        </p:txBody>
      </p:sp>
    </p:spTree>
    <p:extLst>
      <p:ext uri="{BB962C8B-B14F-4D97-AF65-F5344CB8AC3E}">
        <p14:creationId xmlns:p14="http://schemas.microsoft.com/office/powerpoint/2010/main" val="326526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939800"/>
          </a:xfrm>
          <a:prstGeom prst="rect">
            <a:avLst/>
          </a:prstGeom>
          <a:solidFill>
            <a:srgbClr val="C6D9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ru-RU" altLang="ru-RU" sz="2800" b="1">
                <a:solidFill>
                  <a:srgbClr val="000000"/>
                </a:solidFill>
                <a:latin typeface="Calibri" pitchFamily="34" charset="0"/>
              </a:rPr>
              <a:t>Примеры доказательства вычислимости функций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87" y="1406227"/>
            <a:ext cx="736282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7494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ChangeArrowheads="1"/>
          </p:cNvSpPr>
          <p:nvPr/>
        </p:nvSpPr>
        <p:spPr bwMode="auto">
          <a:xfrm>
            <a:off x="0" y="0"/>
            <a:ext cx="9144000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252318-B99F-436B-8805-E2D764D60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" y="357187"/>
            <a:ext cx="8677275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681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 txBox="1">
            <a:spLocks noChangeArrowheads="1"/>
          </p:cNvSpPr>
          <p:nvPr/>
        </p:nvSpPr>
        <p:spPr bwMode="auto">
          <a:xfrm>
            <a:off x="214313" y="142875"/>
            <a:ext cx="8715375" cy="650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1313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>
              <a:spcBef>
                <a:spcPts val="600"/>
              </a:spcBef>
              <a:buClrTx/>
              <a:buFontTx/>
              <a:buNone/>
            </a:pPr>
            <a:endParaRPr lang="en-US" altLang="ru-RU" sz="2400" dirty="0">
              <a:solidFill>
                <a:srgbClr val="000000"/>
              </a:solidFill>
              <a:latin typeface="Calibri" pitchFamily="34" charset="0"/>
            </a:endParaRPr>
          </a:p>
          <a:p>
            <a:pPr eaLnBrk="1" hangingPunct="1">
              <a:spcBef>
                <a:spcPts val="600"/>
              </a:spcBef>
              <a:buClrTx/>
              <a:buFontTx/>
              <a:buNone/>
            </a:pPr>
            <a:endParaRPr lang="en-US" altLang="ru-RU" sz="2400" dirty="0">
              <a:solidFill>
                <a:srgbClr val="000000"/>
              </a:solidFill>
              <a:latin typeface="Calibri" pitchFamily="34" charset="0"/>
            </a:endParaRPr>
          </a:p>
          <a:p>
            <a:pPr eaLnBrk="1" hangingPunct="1">
              <a:spcBef>
                <a:spcPts val="600"/>
              </a:spcBef>
              <a:buClrTx/>
              <a:buFontTx/>
              <a:buNone/>
            </a:pPr>
            <a:endParaRPr lang="en-US" altLang="ru-RU" sz="2400" dirty="0">
              <a:solidFill>
                <a:srgbClr val="000000"/>
              </a:solidFill>
              <a:latin typeface="Calibri" pitchFamily="34" charset="0"/>
            </a:endParaRPr>
          </a:p>
          <a:p>
            <a:pPr eaLnBrk="1" hangingPunct="1">
              <a:spcBef>
                <a:spcPts val="600"/>
              </a:spcBef>
              <a:buClrTx/>
              <a:buFontTx/>
              <a:buNone/>
            </a:pPr>
            <a:endParaRPr lang="en-US" altLang="ru-RU" sz="2400" dirty="0">
              <a:solidFill>
                <a:srgbClr val="000000"/>
              </a:solidFill>
              <a:latin typeface="Calibri" pitchFamily="34" charset="0"/>
            </a:endParaRPr>
          </a:p>
          <a:p>
            <a:pPr eaLnBrk="1" hangingPunct="1">
              <a:spcBef>
                <a:spcPts val="600"/>
              </a:spcBef>
              <a:buClrTx/>
              <a:buFontTx/>
              <a:buNone/>
            </a:pPr>
            <a:endParaRPr lang="en-US" altLang="ru-RU" sz="2400" dirty="0">
              <a:solidFill>
                <a:srgbClr val="000000"/>
              </a:solidFill>
              <a:latin typeface="Calibri" pitchFamily="34" charset="0"/>
            </a:endParaRPr>
          </a:p>
          <a:p>
            <a:pPr algn="ctr" eaLnBrk="1" hangingPunct="1">
              <a:spcBef>
                <a:spcPts val="600"/>
              </a:spcBef>
              <a:buClrTx/>
              <a:buFontTx/>
              <a:buNone/>
            </a:pPr>
            <a:endParaRPr lang="en-US" altLang="ru-RU" sz="240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47108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  <p:sp>
        <p:nvSpPr>
          <p:cNvPr id="47110" name="Rectangle 5"/>
          <p:cNvSpPr>
            <a:spLocks noChangeArrowheads="1"/>
          </p:cNvSpPr>
          <p:nvPr/>
        </p:nvSpPr>
        <p:spPr bwMode="auto">
          <a:xfrm>
            <a:off x="1714500" y="3500438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  <p:sp>
        <p:nvSpPr>
          <p:cNvPr id="47111" name="Rectangle 6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88640"/>
            <a:ext cx="5934075" cy="192405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215" y="2060848"/>
            <a:ext cx="271462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741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8012" cy="1433513"/>
          </a:xfrm>
          <a:solidFill>
            <a:srgbClr val="C6D9F1"/>
          </a:solidFill>
        </p:spPr>
        <p:txBody>
          <a:bodyPr/>
          <a:lstStyle/>
          <a:p>
            <a:pPr>
              <a:buClr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2800" b="1"/>
              <a:t>Операции конечного суммирования и конечного произведения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47" y="1416893"/>
            <a:ext cx="846772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058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633412"/>
          </a:xfrm>
          <a:prstGeom prst="rect">
            <a:avLst/>
          </a:prstGeom>
          <a:solidFill>
            <a:srgbClr val="C6D9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ru-RU" altLang="ru-RU" sz="3600" b="1" dirty="0">
                <a:solidFill>
                  <a:srgbClr val="000000"/>
                </a:solidFill>
                <a:latin typeface="Calibri" pitchFamily="34" charset="0"/>
              </a:rPr>
              <a:t>Оператор минимизации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70" y="945619"/>
            <a:ext cx="7517060" cy="591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719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476672"/>
            <a:ext cx="7820025" cy="19526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780928"/>
            <a:ext cx="772477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66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rgbClr val="C6D9F1"/>
          </a:solidFill>
        </p:spPr>
        <p:txBody>
          <a:bodyPr>
            <a:normAutofit fontScale="90000"/>
          </a:bodyPr>
          <a:lstStyle/>
          <a:p>
            <a:br>
              <a:rPr lang="en-US" altLang="ru-RU" sz="4000" b="1" dirty="0">
                <a:solidFill>
                  <a:srgbClr val="000000"/>
                </a:solidFill>
                <a:latin typeface="Calibri" pitchFamily="34" charset="0"/>
                <a:ea typeface="Arial Unicode MS" pitchFamily="34" charset="-128"/>
                <a:cs typeface="Arial Unicode MS" pitchFamily="34" charset="-128"/>
              </a:rPr>
            </a:br>
            <a:r>
              <a:rPr lang="ru-RU" altLang="ru-RU" sz="4000" b="1" dirty="0">
                <a:solidFill>
                  <a:srgbClr val="000000"/>
                </a:solidFill>
                <a:latin typeface="Calibri" pitchFamily="34" charset="0"/>
                <a:ea typeface="Arial Unicode MS" pitchFamily="34" charset="-128"/>
                <a:cs typeface="Arial Unicode MS" pitchFamily="34" charset="-128"/>
              </a:rPr>
              <a:t>Использование оператора минимизации</a:t>
            </a:r>
            <a:br>
              <a:rPr lang="ru-RU" altLang="ru-RU" b="1" dirty="0">
                <a:solidFill>
                  <a:srgbClr val="C00000"/>
                </a:solidFill>
                <a:latin typeface="Calibri" pitchFamily="34" charset="0"/>
              </a:rPr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600201"/>
            <a:ext cx="8712968" cy="892695"/>
          </a:xfrm>
        </p:spPr>
        <p:txBody>
          <a:bodyPr/>
          <a:lstStyle/>
          <a:p>
            <a:pPr indent="0">
              <a:buNone/>
            </a:pPr>
            <a:r>
              <a:rPr lang="ru-RU" altLang="ru-RU" sz="2400" b="1" dirty="0">
                <a:solidFill>
                  <a:srgbClr val="C00000"/>
                </a:solidFill>
                <a:latin typeface="Calibri" pitchFamily="34" charset="0"/>
              </a:rPr>
              <a:t>Используя минимизацию можно получать частично –определенные </a:t>
            </a:r>
            <a:r>
              <a:rPr lang="en-US" altLang="ru-RU" sz="2400" b="1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ru-RU" altLang="ru-RU" sz="2400" b="1" dirty="0">
                <a:solidFill>
                  <a:srgbClr val="C00000"/>
                </a:solidFill>
                <a:latin typeface="Calibri" pitchFamily="34" charset="0"/>
              </a:rPr>
              <a:t>функции из всюду определенных функций.</a:t>
            </a:r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492896"/>
            <a:ext cx="7959288" cy="21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847603"/>
            <a:ext cx="8124825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7DC785-CB72-4181-827C-406920E09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" y="433387"/>
            <a:ext cx="8867775" cy="59912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1"/>
          <p:cNvSpPr txBox="1">
            <a:spLocks noChangeArrowheads="1"/>
          </p:cNvSpPr>
          <p:nvPr/>
        </p:nvSpPr>
        <p:spPr bwMode="auto">
          <a:xfrm>
            <a:off x="457200" y="1071563"/>
            <a:ext cx="8229600" cy="175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>
              <a:spcBef>
                <a:spcPts val="800"/>
              </a:spcBef>
              <a:buFont typeface="Arial" charset="0"/>
              <a:buNone/>
            </a:pPr>
            <a:endParaRPr lang="ru-RU" altLang="ru-RU" sz="3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0179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96925"/>
          </a:xfrm>
          <a:prstGeom prst="rect">
            <a:avLst/>
          </a:prstGeom>
          <a:solidFill>
            <a:srgbClr val="C6D9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ru-RU" altLang="ru-RU" sz="3600" b="1">
                <a:solidFill>
                  <a:srgbClr val="000000"/>
                </a:solidFill>
                <a:latin typeface="Calibri" pitchFamily="34" charset="0"/>
              </a:rPr>
              <a:t>Тезис Черча</a:t>
            </a:r>
          </a:p>
        </p:txBody>
      </p:sp>
      <p:sp>
        <p:nvSpPr>
          <p:cNvPr id="50182" name="Прямоугольник 6"/>
          <p:cNvSpPr>
            <a:spLocks noChangeArrowheads="1"/>
          </p:cNvSpPr>
          <p:nvPr/>
        </p:nvSpPr>
        <p:spPr bwMode="auto">
          <a:xfrm>
            <a:off x="468313" y="1196975"/>
            <a:ext cx="8351837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alt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Функция называется </a:t>
            </a:r>
            <a:r>
              <a:rPr lang="ru-RU" alt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частично-рекурсивной (вычислимой по Черчу)</a:t>
            </a:r>
            <a:r>
              <a:rPr lang="ru-RU" alt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если она может быть получена из простейших функций с помощью конечного числа операторов суперпозиции, примитивной рекурсии и минимизации.</a:t>
            </a:r>
            <a:endParaRPr lang="ru-RU" alt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alt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Если такие функции оказываются всюду определенными, то они называются </a:t>
            </a:r>
            <a:r>
              <a:rPr lang="ru-RU" alt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общерекурсивными функциями</a:t>
            </a:r>
            <a:r>
              <a:rPr lang="ru-RU" alt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Указанные операции могут быть выполнены в любой последовательности и любое конечное число раз.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Таким образом, мы не просто задаем функцию, но и точно знаем, как её вычислять.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Очевидно, каждая примитивно рекурсивная функция является частично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рекурсивной, но обратное неверно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Введем обозначения: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ПРФ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– класс примитивно рекурсивных функций;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ОРФ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– класс общерекурсивных функций;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ЧРФ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– класс частично рекурсивных функций.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Тогда между этими классами имеется соотношения: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ПРФ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/>
              </a:rPr>
              <a:t>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K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ОРФ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/>
              </a:rPr>
              <a:t>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K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ЧРФ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altLang="ru-RU" dirty="0">
              <a:solidFill>
                <a:schemeClr val="tx1"/>
              </a:solidFill>
            </a:endParaRPr>
          </a:p>
          <a:p>
            <a:endParaRPr lang="ru-RU" alt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2879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88840"/>
            <a:ext cx="8769350" cy="108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548680"/>
            <a:ext cx="89249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</TotalTime>
  <Words>316</Words>
  <Application>Microsoft Office PowerPoint</Application>
  <PresentationFormat>Экран (4:3)</PresentationFormat>
  <Paragraphs>47</Paragraphs>
  <Slides>17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Оператор примитивной рекурсии</vt:lpstr>
      <vt:lpstr>Оператор примитивной рекурсии</vt:lpstr>
      <vt:lpstr>Презентация PowerPoint</vt:lpstr>
      <vt:lpstr>Презентация PowerPoint</vt:lpstr>
      <vt:lpstr>Презентация PowerPoint</vt:lpstr>
      <vt:lpstr>Операции конечного суммирования и конечного произведения</vt:lpstr>
      <vt:lpstr>Презентация PowerPoint</vt:lpstr>
      <vt:lpstr>Презентация PowerPoint</vt:lpstr>
      <vt:lpstr> Использование оператора минимизации 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Сафрончик Мария Ильинична</dc:creator>
  <cp:lastModifiedBy>Mary</cp:lastModifiedBy>
  <cp:revision>24</cp:revision>
  <dcterms:created xsi:type="dcterms:W3CDTF">2016-03-02T07:10:15Z</dcterms:created>
  <dcterms:modified xsi:type="dcterms:W3CDTF">2023-03-02T07:17:35Z</dcterms:modified>
</cp:coreProperties>
</file>